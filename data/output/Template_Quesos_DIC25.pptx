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4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5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notesSlides/notesSlide13.xml" ContentType="application/vnd.openxmlformats-officedocument.presentationml.notesSlide+xml"/>
  <Override PartName="/ppt/charts/chart9.xml" ContentType="application/vnd.openxmlformats-officedocument.drawingml.chart+xml"/>
  <Override PartName="/ppt/notesSlides/notesSlide14.xml" ContentType="application/vnd.openxmlformats-officedocument.presentationml.notesSlide+xml"/>
  <Override PartName="/ppt/charts/chart10.xml" ContentType="application/vnd.openxmlformats-officedocument.drawingml.chart+xml"/>
  <Override PartName="/ppt/notesSlides/notesSlide15.xml" ContentType="application/vnd.openxmlformats-officedocument.presentationml.notesSlide+xml"/>
  <Override PartName="/ppt/charts/chart11.xml" ContentType="application/vnd.openxmlformats-officedocument.drawingml.chart+xml"/>
  <Override PartName="/ppt/notesSlides/notesSlide16.xml" ContentType="application/vnd.openxmlformats-officedocument.presentationml.notesSlide+xml"/>
  <Override PartName="/ppt/charts/chart12.xml" ContentType="application/vnd.openxmlformats-officedocument.drawingml.chart+xml"/>
  <Override PartName="/ppt/notesSlides/notesSlide17.xml" ContentType="application/vnd.openxmlformats-officedocument.presentationml.notesSlide+xml"/>
  <Override PartName="/ppt/charts/chart13.xml" ContentType="application/vnd.openxmlformats-officedocument.drawingml.chart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 bookmarkIdSeed="6">
  <p:sldMasterIdLst>
    <p:sldMasterId id="2147484377" r:id="rId4"/>
  </p:sldMasterIdLst>
  <p:notesMasterIdLst>
    <p:notesMasterId r:id="rId23"/>
  </p:notesMasterIdLst>
  <p:handoutMasterIdLst>
    <p:handoutMasterId r:id="rId24"/>
  </p:handoutMasterIdLst>
  <p:sldIdLst>
    <p:sldId id="2147475619" r:id="rId5"/>
    <p:sldId id="2147475661" r:id="rId6"/>
    <p:sldId id="2147475621" r:id="rId7"/>
    <p:sldId id="2147472915" r:id="rId8"/>
    <p:sldId id="2147475668" r:id="rId9"/>
    <p:sldId id="2147474701" r:id="rId10"/>
    <p:sldId id="2147475663" r:id="rId11"/>
    <p:sldId id="2147475664" r:id="rId12"/>
    <p:sldId id="2147475646" r:id="rId13"/>
    <p:sldId id="2147475647" r:id="rId14"/>
    <p:sldId id="2147475648" r:id="rId15"/>
    <p:sldId id="2147475657" r:id="rId16"/>
    <p:sldId id="2147475649" r:id="rId17"/>
    <p:sldId id="2147475662" r:id="rId18"/>
    <p:sldId id="2147475665" r:id="rId19"/>
    <p:sldId id="2147475666" r:id="rId20"/>
    <p:sldId id="2147475667" r:id="rId21"/>
    <p:sldId id="2147475669" r:id="rId22"/>
  </p:sldIdLst>
  <p:sldSz cx="12192000" cy="6858000"/>
  <p:notesSz cx="6858000" cy="9144000"/>
  <p:embeddedFontLst>
    <p:embeddedFont>
      <p:font typeface="Arial Black" panose="020B0A04020102020204" pitchFamily="34" charset="0"/>
      <p:bold r:id="rId25"/>
    </p:embeddedFont>
    <p:embeddedFont>
      <p:font typeface="Barlow" panose="00000500000000000000" pitchFamily="2" charset="0"/>
      <p:regular r:id="rId26"/>
      <p:bold r:id="rId27"/>
      <p:italic r:id="rId28"/>
      <p:boldItalic r:id="rId29"/>
    </p:embeddedFont>
    <p:embeddedFont>
      <p:font typeface="Century Gothic" panose="020B0502020202020204" pitchFamily="34" charset="0"/>
      <p:regular r:id="rId30"/>
      <p:bold r:id="rId31"/>
      <p:italic r:id="rId32"/>
      <p:boldItalic r:id="rId33"/>
    </p:embeddedFont>
    <p:embeddedFont>
      <p:font typeface="Wingdings 2" panose="05020102010507070707" pitchFamily="18" charset="2"/>
      <p:regular r:id="rId34"/>
    </p:embeddedFont>
  </p:embeddedFontLst>
  <p:custDataLst>
    <p:tags r:id="rId35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54A019A-6131-7FDA-9F18-22D85D2D75F9}" name="Julia Nurse" initials="JN" userId="S::julia.nurse@Ipsos.com::a0f02c22-5676-46e0-8925-6d7c362befa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main Carette" initials="RC" lastIdx="1" clrIdx="0">
    <p:extLst>
      <p:ext uri="{19B8F6BF-5375-455C-9EA6-DF929625EA0E}">
        <p15:presenceInfo xmlns:p15="http://schemas.microsoft.com/office/powerpoint/2012/main" userId="f5b5fcd6593eb51e" providerId="Windows Live"/>
      </p:ext>
    </p:extLst>
  </p:cmAuthor>
  <p:cmAuthor id="2" name="Julia Nurse" initials="JN" lastIdx="80" clrIdx="1">
    <p:extLst>
      <p:ext uri="{19B8F6BF-5375-455C-9EA6-DF929625EA0E}">
        <p15:presenceInfo xmlns:p15="http://schemas.microsoft.com/office/powerpoint/2012/main" userId="S::julia.nurse@Ipsos.com::a0f02c22-5676-46e0-8925-6d7c362befa2" providerId="AD"/>
      </p:ext>
    </p:extLst>
  </p:cmAuthor>
  <p:cmAuthor id="3" name="Ian Jarvis" initials="IJ" lastIdx="14" clrIdx="2">
    <p:extLst>
      <p:ext uri="{19B8F6BF-5375-455C-9EA6-DF929625EA0E}">
        <p15:presenceInfo xmlns:p15="http://schemas.microsoft.com/office/powerpoint/2012/main" userId="S-1-5-21-3343930222-3471731563-1258133589-336814" providerId="AD"/>
      </p:ext>
    </p:extLst>
  </p:cmAuthor>
  <p:cmAuthor id="4" name="Hannah Williams" initials="HW" lastIdx="3" clrIdx="3">
    <p:extLst>
      <p:ext uri="{19B8F6BF-5375-455C-9EA6-DF929625EA0E}">
        <p15:presenceInfo xmlns:p15="http://schemas.microsoft.com/office/powerpoint/2012/main" userId="S::hannah.williams@ipsos.com::5910482a-1124-4d8f-8118-860f2cd0264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D9C"/>
    <a:srgbClr val="FF619D"/>
    <a:srgbClr val="D9F5EF"/>
    <a:srgbClr val="C00000"/>
    <a:srgbClr val="E7E7EA"/>
    <a:srgbClr val="FFC1D9"/>
    <a:srgbClr val="FFA7C9"/>
    <a:srgbClr val="FF79AC"/>
    <a:srgbClr val="FF6DA5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7292A2E-F333-43FB-9621-5CBBE7FDCDCB}" styleName="Estilo claro 2 - Acento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9" autoAdjust="0"/>
    <p:restoredTop sz="93447" autoAdjust="0"/>
  </p:normalViewPr>
  <p:slideViewPr>
    <p:cSldViewPr snapToGrid="0" showGuides="1">
      <p:cViewPr>
        <p:scale>
          <a:sx n="71" d="100"/>
          <a:sy n="71" d="100"/>
        </p:scale>
        <p:origin x="632" y="-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 snapToGrid="0" showGuides="1">
      <p:cViewPr>
        <p:scale>
          <a:sx n="75" d="100"/>
          <a:sy n="75" d="100"/>
        </p:scale>
        <p:origin x="4008" y="2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font" Target="fonts/font10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5.fntdata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32" Type="http://schemas.openxmlformats.org/officeDocument/2006/relationships/font" Target="fonts/font8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4.fntdata"/><Relationship Id="rId36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ags" Target="tags/tag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6127059862627683"/>
          <c:y val="3.1612983850490134E-2"/>
          <c:w val="0.53045855019017585"/>
          <c:h val="0.93884855230249931"/>
        </c:manualLayout>
      </c:layout>
      <c:barChart>
        <c:barDir val="col"/>
        <c:grouping val="stacked"/>
        <c:varyColors val="0"/>
        <c:ser>
          <c:idx val="2"/>
          <c:order val="2"/>
          <c:tx>
            <c:strRef>
              <c:f>Sheet1!$A$4</c:f>
              <c:strCache>
                <c:ptCount val="1"/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Poppins" panose="000005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Sheet1!$B$1:$D$1</c:f>
              <c:numCache>
                <c:formatCode>General</c:formatCode>
                <c:ptCount val="3"/>
              </c:numCache>
            </c:numRef>
          </c:cat>
          <c:val>
            <c:numRef>
              <c:f>Sheet1!$B$4:$D$4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0-8688-4EC3-B643-960EEEE45C48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Poppins" panose="000005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Sheet1!$B$1:$D$1</c:f>
              <c:numCache>
                <c:formatCode>General</c:formatCode>
                <c:ptCount val="3"/>
              </c:numCache>
            </c:numRef>
          </c:cat>
          <c:val>
            <c:numRef>
              <c:f>Sheet1!$B$3:$D$3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1-8688-4EC3-B643-960EEEE45C48}"/>
            </c:ext>
          </c:extLst>
        </c:ser>
        <c:ser>
          <c:idx val="0"/>
          <c:order val="0"/>
          <c:tx>
            <c:strRef>
              <c:f>Sheet1!$A$2</c:f>
              <c:strCache>
                <c:ptCount val="1"/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8688-4EC3-B643-960EEEE45C4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688-4EC3-B643-960EEEE45C4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Poppins" panose="000005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Sheet1!$B$1:$D$1</c:f>
              <c:numCache>
                <c:formatCode>General</c:formatCode>
                <c:ptCount val="3"/>
              </c:numCache>
            </c:numRef>
          </c:cat>
          <c:val>
            <c:numRef>
              <c:f>Sheet1!$B$2:$D$2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4-8688-4EC3-B643-960EEEE45C4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5"/>
        <c:overlap val="100"/>
        <c:axId val="59983360"/>
        <c:axId val="57253888"/>
      </c:barChart>
      <c:catAx>
        <c:axId val="5998336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cap="all" spc="120" normalizeH="0" baseline="0">
                <a:solidFill>
                  <a:schemeClr val="tx1"/>
                </a:solidFill>
                <a:latin typeface="+mj-lt"/>
                <a:ea typeface="+mn-ea"/>
                <a:cs typeface="Poppins" panose="00000500000000000000" pitchFamily="2" charset="0"/>
              </a:defRPr>
            </a:pPr>
            <a:endParaRPr lang="es-AR"/>
          </a:p>
        </c:txPr>
        <c:crossAx val="57253888"/>
        <c:crosses val="autoZero"/>
        <c:auto val="1"/>
        <c:lblAlgn val="ctr"/>
        <c:lblOffset val="100"/>
        <c:noMultiLvlLbl val="1"/>
      </c:catAx>
      <c:valAx>
        <c:axId val="57253888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59983360"/>
        <c:crosses val="autoZero"/>
        <c:crossBetween val="between"/>
        <c:majorUnit val="10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5.54339652863821E-2"/>
          <c:y val="8.9397339489713026E-2"/>
          <c:w val="0.18842595371094295"/>
          <c:h val="0.7007838899509981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Poppins" panose="00000500000000000000" pitchFamily="2" charset="0"/>
            </a:defRPr>
          </a:pPr>
          <a:endParaRPr lang="es-AR"/>
        </a:p>
      </c:txPr>
    </c:legend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>
          <a:latin typeface="+mn-lt"/>
          <a:cs typeface="Poppins" panose="00000500000000000000" pitchFamily="2" charset="0"/>
        </a:defRPr>
      </a:pPr>
      <a:endParaRPr lang="es-A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>
        <c:manualLayout>
          <c:layoutTarget val="inner"/>
          <c:xMode val="edge"/>
          <c:yMode val="edge"/>
          <c:x val="9.1177852842016766E-2"/>
          <c:y val="4.1768113624906025E-2"/>
          <c:w val="0.56796698425464343"/>
          <c:h val="0.87932274604131411"/>
        </c:manualLayout>
      </c:layout>
      <c:barChart>
        <c:barDir val="col"/>
        <c:grouping val="stacked"/>
        <c:varyColors val="0"/>
        <c:ser>
          <c:idx val="9"/>
          <c:order val="9"/>
          <c:tx>
            <c:strRef>
              <c:f>Sheet1!$K$1</c:f>
              <c:strCache>
                <c:ptCount val="1"/>
                <c:pt idx="0">
                  <c:v>Menos frecuentemente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E0D-419B-B1E0-72779CE72AE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1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Poppins" panose="00000500000000000000" pitchFamily="2" charset="0"/>
                      </a:defRPr>
                    </a:pPr>
                    <a:r>
                      <a:rPr lang="en-US"/>
                      <a:t>4</a:t>
                    </a:r>
                  </a:p>
                </c:rich>
              </c:tx>
              <c:spPr>
                <a:noFill/>
                <a:ln>
                  <a:noFill/>
                  <a:round/>
                </a:ln>
                <a:effectLst>
                  <a:glow rad="15000">
                    <a:schemeClr val="lt1">
                      <a:lumMod val="45000"/>
                      <a:lumOff val="35000"/>
                      <a:alpha val="60000"/>
                    </a:schemeClr>
                  </a:glow>
                </a:effectLst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Poppins" panose="00000500000000000000" pitchFamily="2" charset="0"/>
                    </a:defRPr>
                  </a:pPr>
                  <a:endParaRPr lang="es-AR"/>
                </a:p>
              </c:txPr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1E0D-419B-B1E0-72779CE72AE7}"/>
                </c:ext>
              </c:extLst>
            </c:dLbl>
            <c:spPr>
              <a:noFill/>
              <a:ln>
                <a:noFill/>
                <a:round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Poppins" panose="00000500000000000000" pitchFamily="2" charset="0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Sheet1!$A$2:$A$3</c:f>
            </c:multiLvlStrRef>
          </c:cat>
          <c:val>
            <c:numRef>
              <c:f>Sheet1!$K$2:$K$3</c:f>
            </c:numRef>
          </c:val>
          <c:extLst>
            <c:ext xmlns:c16="http://schemas.microsoft.com/office/drawing/2014/chart" uri="{C3380CC4-5D6E-409C-BE32-E72D297353CC}">
              <c16:uniqueId val="{00000002-1E0D-419B-B1E0-72779CE72AE7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Una vez cada 2 o 3 meses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E0D-419B-B1E0-72779CE72AE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1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Poppins" panose="00000500000000000000" pitchFamily="2" charset="0"/>
                      </a:defRPr>
                    </a:pPr>
                    <a:r>
                      <a:rPr lang="en-US"/>
                      <a:t>1</a:t>
                    </a:r>
                  </a:p>
                </c:rich>
              </c:tx>
              <c:spPr>
                <a:noFill/>
                <a:ln>
                  <a:noFill/>
                  <a:round/>
                </a:ln>
                <a:effectLst>
                  <a:glow rad="15000">
                    <a:schemeClr val="lt1">
                      <a:lumMod val="45000"/>
                      <a:lumOff val="35000"/>
                      <a:alpha val="60000"/>
                    </a:schemeClr>
                  </a:glow>
                </a:effectLst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Poppins" panose="00000500000000000000" pitchFamily="2" charset="0"/>
                    </a:defRPr>
                  </a:pPr>
                  <a:endParaRPr lang="es-AR"/>
                </a:p>
              </c:txPr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1E0D-419B-B1E0-72779CE72AE7}"/>
                </c:ext>
              </c:extLst>
            </c:dLbl>
            <c:spPr>
              <a:noFill/>
              <a:ln>
                <a:noFill/>
                <a:round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Poppins" panose="00000500000000000000" pitchFamily="2" charset="0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Sheet1!$A$2:$A$3</c:f>
            </c:multiLvlStrRef>
          </c:cat>
          <c:val>
            <c:numRef>
              <c:f>Sheet1!$J$2:$J$3</c:f>
            </c:numRef>
          </c:val>
          <c:extLst>
            <c:ext xmlns:c16="http://schemas.microsoft.com/office/drawing/2014/chart" uri="{C3380CC4-5D6E-409C-BE32-E72D297353CC}">
              <c16:uniqueId val="{00000004-1E0D-419B-B1E0-72779CE72AE7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Una vez al mes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E0D-419B-B1E0-72779CE72AE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1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Poppins" panose="00000500000000000000" pitchFamily="2" charset="0"/>
                      </a:defRPr>
                    </a:pPr>
                    <a:r>
                      <a:rPr lang="en-US"/>
                      <a:t>2</a:t>
                    </a:r>
                  </a:p>
                </c:rich>
              </c:tx>
              <c:spPr>
                <a:noFill/>
                <a:ln>
                  <a:noFill/>
                  <a:round/>
                </a:ln>
                <a:effectLst>
                  <a:glow rad="15000">
                    <a:schemeClr val="lt1">
                      <a:lumMod val="45000"/>
                      <a:lumOff val="35000"/>
                      <a:alpha val="60000"/>
                    </a:schemeClr>
                  </a:glow>
                </a:effectLst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Poppins" panose="00000500000000000000" pitchFamily="2" charset="0"/>
                    </a:defRPr>
                  </a:pPr>
                  <a:endParaRPr lang="es-AR"/>
                </a:p>
              </c:txPr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1E0D-419B-B1E0-72779CE72AE7}"/>
                </c:ext>
              </c:extLst>
            </c:dLbl>
            <c:spPr>
              <a:noFill/>
              <a:ln>
                <a:noFill/>
                <a:round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Poppins" panose="00000500000000000000" pitchFamily="2" charset="0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Sheet1!$A$2:$A$3</c:f>
            </c:multiLvlStrRef>
          </c:cat>
          <c:val>
            <c:numRef>
              <c:f>Sheet1!$I$2:$I$3</c:f>
            </c:numRef>
          </c:val>
          <c:extLst>
            <c:ext xmlns:c16="http://schemas.microsoft.com/office/drawing/2014/chart" uri="{C3380CC4-5D6E-409C-BE32-E72D297353CC}">
              <c16:uniqueId val="{00000006-1E0D-419B-B1E0-72779CE72AE7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Una vez cada dos semanas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E0D-419B-B1E0-72779CE72AE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1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Poppins" panose="00000500000000000000" pitchFamily="2" charset="0"/>
                      </a:defRPr>
                    </a:pPr>
                    <a:r>
                      <a:rPr lang="en-US"/>
                      <a:t>4</a:t>
                    </a:r>
                  </a:p>
                </c:rich>
              </c:tx>
              <c:spPr>
                <a:noFill/>
                <a:ln>
                  <a:noFill/>
                  <a:round/>
                </a:ln>
                <a:effectLst>
                  <a:glow rad="15000">
                    <a:schemeClr val="lt1">
                      <a:lumMod val="45000"/>
                      <a:lumOff val="35000"/>
                      <a:alpha val="60000"/>
                    </a:schemeClr>
                  </a:glow>
                </a:effectLst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Poppins" panose="00000500000000000000" pitchFamily="2" charset="0"/>
                    </a:defRPr>
                  </a:pPr>
                  <a:endParaRPr lang="es-AR"/>
                </a:p>
              </c:txPr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1E0D-419B-B1E0-72779CE72AE7}"/>
                </c:ext>
              </c:extLst>
            </c:dLbl>
            <c:spPr>
              <a:noFill/>
              <a:ln>
                <a:noFill/>
                <a:round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Poppins" panose="00000500000000000000" pitchFamily="2" charset="0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Sheet1!$A$2:$A$3</c:f>
            </c:multiLvlStrRef>
          </c:cat>
          <c:val>
            <c:numRef>
              <c:f>Sheet1!$H$2:$H$3</c:f>
            </c:numRef>
          </c:val>
          <c:extLst>
            <c:ext xmlns:c16="http://schemas.microsoft.com/office/drawing/2014/chart" uri="{C3380CC4-5D6E-409C-BE32-E72D297353CC}">
              <c16:uniqueId val="{00000008-1E0D-419B-B1E0-72779CE72AE7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Una vez por semana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E0D-419B-B1E0-72779CE72AE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1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Poppins" panose="00000500000000000000" pitchFamily="2" charset="0"/>
                      </a:defRPr>
                    </a:pPr>
                    <a:r>
                      <a:rPr lang="en-US"/>
                      <a:t>5</a:t>
                    </a:r>
                  </a:p>
                </c:rich>
              </c:tx>
              <c:spPr>
                <a:noFill/>
                <a:ln>
                  <a:noFill/>
                  <a:round/>
                </a:ln>
                <a:effectLst>
                  <a:glow rad="15000">
                    <a:schemeClr val="lt1">
                      <a:lumMod val="45000"/>
                      <a:lumOff val="35000"/>
                      <a:alpha val="60000"/>
                    </a:schemeClr>
                  </a:glow>
                </a:effectLst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Poppins" panose="00000500000000000000" pitchFamily="2" charset="0"/>
                    </a:defRPr>
                  </a:pPr>
                  <a:endParaRPr lang="es-AR"/>
                </a:p>
              </c:txPr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1E0D-419B-B1E0-72779CE72AE7}"/>
                </c:ext>
              </c:extLst>
            </c:dLbl>
            <c:spPr>
              <a:noFill/>
              <a:ln>
                <a:noFill/>
                <a:round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Poppins" panose="00000500000000000000" pitchFamily="2" charset="0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Sheet1!$A$2:$A$3</c:f>
            </c:multiLvlStrRef>
          </c:cat>
          <c:val>
            <c:numRef>
              <c:f>Sheet1!$G$2:$G$3</c:f>
            </c:numRef>
          </c:val>
          <c:extLst>
            <c:ext xmlns:c16="http://schemas.microsoft.com/office/drawing/2014/chart" uri="{C3380CC4-5D6E-409C-BE32-E72D297353CC}">
              <c16:uniqueId val="{0000000A-1E0D-419B-B1E0-72779CE72AE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2 veces por semana</c:v>
                </c:pt>
              </c:strCache>
            </c:strRef>
          </c:tx>
          <c:spPr>
            <a:solidFill>
              <a:srgbClr val="4EAC8A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1E0D-419B-B1E0-72779CE72AE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1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Poppins" panose="00000500000000000000" pitchFamily="2" charset="0"/>
                      </a:defRPr>
                    </a:pPr>
                    <a:r>
                      <a:rPr lang="en-US"/>
                      <a:t>9</a:t>
                    </a:r>
                  </a:p>
                </c:rich>
              </c:tx>
              <c:spPr>
                <a:noFill/>
                <a:ln>
                  <a:noFill/>
                  <a:round/>
                </a:ln>
                <a:effectLst>
                  <a:glow rad="15000">
                    <a:schemeClr val="lt1">
                      <a:lumMod val="45000"/>
                      <a:lumOff val="35000"/>
                      <a:alpha val="60000"/>
                    </a:schemeClr>
                  </a:glow>
                </a:effectLst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Poppins" panose="00000500000000000000" pitchFamily="2" charset="0"/>
                    </a:defRPr>
                  </a:pPr>
                  <a:endParaRPr lang="es-AR"/>
                </a:p>
              </c:txPr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1E0D-419B-B1E0-72779CE72AE7}"/>
                </c:ext>
              </c:extLst>
            </c:dLbl>
            <c:spPr>
              <a:noFill/>
              <a:ln>
                <a:noFill/>
                <a:round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Poppins" panose="00000500000000000000" pitchFamily="2" charset="0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Sheet1!$A$2:$A$3</c:f>
            </c:multiLvlStrRef>
          </c:cat>
          <c:val>
            <c:numRef>
              <c:f>Sheet1!$F$2:$F$3</c:f>
            </c:numRef>
          </c:val>
          <c:extLst>
            <c:ext xmlns:c16="http://schemas.microsoft.com/office/drawing/2014/chart" uri="{C3380CC4-5D6E-409C-BE32-E72D297353CC}">
              <c16:uniqueId val="{0000000C-1E0D-419B-B1E0-72779CE72AE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Día por medio (3/4 veces por semana)</c:v>
                </c:pt>
              </c:strCache>
            </c:strRef>
          </c:tx>
          <c:spPr>
            <a:solidFill>
              <a:srgbClr val="41917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1E0D-419B-B1E0-72779CE72AE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1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Poppins" panose="00000500000000000000" pitchFamily="2" charset="0"/>
                      </a:defRPr>
                    </a:pPr>
                    <a:r>
                      <a:rPr lang="en-US"/>
                      <a:t>12</a:t>
                    </a:r>
                  </a:p>
                </c:rich>
              </c:tx>
              <c:spPr>
                <a:noFill/>
                <a:ln>
                  <a:noFill/>
                  <a:round/>
                </a:ln>
                <a:effectLst>
                  <a:glow rad="15000">
                    <a:schemeClr val="lt1">
                      <a:lumMod val="45000"/>
                      <a:lumOff val="35000"/>
                      <a:alpha val="60000"/>
                    </a:schemeClr>
                  </a:glow>
                </a:effectLst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Poppins" panose="00000500000000000000" pitchFamily="2" charset="0"/>
                    </a:defRPr>
                  </a:pPr>
                  <a:endParaRPr lang="es-AR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1E0D-419B-B1E0-72779CE72AE7}"/>
                </c:ext>
              </c:extLst>
            </c:dLbl>
            <c:spPr>
              <a:noFill/>
              <a:ln>
                <a:noFill/>
                <a:round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Poppins" panose="000005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Sheet1!$A$2:$A$3</c:f>
            </c:multiLvlStrRef>
          </c:cat>
          <c:val>
            <c:numRef>
              <c:f>Sheet1!$E$2:$E$3</c:f>
            </c:numRef>
          </c:val>
          <c:extLst>
            <c:ext xmlns:c16="http://schemas.microsoft.com/office/drawing/2014/chart" uri="{C3380CC4-5D6E-409C-BE32-E72D297353CC}">
              <c16:uniqueId val="{0000000E-1E0D-419B-B1E0-72779CE72AE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Casi todos los días (5/6 veces por semana)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1E0D-419B-B1E0-72779CE72AE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1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Poppins" panose="00000500000000000000" pitchFamily="2" charset="0"/>
                      </a:defRPr>
                    </a:pPr>
                    <a:r>
                      <a:rPr lang="en-US"/>
                      <a:t>7</a:t>
                    </a:r>
                  </a:p>
                </c:rich>
              </c:tx>
              <c:spPr>
                <a:noFill/>
                <a:ln>
                  <a:noFill/>
                  <a:round/>
                </a:ln>
                <a:effectLst>
                  <a:glow rad="15000">
                    <a:schemeClr val="lt1">
                      <a:lumMod val="45000"/>
                      <a:lumOff val="35000"/>
                      <a:alpha val="60000"/>
                    </a:schemeClr>
                  </a:glow>
                </a:effectLst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Poppins" panose="00000500000000000000" pitchFamily="2" charset="0"/>
                    </a:defRPr>
                  </a:pPr>
                  <a:endParaRPr lang="es-AR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1E0D-419B-B1E0-72779CE72AE7}"/>
                </c:ext>
              </c:extLst>
            </c:dLbl>
            <c:spPr>
              <a:noFill/>
              <a:ln>
                <a:noFill/>
                <a:round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Poppins" panose="000005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Sheet1!$A$2:$A$3</c:f>
            </c:multiLvlStrRef>
          </c:cat>
          <c:val>
            <c:numRef>
              <c:f>Sheet1!$D$2:$D$3</c:f>
            </c:numRef>
          </c:val>
          <c:extLst>
            <c:ext xmlns:c16="http://schemas.microsoft.com/office/drawing/2014/chart" uri="{C3380CC4-5D6E-409C-BE32-E72D297353CC}">
              <c16:uniqueId val="{00000010-1E0D-419B-B1E0-72779CE72AE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Una vez por día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1E0D-419B-B1E0-72779CE72AE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1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Poppins" panose="00000500000000000000" pitchFamily="2" charset="0"/>
                      </a:defRPr>
                    </a:pPr>
                    <a:r>
                      <a:rPr lang="en-US"/>
                      <a:t>24</a:t>
                    </a:r>
                  </a:p>
                </c:rich>
              </c:tx>
              <c:spPr>
                <a:noFill/>
                <a:ln>
                  <a:noFill/>
                  <a:round/>
                </a:ln>
                <a:effectLst>
                  <a:glow rad="15000">
                    <a:schemeClr val="lt1">
                      <a:lumMod val="45000"/>
                      <a:lumOff val="35000"/>
                      <a:alpha val="60000"/>
                    </a:schemeClr>
                  </a:glow>
                </a:effectLst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Poppins" panose="00000500000000000000" pitchFamily="2" charset="0"/>
                    </a:defRPr>
                  </a:pPr>
                  <a:endParaRPr lang="es-AR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1E0D-419B-B1E0-72779CE72AE7}"/>
                </c:ext>
              </c:extLst>
            </c:dLbl>
            <c:spPr>
              <a:noFill/>
              <a:ln>
                <a:noFill/>
                <a:round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Poppins" panose="000005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Sheet1!$A$2:$A$3</c:f>
            </c:multiLvlStrRef>
          </c:cat>
          <c:val>
            <c:numRef>
              <c:f>Sheet1!$C$2:$C$3</c:f>
            </c:numRef>
          </c:val>
          <c:extLst>
            <c:ext xmlns:c16="http://schemas.microsoft.com/office/drawing/2014/chart" uri="{C3380CC4-5D6E-409C-BE32-E72D297353CC}">
              <c16:uniqueId val="{00000012-1E0D-419B-B1E0-72779CE72AE7}"/>
            </c:ext>
          </c:extLst>
        </c:ser>
        <c:ser>
          <c:idx val="0"/>
          <c:order val="0"/>
          <c:tx>
            <c:strRef>
              <c:f>Sheet1!$B$1</c:f>
              <c:strCache>
                <c:ptCount val="1"/>
                <c:pt idx="0">
                  <c:v>Más de una vez por día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1E0D-419B-B1E0-72779CE72AE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1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Poppins" panose="00000500000000000000" pitchFamily="2" charset="0"/>
                      </a:defRPr>
                    </a:pPr>
                    <a:r>
                      <a:rPr lang="en-US"/>
                      <a:t>29</a:t>
                    </a:r>
                  </a:p>
                </c:rich>
              </c:tx>
              <c:spPr>
                <a:noFill/>
                <a:ln>
                  <a:noFill/>
                  <a:round/>
                </a:ln>
                <a:effectLst>
                  <a:glow rad="15000">
                    <a:schemeClr val="lt1">
                      <a:lumMod val="45000"/>
                      <a:lumOff val="35000"/>
                      <a:alpha val="60000"/>
                    </a:schemeClr>
                  </a:glow>
                </a:effectLst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Poppins" panose="00000500000000000000" pitchFamily="2" charset="0"/>
                    </a:defRPr>
                  </a:pPr>
                  <a:endParaRPr lang="es-AR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1E0D-419B-B1E0-72779CE72AE7}"/>
                </c:ext>
              </c:extLst>
            </c:dLbl>
            <c:spPr>
              <a:noFill/>
              <a:ln>
                <a:noFill/>
                <a:round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Poppins" panose="000005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Sheet1!$A$2:$A$3</c:f>
            </c:multiLvlStrRef>
          </c:cat>
          <c:val>
            <c:numRef>
              <c:f>Sheet1!$B$2:$B$3</c:f>
            </c:numRef>
          </c:val>
          <c:extLst>
            <c:ext xmlns:c16="http://schemas.microsoft.com/office/drawing/2014/chart" uri="{C3380CC4-5D6E-409C-BE32-E72D297353CC}">
              <c16:uniqueId val="{00000014-1E0D-419B-B1E0-72779CE72AE7}"/>
            </c:ext>
          </c:extLst>
        </c:ser>
        <c:dLbls>
          <c:dLblPos val="inBase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100"/>
        <c:axId val="59983360"/>
        <c:axId val="57253888"/>
      </c:barChart>
      <c:catAx>
        <c:axId val="5998336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635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sz="1200" b="1" i="0" u="none" strike="noStrike" kern="1200" baseline="0">
                <a:solidFill>
                  <a:schemeClr val="tx1"/>
                </a:solidFill>
                <a:latin typeface="+mj-lt"/>
                <a:ea typeface="+mn-ea"/>
                <a:cs typeface="Poppins" panose="00000500000000000000" pitchFamily="2" charset="0"/>
              </a:defRPr>
            </a:pPr>
            <a:endParaRPr lang="es-AR"/>
          </a:p>
        </c:txPr>
        <c:crossAx val="57253888"/>
        <c:crosses val="autoZero"/>
        <c:auto val="1"/>
        <c:lblAlgn val="ctr"/>
        <c:lblOffset val="100"/>
        <c:noMultiLvlLbl val="1"/>
      </c:catAx>
      <c:valAx>
        <c:axId val="57253888"/>
        <c:scaling>
          <c:orientation val="minMax"/>
          <c:max val="100.0000000000000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59983360"/>
        <c:crosses val="autoZero"/>
        <c:crossBetween val="between"/>
        <c:majorUnit val="20"/>
      </c:valAx>
      <c:spPr>
        <a:solidFill>
          <a:srgbClr val="FFFFFF">
            <a:alpha val="0"/>
          </a:srgbClr>
        </a:solidFill>
        <a:ln>
          <a:noFill/>
          <a:round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Poppins" panose="00000500000000000000" pitchFamily="2" charset="0"/>
            </a:defRPr>
          </a:pPr>
          <a:endParaRPr lang="es-AR"/>
        </a:p>
      </c:txPr>
    </c:legend>
    <c:plotVisOnly val="1"/>
    <c:dispBlanksAs val="gap"/>
    <c:showDLblsOverMax val="1"/>
  </c:chart>
  <c:spPr>
    <a:solidFill>
      <a:srgbClr val="FFFFFF">
        <a:alpha val="0"/>
      </a:srgbClr>
    </a:solidFill>
    <a:ln w="6350" cap="flat" cmpd="sng" algn="ctr">
      <a:noFill/>
      <a:prstDash val="solid"/>
      <a:miter lim="800000"/>
    </a:ln>
    <a:effectLst/>
  </c:spPr>
  <c:txPr>
    <a:bodyPr/>
    <a:lstStyle/>
    <a:p>
      <a:pPr>
        <a:defRPr sz="1100">
          <a:latin typeface="+mn-lt"/>
          <a:cs typeface="Poppins" panose="00000500000000000000" pitchFamily="2" charset="0"/>
        </a:defRPr>
      </a:pPr>
      <a:endParaRPr lang="es-A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975609756097563E-3"/>
          <c:y val="0.16251353223679521"/>
          <c:w val="0.97317073170731705"/>
          <c:h val="0.6231470754995542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OLA 1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La Serenísima</c:v>
                </c:pt>
                <c:pt idx="1">
                  <c:v>La Paulina</c:v>
                </c:pt>
                <c:pt idx="2">
                  <c:v>Sancor</c:v>
                </c:pt>
                <c:pt idx="3">
                  <c:v>Otras</c:v>
                </c:pt>
                <c:pt idx="4">
                  <c:v>Punta del agua</c:v>
                </c:pt>
                <c:pt idx="5">
                  <c:v>Cremón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0.2</c:v>
                </c:pt>
                <c:pt idx="1">
                  <c:v>0.18</c:v>
                </c:pt>
                <c:pt idx="2">
                  <c:v>0.12</c:v>
                </c:pt>
                <c:pt idx="3">
                  <c:v>0.08</c:v>
                </c:pt>
                <c:pt idx="4">
                  <c:v>0.08</c:v>
                </c:pt>
                <c:pt idx="5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CE-4D15-B327-3883182096E4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OLA 2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La Serenísima</c:v>
                </c:pt>
                <c:pt idx="1">
                  <c:v>La Paulina</c:v>
                </c:pt>
                <c:pt idx="2">
                  <c:v>Sancor</c:v>
                </c:pt>
                <c:pt idx="3">
                  <c:v>Otras</c:v>
                </c:pt>
                <c:pt idx="4">
                  <c:v>Punta del agua</c:v>
                </c:pt>
                <c:pt idx="5">
                  <c:v>Cremón</c:v>
                </c:pt>
              </c:strCache>
            </c:strRef>
          </c:cat>
          <c:val>
            <c:numRef>
              <c:f>Hoja1!$C$2:$C$7</c:f>
              <c:numCache>
                <c:formatCode>0%</c:formatCode>
                <c:ptCount val="6"/>
                <c:pt idx="0">
                  <c:v>0.26</c:v>
                </c:pt>
                <c:pt idx="1">
                  <c:v>0.14000000000000001</c:v>
                </c:pt>
                <c:pt idx="2">
                  <c:v>0.11</c:v>
                </c:pt>
                <c:pt idx="3">
                  <c:v>0.1</c:v>
                </c:pt>
                <c:pt idx="4">
                  <c:v>0.06</c:v>
                </c:pt>
                <c:pt idx="5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CE-4D15-B327-3883182096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71071440"/>
        <c:axId val="71057520"/>
      </c:barChart>
      <c:catAx>
        <c:axId val="71071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71057520"/>
        <c:crosses val="autoZero"/>
        <c:auto val="1"/>
        <c:lblAlgn val="ctr"/>
        <c:lblOffset val="100"/>
        <c:noMultiLvlLbl val="0"/>
      </c:catAx>
      <c:valAx>
        <c:axId val="71057520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71071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5784952947954676"/>
          <c:y val="0.25111074965377889"/>
          <c:w val="0.20259352794315344"/>
          <c:h val="7.15067338192315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A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975609756097563E-3"/>
          <c:y val="0.16251353223679521"/>
          <c:w val="0.97317073170731705"/>
          <c:h val="0.6231470754995542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OLA 1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Hoja1!$A$2:$A$15</c:f>
              <c:strCache>
                <c:ptCount val="14"/>
                <c:pt idx="0">
                  <c:v>La Serenísima</c:v>
                </c:pt>
                <c:pt idx="1">
                  <c:v>La Paulina</c:v>
                </c:pt>
                <c:pt idx="2">
                  <c:v>Sancor</c:v>
                </c:pt>
                <c:pt idx="3">
                  <c:v>Punta del agua</c:v>
                </c:pt>
                <c:pt idx="4">
                  <c:v>Ilolay</c:v>
                </c:pt>
                <c:pt idx="5">
                  <c:v>Otras</c:v>
                </c:pt>
                <c:pt idx="6">
                  <c:v>Casancrem</c:v>
                </c:pt>
                <c:pt idx="7">
                  <c:v>Milkaut</c:v>
                </c:pt>
                <c:pt idx="8">
                  <c:v>Cremón</c:v>
                </c:pt>
                <c:pt idx="9">
                  <c:v>Tregar</c:v>
                </c:pt>
                <c:pt idx="10">
                  <c:v>Finlandia</c:v>
                </c:pt>
                <c:pt idx="11">
                  <c:v>Barraza</c:v>
                </c:pt>
                <c:pt idx="12">
                  <c:v>PortSalut marca se</c:v>
                </c:pt>
                <c:pt idx="13">
                  <c:v>Adler</c:v>
                </c:pt>
              </c:strCache>
            </c:strRef>
          </c:cat>
          <c:val>
            <c:numRef>
              <c:f>Hoja1!$B$2:$B$15</c:f>
              <c:numCache>
                <c:formatCode>0%</c:formatCode>
                <c:ptCount val="14"/>
                <c:pt idx="0">
                  <c:v>0.48</c:v>
                </c:pt>
                <c:pt idx="1">
                  <c:v>0.39</c:v>
                </c:pt>
                <c:pt idx="2">
                  <c:v>0.31</c:v>
                </c:pt>
                <c:pt idx="3">
                  <c:v>0.2</c:v>
                </c:pt>
                <c:pt idx="4">
                  <c:v>0.14000000000000001</c:v>
                </c:pt>
                <c:pt idx="5">
                  <c:v>0.1</c:v>
                </c:pt>
                <c:pt idx="6">
                  <c:v>0.14000000000000001</c:v>
                </c:pt>
                <c:pt idx="7">
                  <c:v>7.0000000000000007E-2</c:v>
                </c:pt>
                <c:pt idx="8">
                  <c:v>0.12</c:v>
                </c:pt>
                <c:pt idx="9">
                  <c:v>0.09</c:v>
                </c:pt>
                <c:pt idx="10">
                  <c:v>0.05</c:v>
                </c:pt>
                <c:pt idx="11">
                  <c:v>0.05</c:v>
                </c:pt>
                <c:pt idx="12">
                  <c:v>7.0000000000000007E-2</c:v>
                </c:pt>
                <c:pt idx="13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CE-4D15-B327-3883182096E4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OLA 2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Hoja1!$A$2:$A$15</c:f>
              <c:strCache>
                <c:ptCount val="14"/>
                <c:pt idx="0">
                  <c:v>La Serenísima</c:v>
                </c:pt>
                <c:pt idx="1">
                  <c:v>La Paulina</c:v>
                </c:pt>
                <c:pt idx="2">
                  <c:v>Sancor</c:v>
                </c:pt>
                <c:pt idx="3">
                  <c:v>Punta del agua</c:v>
                </c:pt>
                <c:pt idx="4">
                  <c:v>Ilolay</c:v>
                </c:pt>
                <c:pt idx="5">
                  <c:v>Otras</c:v>
                </c:pt>
                <c:pt idx="6">
                  <c:v>Casancrem</c:v>
                </c:pt>
                <c:pt idx="7">
                  <c:v>Milkaut</c:v>
                </c:pt>
                <c:pt idx="8">
                  <c:v>Cremón</c:v>
                </c:pt>
                <c:pt idx="9">
                  <c:v>Tregar</c:v>
                </c:pt>
                <c:pt idx="10">
                  <c:v>Finlandia</c:v>
                </c:pt>
                <c:pt idx="11">
                  <c:v>Barraza</c:v>
                </c:pt>
                <c:pt idx="12">
                  <c:v>PortSalut marca se</c:v>
                </c:pt>
                <c:pt idx="13">
                  <c:v>Adler</c:v>
                </c:pt>
              </c:strCache>
            </c:strRef>
          </c:cat>
          <c:val>
            <c:numRef>
              <c:f>Hoja1!$C$2:$C$15</c:f>
              <c:numCache>
                <c:formatCode>0%</c:formatCode>
                <c:ptCount val="14"/>
                <c:pt idx="0">
                  <c:v>0.52</c:v>
                </c:pt>
                <c:pt idx="1">
                  <c:v>0.4</c:v>
                </c:pt>
                <c:pt idx="2">
                  <c:v>0.31</c:v>
                </c:pt>
                <c:pt idx="3">
                  <c:v>0.25</c:v>
                </c:pt>
                <c:pt idx="4">
                  <c:v>0.2</c:v>
                </c:pt>
                <c:pt idx="5">
                  <c:v>0.18</c:v>
                </c:pt>
                <c:pt idx="6">
                  <c:v>0.15</c:v>
                </c:pt>
                <c:pt idx="7">
                  <c:v>0.14000000000000001</c:v>
                </c:pt>
                <c:pt idx="8">
                  <c:v>0.13</c:v>
                </c:pt>
                <c:pt idx="9">
                  <c:v>0.12</c:v>
                </c:pt>
                <c:pt idx="10">
                  <c:v>0.09</c:v>
                </c:pt>
                <c:pt idx="11">
                  <c:v>7.0000000000000007E-2</c:v>
                </c:pt>
                <c:pt idx="12">
                  <c:v>0.06</c:v>
                </c:pt>
                <c:pt idx="1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CE-4D15-B327-3883182096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71071440"/>
        <c:axId val="71057520"/>
      </c:barChart>
      <c:catAx>
        <c:axId val="71071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71057520"/>
        <c:crosses val="autoZero"/>
        <c:auto val="1"/>
        <c:lblAlgn val="ctr"/>
        <c:lblOffset val="100"/>
        <c:noMultiLvlLbl val="0"/>
      </c:catAx>
      <c:valAx>
        <c:axId val="71057520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71071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1516660265027843"/>
          <c:y val="0.25111074965377889"/>
          <c:w val="0.24527645477242174"/>
          <c:h val="7.15067338192315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A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1992368724914065E-2"/>
          <c:y val="6.9863661833548904E-2"/>
          <c:w val="0.93851683777576289"/>
          <c:h val="0.7834416404295100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OLA 1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A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Hoja1!$A$2:$A$8</c:f>
              <c:strCache>
                <c:ptCount val="7"/>
                <c:pt idx="0">
                  <c:v>La Serenísima</c:v>
                </c:pt>
                <c:pt idx="1">
                  <c:v>Punta del agua</c:v>
                </c:pt>
                <c:pt idx="2">
                  <c:v>La Paulina</c:v>
                </c:pt>
                <c:pt idx="3">
                  <c:v>Cremón</c:v>
                </c:pt>
                <c:pt idx="4">
                  <c:v>Sancor</c:v>
                </c:pt>
                <c:pt idx="5">
                  <c:v>Tregar</c:v>
                </c:pt>
                <c:pt idx="6">
                  <c:v>Ilolay</c:v>
                </c:pt>
              </c:strCache>
            </c:strRef>
          </c:cat>
          <c:val>
            <c:numRef>
              <c:f>Hoja1!$B$2:$B$8</c:f>
              <c:numCache>
                <c:formatCode>General</c:formatCode>
                <c:ptCount val="7"/>
                <c:pt idx="0">
                  <c:v>19</c:v>
                </c:pt>
                <c:pt idx="1">
                  <c:v>17</c:v>
                </c:pt>
                <c:pt idx="2">
                  <c:v>20</c:v>
                </c:pt>
                <c:pt idx="3">
                  <c:v>11</c:v>
                </c:pt>
                <c:pt idx="4">
                  <c:v>9</c:v>
                </c:pt>
                <c:pt idx="5">
                  <c:v>4</c:v>
                </c:pt>
                <c:pt idx="6">
                  <c:v>4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6DE6-4F69-8AA0-B32F05351DFD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OLA 2</c:v>
                </c:pt>
              </c:strCache>
            </c:strRef>
          </c:tx>
          <c:spPr>
            <a:solidFill>
              <a:srgbClr val="103C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A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Hoja1!$A$2:$A$8</c:f>
              <c:strCache>
                <c:ptCount val="7"/>
                <c:pt idx="0">
                  <c:v>La Serenísima</c:v>
                </c:pt>
                <c:pt idx="1">
                  <c:v>Punta del agua</c:v>
                </c:pt>
                <c:pt idx="2">
                  <c:v>La Paulina</c:v>
                </c:pt>
                <c:pt idx="3">
                  <c:v>Cremón</c:v>
                </c:pt>
                <c:pt idx="4">
                  <c:v>Sancor</c:v>
                </c:pt>
                <c:pt idx="5">
                  <c:v>Tregar</c:v>
                </c:pt>
                <c:pt idx="6">
                  <c:v>Ilolay</c:v>
                </c:pt>
              </c:strCache>
            </c:strRef>
          </c:cat>
          <c:val>
            <c:numRef>
              <c:f>Hoja1!$C$2:$C$8</c:f>
              <c:numCache>
                <c:formatCode>General</c:formatCode>
                <c:ptCount val="7"/>
                <c:pt idx="0">
                  <c:v>22</c:v>
                </c:pt>
                <c:pt idx="1">
                  <c:v>17</c:v>
                </c:pt>
                <c:pt idx="2">
                  <c:v>15</c:v>
                </c:pt>
                <c:pt idx="3">
                  <c:v>11</c:v>
                </c:pt>
                <c:pt idx="4">
                  <c:v>7</c:v>
                </c:pt>
                <c:pt idx="5">
                  <c:v>6</c:v>
                </c:pt>
                <c:pt idx="6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51-4BFA-BF71-774F6BCBBD2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0"/>
        <c:overlap val="-5"/>
        <c:axId val="670820751"/>
        <c:axId val="316069072"/>
        <c:extLst/>
      </c:barChart>
      <c:catAx>
        <c:axId val="67082075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just"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316069072"/>
        <c:crosses val="autoZero"/>
        <c:auto val="1"/>
        <c:lblAlgn val="ctr"/>
        <c:lblOffset val="100"/>
        <c:noMultiLvlLbl val="0"/>
      </c:catAx>
      <c:valAx>
        <c:axId val="316069072"/>
        <c:scaling>
          <c:orientation val="minMax"/>
          <c:max val="50"/>
        </c:scaling>
        <c:delete val="1"/>
        <c:axPos val="l"/>
        <c:numFmt formatCode="General" sourceLinked="1"/>
        <c:majorTickMark val="out"/>
        <c:minorTickMark val="none"/>
        <c:tickLblPos val="nextTo"/>
        <c:crossAx val="670820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A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1992368724914065E-2"/>
          <c:y val="6.9863661833548904E-2"/>
          <c:w val="0.93851683777576289"/>
          <c:h val="0.7834416404295100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OLA 1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A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Hoja1!$A$2:$A$11</c:f>
              <c:strCache>
                <c:ptCount val="10"/>
                <c:pt idx="0">
                  <c:v>La Serenísima</c:v>
                </c:pt>
                <c:pt idx="1">
                  <c:v>La Paulina</c:v>
                </c:pt>
                <c:pt idx="2">
                  <c:v>Milkaut</c:v>
                </c:pt>
                <c:pt idx="3">
                  <c:v>Sancor</c:v>
                </c:pt>
                <c:pt idx="4">
                  <c:v>Ilolay</c:v>
                </c:pt>
                <c:pt idx="5">
                  <c:v>Cremón</c:v>
                </c:pt>
                <c:pt idx="6">
                  <c:v>Barraza</c:v>
                </c:pt>
                <c:pt idx="7">
                  <c:v>Tregar</c:v>
                </c:pt>
                <c:pt idx="8">
                  <c:v>Punta del agua</c:v>
                </c:pt>
                <c:pt idx="9">
                  <c:v>Santa Rosa</c:v>
                </c:pt>
              </c:strCache>
            </c:strRef>
          </c:cat>
          <c:val>
            <c:numRef>
              <c:f>Hoja1!$B$2:$B$11</c:f>
              <c:numCache>
                <c:formatCode>General</c:formatCode>
                <c:ptCount val="10"/>
                <c:pt idx="0">
                  <c:v>49</c:v>
                </c:pt>
                <c:pt idx="1">
                  <c:v>46</c:v>
                </c:pt>
                <c:pt idx="2">
                  <c:v>28</c:v>
                </c:pt>
                <c:pt idx="3">
                  <c:v>21</c:v>
                </c:pt>
                <c:pt idx="4">
                  <c:v>17</c:v>
                </c:pt>
                <c:pt idx="5">
                  <c:v>19</c:v>
                </c:pt>
                <c:pt idx="6">
                  <c:v>13</c:v>
                </c:pt>
                <c:pt idx="7">
                  <c:v>8</c:v>
                </c:pt>
                <c:pt idx="8">
                  <c:v>7</c:v>
                </c:pt>
                <c:pt idx="9">
                  <c:v>12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6DE6-4F69-8AA0-B32F05351DFD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OLA 2</c:v>
                </c:pt>
              </c:strCache>
            </c:strRef>
          </c:tx>
          <c:spPr>
            <a:solidFill>
              <a:srgbClr val="103C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A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Hoja1!$A$2:$A$11</c:f>
              <c:strCache>
                <c:ptCount val="10"/>
                <c:pt idx="0">
                  <c:v>La Serenísima</c:v>
                </c:pt>
                <c:pt idx="1">
                  <c:v>La Paulina</c:v>
                </c:pt>
                <c:pt idx="2">
                  <c:v>Milkaut</c:v>
                </c:pt>
                <c:pt idx="3">
                  <c:v>Sancor</c:v>
                </c:pt>
                <c:pt idx="4">
                  <c:v>Ilolay</c:v>
                </c:pt>
                <c:pt idx="5">
                  <c:v>Cremón</c:v>
                </c:pt>
                <c:pt idx="6">
                  <c:v>Barraza</c:v>
                </c:pt>
                <c:pt idx="7">
                  <c:v>Tregar</c:v>
                </c:pt>
                <c:pt idx="8">
                  <c:v>Punta del agua</c:v>
                </c:pt>
                <c:pt idx="9">
                  <c:v>Santa Rosa</c:v>
                </c:pt>
              </c:strCache>
            </c:strRef>
          </c:cat>
          <c:val>
            <c:numRef>
              <c:f>Hoja1!$C$2:$C$11</c:f>
              <c:numCache>
                <c:formatCode>General</c:formatCode>
                <c:ptCount val="10"/>
                <c:pt idx="0">
                  <c:v>51</c:v>
                </c:pt>
                <c:pt idx="1">
                  <c:v>35</c:v>
                </c:pt>
                <c:pt idx="2">
                  <c:v>35</c:v>
                </c:pt>
                <c:pt idx="3">
                  <c:v>23</c:v>
                </c:pt>
                <c:pt idx="4">
                  <c:v>22</c:v>
                </c:pt>
                <c:pt idx="5">
                  <c:v>21</c:v>
                </c:pt>
                <c:pt idx="6">
                  <c:v>13</c:v>
                </c:pt>
                <c:pt idx="7">
                  <c:v>11</c:v>
                </c:pt>
                <c:pt idx="8">
                  <c:v>7</c:v>
                </c:pt>
                <c:pt idx="9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51-4BFA-BF71-774F6BCBBD2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0"/>
        <c:overlap val="-5"/>
        <c:axId val="670820751"/>
        <c:axId val="316069072"/>
        <c:extLst/>
      </c:barChart>
      <c:catAx>
        <c:axId val="67082075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just"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316069072"/>
        <c:crosses val="autoZero"/>
        <c:auto val="1"/>
        <c:lblAlgn val="ctr"/>
        <c:lblOffset val="100"/>
        <c:noMultiLvlLbl val="0"/>
      </c:catAx>
      <c:valAx>
        <c:axId val="316069072"/>
        <c:scaling>
          <c:orientation val="minMax"/>
          <c:max val="50"/>
        </c:scaling>
        <c:delete val="1"/>
        <c:axPos val="l"/>
        <c:numFmt formatCode="General" sourceLinked="1"/>
        <c:majorTickMark val="out"/>
        <c:minorTickMark val="none"/>
        <c:tickLblPos val="nextTo"/>
        <c:crossAx val="670820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A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7796510856694279"/>
          <c:y val="0.19267573541460753"/>
          <c:w val="0.35731230079774684"/>
          <c:h val="0.79666493285692774"/>
        </c:manualLayout>
      </c:layout>
      <c:radarChart>
        <c:radarStyle val="marker"/>
        <c:varyColors val="0"/>
        <c:ser>
          <c:idx val="2"/>
          <c:order val="0"/>
          <c:tx>
            <c:strRef>
              <c:f>Sheet1!$A$2</c:f>
              <c:strCache>
                <c:ptCount val="1"/>
                <c:pt idx="0">
                  <c:v>Barraza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Sheet1!$B$2:$X$2</c:f>
              <c:numCache>
                <c:formatCode>General</c:formatCode>
                <c:ptCount val="23"/>
                <c:pt idx="0">
                  <c:v>17</c:v>
                </c:pt>
                <c:pt idx="1">
                  <c:v>20</c:v>
                </c:pt>
                <c:pt idx="2">
                  <c:v>15</c:v>
                </c:pt>
                <c:pt idx="3">
                  <c:v>15</c:v>
                </c:pt>
                <c:pt idx="4">
                  <c:v>21</c:v>
                </c:pt>
                <c:pt idx="5">
                  <c:v>13</c:v>
                </c:pt>
                <c:pt idx="6">
                  <c:v>18</c:v>
                </c:pt>
                <c:pt idx="7">
                  <c:v>15</c:v>
                </c:pt>
                <c:pt idx="8">
                  <c:v>6</c:v>
                </c:pt>
                <c:pt idx="9">
                  <c:v>12</c:v>
                </c:pt>
                <c:pt idx="10">
                  <c:v>13</c:v>
                </c:pt>
                <c:pt idx="11">
                  <c:v>16</c:v>
                </c:pt>
                <c:pt idx="12">
                  <c:v>11</c:v>
                </c:pt>
                <c:pt idx="13">
                  <c:v>17</c:v>
                </c:pt>
                <c:pt idx="14">
                  <c:v>13</c:v>
                </c:pt>
                <c:pt idx="15">
                  <c:v>18</c:v>
                </c:pt>
                <c:pt idx="16">
                  <c:v>25</c:v>
                </c:pt>
                <c:pt idx="17">
                  <c:v>16</c:v>
                </c:pt>
                <c:pt idx="18">
                  <c:v>15</c:v>
                </c:pt>
                <c:pt idx="19">
                  <c:v>16</c:v>
                </c:pt>
                <c:pt idx="20">
                  <c:v>14</c:v>
                </c:pt>
                <c:pt idx="21">
                  <c:v>13</c:v>
                </c:pt>
                <c:pt idx="22">
                  <c:v>10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F-C600-43D2-A341-8D595C7FD064}"/>
            </c:ext>
          </c:extLst>
        </c:ser>
        <c:ser>
          <c:idx val="3"/>
          <c:order val="1"/>
          <c:tx>
            <c:strRef>
              <c:f>Sheet1!$A$3</c:f>
              <c:strCache>
                <c:ptCount val="1"/>
                <c:pt idx="0">
                  <c:v>Cremac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Sheet1!$B$3:$X$3</c:f>
              <c:numCache>
                <c:formatCode>General</c:formatCode>
                <c:ptCount val="23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7</c:v>
                </c:pt>
                <c:pt idx="5">
                  <c:v>3</c:v>
                </c:pt>
                <c:pt idx="6">
                  <c:v>5</c:v>
                </c:pt>
                <c:pt idx="7">
                  <c:v>7</c:v>
                </c:pt>
                <c:pt idx="8">
                  <c:v>4</c:v>
                </c:pt>
                <c:pt idx="9">
                  <c:v>8</c:v>
                </c:pt>
                <c:pt idx="10">
                  <c:v>5</c:v>
                </c:pt>
                <c:pt idx="11">
                  <c:v>8</c:v>
                </c:pt>
                <c:pt idx="12">
                  <c:v>4</c:v>
                </c:pt>
                <c:pt idx="13">
                  <c:v>6</c:v>
                </c:pt>
                <c:pt idx="14">
                  <c:v>4</c:v>
                </c:pt>
                <c:pt idx="15">
                  <c:v>6</c:v>
                </c:pt>
                <c:pt idx="16">
                  <c:v>5</c:v>
                </c:pt>
                <c:pt idx="17">
                  <c:v>6</c:v>
                </c:pt>
                <c:pt idx="18">
                  <c:v>4</c:v>
                </c:pt>
                <c:pt idx="19">
                  <c:v>5</c:v>
                </c:pt>
                <c:pt idx="20">
                  <c:v>6</c:v>
                </c:pt>
                <c:pt idx="21">
                  <c:v>7</c:v>
                </c:pt>
                <c:pt idx="22">
                  <c:v>4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10-C600-43D2-A341-8D595C7FD064}"/>
            </c:ext>
          </c:extLst>
        </c:ser>
        <c:ser>
          <c:idx val="5"/>
          <c:order val="2"/>
          <c:tx>
            <c:strRef>
              <c:f>Sheet1!$A$4</c:f>
              <c:strCache>
                <c:ptCount val="1"/>
                <c:pt idx="0">
                  <c:v>Cremón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Sheet1!$B$4:$X$4</c:f>
              <c:numCache>
                <c:formatCode>General</c:formatCode>
                <c:ptCount val="23"/>
                <c:pt idx="0">
                  <c:v>30</c:v>
                </c:pt>
                <c:pt idx="1">
                  <c:v>30</c:v>
                </c:pt>
                <c:pt idx="2">
                  <c:v>23</c:v>
                </c:pt>
                <c:pt idx="3">
                  <c:v>19</c:v>
                </c:pt>
                <c:pt idx="4">
                  <c:v>35</c:v>
                </c:pt>
                <c:pt idx="5">
                  <c:v>17</c:v>
                </c:pt>
                <c:pt idx="6">
                  <c:v>26</c:v>
                </c:pt>
                <c:pt idx="7">
                  <c:v>30</c:v>
                </c:pt>
                <c:pt idx="8">
                  <c:v>13</c:v>
                </c:pt>
                <c:pt idx="9">
                  <c:v>14</c:v>
                </c:pt>
                <c:pt idx="10">
                  <c:v>30</c:v>
                </c:pt>
                <c:pt idx="11">
                  <c:v>29</c:v>
                </c:pt>
                <c:pt idx="12">
                  <c:v>13</c:v>
                </c:pt>
                <c:pt idx="13">
                  <c:v>31</c:v>
                </c:pt>
                <c:pt idx="14">
                  <c:v>18</c:v>
                </c:pt>
                <c:pt idx="15">
                  <c:v>35</c:v>
                </c:pt>
                <c:pt idx="16">
                  <c:v>29</c:v>
                </c:pt>
                <c:pt idx="17">
                  <c:v>32</c:v>
                </c:pt>
                <c:pt idx="18">
                  <c:v>18</c:v>
                </c:pt>
                <c:pt idx="19">
                  <c:v>20</c:v>
                </c:pt>
                <c:pt idx="20">
                  <c:v>26</c:v>
                </c:pt>
                <c:pt idx="21">
                  <c:v>22</c:v>
                </c:pt>
                <c:pt idx="22">
                  <c:v>21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11-C600-43D2-A341-8D595C7FD064}"/>
            </c:ext>
          </c:extLst>
        </c:ser>
        <c:ser>
          <c:idx val="0"/>
          <c:order val="3"/>
          <c:tx>
            <c:strRef>
              <c:f>Sheet1!$A$5</c:f>
              <c:strCache>
                <c:ptCount val="1"/>
                <c:pt idx="0">
                  <c:v>Doña Aurora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Sheet1!$B$5:$X$5</c:f>
              <c:numCache>
                <c:formatCode>General</c:formatCode>
                <c:ptCount val="23"/>
                <c:pt idx="0">
                  <c:v>1</c:v>
                </c:pt>
                <c:pt idx="1">
                  <c:v>3</c:v>
                </c:pt>
                <c:pt idx="2">
                  <c:v>1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1</c:v>
                </c:pt>
                <c:pt idx="9">
                  <c:v>1</c:v>
                </c:pt>
                <c:pt idx="10">
                  <c:v>0</c:v>
                </c:pt>
                <c:pt idx="11">
                  <c:v>2</c:v>
                </c:pt>
                <c:pt idx="12">
                  <c:v>1</c:v>
                </c:pt>
                <c:pt idx="13">
                  <c:v>2</c:v>
                </c:pt>
                <c:pt idx="14">
                  <c:v>1</c:v>
                </c:pt>
                <c:pt idx="15">
                  <c:v>2</c:v>
                </c:pt>
                <c:pt idx="16">
                  <c:v>2</c:v>
                </c:pt>
                <c:pt idx="17">
                  <c:v>1</c:v>
                </c:pt>
                <c:pt idx="18">
                  <c:v>2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C600-43D2-A341-8D595C7FD064}"/>
            </c:ext>
          </c:extLst>
        </c:ser>
        <c:ser>
          <c:idx val="1"/>
          <c:order val="4"/>
          <c:tx>
            <c:strRef>
              <c:f>Sheet1!$A$6</c:f>
              <c:strCache>
                <c:ptCount val="1"/>
                <c:pt idx="0">
                  <c:v>Ilolay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Sheet1!$B$6:$X$6</c:f>
              <c:numCache>
                <c:formatCode>General</c:formatCode>
                <c:ptCount val="23"/>
                <c:pt idx="0">
                  <c:v>29</c:v>
                </c:pt>
                <c:pt idx="1">
                  <c:v>37</c:v>
                </c:pt>
                <c:pt idx="2">
                  <c:v>27</c:v>
                </c:pt>
                <c:pt idx="3">
                  <c:v>32</c:v>
                </c:pt>
                <c:pt idx="4">
                  <c:v>41</c:v>
                </c:pt>
                <c:pt idx="5">
                  <c:v>37</c:v>
                </c:pt>
                <c:pt idx="6">
                  <c:v>34</c:v>
                </c:pt>
                <c:pt idx="7">
                  <c:v>40</c:v>
                </c:pt>
                <c:pt idx="8">
                  <c:v>23</c:v>
                </c:pt>
                <c:pt idx="9">
                  <c:v>32</c:v>
                </c:pt>
                <c:pt idx="10">
                  <c:v>24</c:v>
                </c:pt>
                <c:pt idx="11">
                  <c:v>35</c:v>
                </c:pt>
                <c:pt idx="12">
                  <c:v>43</c:v>
                </c:pt>
                <c:pt idx="13">
                  <c:v>26</c:v>
                </c:pt>
                <c:pt idx="14">
                  <c:v>39</c:v>
                </c:pt>
                <c:pt idx="15">
                  <c:v>28</c:v>
                </c:pt>
                <c:pt idx="16">
                  <c:v>20</c:v>
                </c:pt>
                <c:pt idx="17">
                  <c:v>29</c:v>
                </c:pt>
                <c:pt idx="18">
                  <c:v>28</c:v>
                </c:pt>
                <c:pt idx="19">
                  <c:v>29</c:v>
                </c:pt>
                <c:pt idx="20">
                  <c:v>32</c:v>
                </c:pt>
                <c:pt idx="21">
                  <c:v>31</c:v>
                </c:pt>
                <c:pt idx="22">
                  <c:v>32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13-C600-43D2-A341-8D595C7FD064}"/>
            </c:ext>
          </c:extLst>
        </c:ser>
        <c:ser>
          <c:idx val="4"/>
          <c:order val="5"/>
          <c:tx>
            <c:strRef>
              <c:f>Sheet1!$A$7</c:f>
              <c:strCache>
                <c:ptCount val="1"/>
                <c:pt idx="0">
                  <c:v>La Paulina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Sheet1!$B$7:$X$7</c:f>
              <c:numCache>
                <c:formatCode>General</c:formatCode>
                <c:ptCount val="23"/>
                <c:pt idx="0">
                  <c:v>38</c:v>
                </c:pt>
                <c:pt idx="1">
                  <c:v>43</c:v>
                </c:pt>
                <c:pt idx="2">
                  <c:v>34</c:v>
                </c:pt>
                <c:pt idx="3">
                  <c:v>40</c:v>
                </c:pt>
                <c:pt idx="4">
                  <c:v>48</c:v>
                </c:pt>
                <c:pt idx="5">
                  <c:v>42</c:v>
                </c:pt>
                <c:pt idx="6">
                  <c:v>47</c:v>
                </c:pt>
                <c:pt idx="7">
                  <c:v>48</c:v>
                </c:pt>
                <c:pt idx="8">
                  <c:v>22</c:v>
                </c:pt>
                <c:pt idx="9">
                  <c:v>36</c:v>
                </c:pt>
                <c:pt idx="10">
                  <c:v>31</c:v>
                </c:pt>
                <c:pt idx="11">
                  <c:v>39</c:v>
                </c:pt>
                <c:pt idx="12">
                  <c:v>44</c:v>
                </c:pt>
                <c:pt idx="13">
                  <c:v>38</c:v>
                </c:pt>
                <c:pt idx="14">
                  <c:v>43</c:v>
                </c:pt>
                <c:pt idx="15">
                  <c:v>43</c:v>
                </c:pt>
                <c:pt idx="16">
                  <c:v>40</c:v>
                </c:pt>
                <c:pt idx="17">
                  <c:v>41</c:v>
                </c:pt>
                <c:pt idx="18">
                  <c:v>42</c:v>
                </c:pt>
                <c:pt idx="19">
                  <c:v>34</c:v>
                </c:pt>
                <c:pt idx="20">
                  <c:v>40</c:v>
                </c:pt>
                <c:pt idx="21">
                  <c:v>38</c:v>
                </c:pt>
                <c:pt idx="22">
                  <c:v>38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14-C600-43D2-A341-8D595C7FD064}"/>
            </c:ext>
          </c:extLst>
        </c:ser>
        <c:ser>
          <c:idx val="6"/>
          <c:order val="6"/>
          <c:tx>
            <c:strRef>
              <c:f>Sheet1!$A$8</c:f>
              <c:strCache>
                <c:ptCount val="1"/>
                <c:pt idx="0">
                  <c:v>La Serenísima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Sheet1!$B$8:$X$8</c:f>
              <c:numCache>
                <c:formatCode>General</c:formatCode>
                <c:ptCount val="23"/>
                <c:pt idx="0">
                  <c:v>64</c:v>
                </c:pt>
                <c:pt idx="1">
                  <c:v>68</c:v>
                </c:pt>
                <c:pt idx="2">
                  <c:v>53</c:v>
                </c:pt>
                <c:pt idx="3">
                  <c:v>49</c:v>
                </c:pt>
                <c:pt idx="4">
                  <c:v>74</c:v>
                </c:pt>
                <c:pt idx="5">
                  <c:v>81</c:v>
                </c:pt>
                <c:pt idx="6">
                  <c:v>75</c:v>
                </c:pt>
                <c:pt idx="7">
                  <c:v>68</c:v>
                </c:pt>
                <c:pt idx="8">
                  <c:v>60</c:v>
                </c:pt>
                <c:pt idx="9">
                  <c:v>33</c:v>
                </c:pt>
                <c:pt idx="10">
                  <c:v>54</c:v>
                </c:pt>
                <c:pt idx="11">
                  <c:v>60</c:v>
                </c:pt>
                <c:pt idx="12">
                  <c:v>76</c:v>
                </c:pt>
                <c:pt idx="13">
                  <c:v>57</c:v>
                </c:pt>
                <c:pt idx="14">
                  <c:v>70</c:v>
                </c:pt>
                <c:pt idx="15">
                  <c:v>60</c:v>
                </c:pt>
                <c:pt idx="16">
                  <c:v>55</c:v>
                </c:pt>
                <c:pt idx="17">
                  <c:v>67</c:v>
                </c:pt>
                <c:pt idx="18">
                  <c:v>65</c:v>
                </c:pt>
                <c:pt idx="19">
                  <c:v>50</c:v>
                </c:pt>
                <c:pt idx="20">
                  <c:v>68</c:v>
                </c:pt>
                <c:pt idx="21">
                  <c:v>55</c:v>
                </c:pt>
                <c:pt idx="22">
                  <c:v>67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B53C-4162-AD57-CA9AA86E0C4E}"/>
            </c:ext>
          </c:extLst>
        </c:ser>
        <c:ser>
          <c:idx val="7"/>
          <c:order val="7"/>
          <c:tx>
            <c:strRef>
              <c:f>Sheet1!$A$9</c:f>
              <c:strCache>
                <c:ptCount val="1"/>
                <c:pt idx="0">
                  <c:v>Marcas propias (marcas de supermercado)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Sheet1!$B$9:$X$9</c:f>
              <c:numCache>
                <c:formatCode>General</c:formatCode>
                <c:ptCount val="23"/>
                <c:pt idx="0">
                  <c:v>4</c:v>
                </c:pt>
                <c:pt idx="1">
                  <c:v>6</c:v>
                </c:pt>
                <c:pt idx="2">
                  <c:v>7</c:v>
                </c:pt>
                <c:pt idx="3">
                  <c:v>7</c:v>
                </c:pt>
                <c:pt idx="4">
                  <c:v>6</c:v>
                </c:pt>
                <c:pt idx="5">
                  <c:v>2</c:v>
                </c:pt>
                <c:pt idx="6">
                  <c:v>4</c:v>
                </c:pt>
                <c:pt idx="7">
                  <c:v>9</c:v>
                </c:pt>
                <c:pt idx="8">
                  <c:v>5</c:v>
                </c:pt>
                <c:pt idx="9">
                  <c:v>10</c:v>
                </c:pt>
                <c:pt idx="10">
                  <c:v>3</c:v>
                </c:pt>
                <c:pt idx="11">
                  <c:v>7</c:v>
                </c:pt>
                <c:pt idx="12">
                  <c:v>8</c:v>
                </c:pt>
                <c:pt idx="13">
                  <c:v>7</c:v>
                </c:pt>
                <c:pt idx="14">
                  <c:v>7</c:v>
                </c:pt>
                <c:pt idx="15">
                  <c:v>4</c:v>
                </c:pt>
                <c:pt idx="16">
                  <c:v>2</c:v>
                </c:pt>
                <c:pt idx="17">
                  <c:v>4</c:v>
                </c:pt>
                <c:pt idx="18">
                  <c:v>3</c:v>
                </c:pt>
                <c:pt idx="19">
                  <c:v>6</c:v>
                </c:pt>
                <c:pt idx="20">
                  <c:v>4</c:v>
                </c:pt>
                <c:pt idx="21">
                  <c:v>8</c:v>
                </c:pt>
                <c:pt idx="2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48-4E05-8A02-A42459CADC15}"/>
            </c:ext>
          </c:extLst>
        </c:ser>
        <c:ser>
          <c:idx val="8"/>
          <c:order val="8"/>
          <c:tx>
            <c:strRef>
              <c:f>Sheet1!$A$10</c:f>
              <c:strCache>
                <c:ptCount val="1"/>
                <c:pt idx="0">
                  <c:v>Milkaut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Sheet1!$B$10:$X$10</c:f>
              <c:numCache>
                <c:formatCode>General</c:formatCode>
                <c:ptCount val="23"/>
                <c:pt idx="0">
                  <c:v>30</c:v>
                </c:pt>
                <c:pt idx="1">
                  <c:v>41</c:v>
                </c:pt>
                <c:pt idx="2">
                  <c:v>29</c:v>
                </c:pt>
                <c:pt idx="3">
                  <c:v>32</c:v>
                </c:pt>
                <c:pt idx="4">
                  <c:v>45</c:v>
                </c:pt>
                <c:pt idx="5">
                  <c:v>38</c:v>
                </c:pt>
                <c:pt idx="6">
                  <c:v>42</c:v>
                </c:pt>
                <c:pt idx="7">
                  <c:v>41</c:v>
                </c:pt>
                <c:pt idx="8">
                  <c:v>29</c:v>
                </c:pt>
                <c:pt idx="9">
                  <c:v>28</c:v>
                </c:pt>
                <c:pt idx="10">
                  <c:v>26</c:v>
                </c:pt>
                <c:pt idx="11">
                  <c:v>41</c:v>
                </c:pt>
                <c:pt idx="12">
                  <c:v>46</c:v>
                </c:pt>
                <c:pt idx="13">
                  <c:v>28</c:v>
                </c:pt>
                <c:pt idx="14">
                  <c:v>39</c:v>
                </c:pt>
                <c:pt idx="15">
                  <c:v>34</c:v>
                </c:pt>
                <c:pt idx="16">
                  <c:v>20</c:v>
                </c:pt>
                <c:pt idx="17">
                  <c:v>39</c:v>
                </c:pt>
                <c:pt idx="18">
                  <c:v>35</c:v>
                </c:pt>
                <c:pt idx="19">
                  <c:v>36</c:v>
                </c:pt>
                <c:pt idx="20">
                  <c:v>35</c:v>
                </c:pt>
                <c:pt idx="21">
                  <c:v>33</c:v>
                </c:pt>
                <c:pt idx="22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048-4E05-8A02-A42459CADC15}"/>
            </c:ext>
          </c:extLst>
        </c:ser>
        <c:ser>
          <c:idx val="9"/>
          <c:order val="9"/>
          <c:tx>
            <c:strRef>
              <c:f>Sheet1!$A$11</c:f>
              <c:strCache>
                <c:ptCount val="1"/>
                <c:pt idx="0">
                  <c:v>Noal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Sheet1!$B$11:$X$11</c:f>
              <c:numCache>
                <c:formatCode>General</c:formatCode>
                <c:ptCount val="23"/>
                <c:pt idx="0">
                  <c:v>1</c:v>
                </c:pt>
                <c:pt idx="1">
                  <c:v>3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  <c:pt idx="5">
                  <c:v>2</c:v>
                </c:pt>
                <c:pt idx="6">
                  <c:v>2</c:v>
                </c:pt>
                <c:pt idx="7">
                  <c:v>3</c:v>
                </c:pt>
                <c:pt idx="8">
                  <c:v>3</c:v>
                </c:pt>
                <c:pt idx="9">
                  <c:v>4</c:v>
                </c:pt>
                <c:pt idx="10">
                  <c:v>1</c:v>
                </c:pt>
                <c:pt idx="11">
                  <c:v>2</c:v>
                </c:pt>
                <c:pt idx="12">
                  <c:v>2</c:v>
                </c:pt>
                <c:pt idx="13">
                  <c:v>1</c:v>
                </c:pt>
                <c:pt idx="14">
                  <c:v>3</c:v>
                </c:pt>
                <c:pt idx="15">
                  <c:v>2</c:v>
                </c:pt>
                <c:pt idx="16">
                  <c:v>3</c:v>
                </c:pt>
                <c:pt idx="17">
                  <c:v>2</c:v>
                </c:pt>
                <c:pt idx="18">
                  <c:v>2</c:v>
                </c:pt>
                <c:pt idx="19">
                  <c:v>3</c:v>
                </c:pt>
                <c:pt idx="20">
                  <c:v>2</c:v>
                </c:pt>
                <c:pt idx="21">
                  <c:v>3</c:v>
                </c:pt>
                <c:pt idx="2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048-4E05-8A02-A42459CADC15}"/>
            </c:ext>
          </c:extLst>
        </c:ser>
        <c:ser>
          <c:idx val="10"/>
          <c:order val="10"/>
          <c:tx>
            <c:strRef>
              <c:f>Sheet1!$A$12</c:f>
              <c:strCache>
                <c:ptCount val="1"/>
                <c:pt idx="0">
                  <c:v>Punta del agua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Sheet1!$B$12:$X$12</c:f>
              <c:numCache>
                <c:formatCode>General</c:formatCode>
                <c:ptCount val="23"/>
                <c:pt idx="0">
                  <c:v>23</c:v>
                </c:pt>
                <c:pt idx="1">
                  <c:v>27</c:v>
                </c:pt>
                <c:pt idx="2">
                  <c:v>26</c:v>
                </c:pt>
                <c:pt idx="3">
                  <c:v>28</c:v>
                </c:pt>
                <c:pt idx="4">
                  <c:v>29</c:v>
                </c:pt>
                <c:pt idx="5">
                  <c:v>15</c:v>
                </c:pt>
                <c:pt idx="6">
                  <c:v>19</c:v>
                </c:pt>
                <c:pt idx="7">
                  <c:v>29</c:v>
                </c:pt>
                <c:pt idx="8">
                  <c:v>11</c:v>
                </c:pt>
                <c:pt idx="9">
                  <c:v>36</c:v>
                </c:pt>
                <c:pt idx="10">
                  <c:v>22</c:v>
                </c:pt>
                <c:pt idx="11">
                  <c:v>29</c:v>
                </c:pt>
                <c:pt idx="12">
                  <c:v>16</c:v>
                </c:pt>
                <c:pt idx="13">
                  <c:v>22</c:v>
                </c:pt>
                <c:pt idx="14">
                  <c:v>20</c:v>
                </c:pt>
                <c:pt idx="15">
                  <c:v>29</c:v>
                </c:pt>
                <c:pt idx="16">
                  <c:v>25</c:v>
                </c:pt>
                <c:pt idx="17">
                  <c:v>20</c:v>
                </c:pt>
                <c:pt idx="18">
                  <c:v>19</c:v>
                </c:pt>
                <c:pt idx="19">
                  <c:v>25</c:v>
                </c:pt>
                <c:pt idx="20">
                  <c:v>20</c:v>
                </c:pt>
                <c:pt idx="21">
                  <c:v>23</c:v>
                </c:pt>
                <c:pt idx="2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048-4E05-8A02-A42459CADC15}"/>
            </c:ext>
          </c:extLst>
        </c:ser>
        <c:ser>
          <c:idx val="11"/>
          <c:order val="11"/>
          <c:tx>
            <c:strRef>
              <c:f>Sheet1!$A$13</c:f>
              <c:strCache>
                <c:ptCount val="1"/>
                <c:pt idx="0">
                  <c:v>Puyehue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Sheet1!$B$13:$X$13</c:f>
              <c:numCache>
                <c:formatCode>General</c:formatCode>
                <c:ptCount val="23"/>
                <c:pt idx="0">
                  <c:v>3</c:v>
                </c:pt>
                <c:pt idx="1">
                  <c:v>5</c:v>
                </c:pt>
                <c:pt idx="2">
                  <c:v>3</c:v>
                </c:pt>
                <c:pt idx="3">
                  <c:v>3</c:v>
                </c:pt>
                <c:pt idx="4">
                  <c:v>5</c:v>
                </c:pt>
                <c:pt idx="5">
                  <c:v>4</c:v>
                </c:pt>
                <c:pt idx="6">
                  <c:v>2</c:v>
                </c:pt>
                <c:pt idx="7">
                  <c:v>5</c:v>
                </c:pt>
                <c:pt idx="8">
                  <c:v>1</c:v>
                </c:pt>
                <c:pt idx="9">
                  <c:v>5</c:v>
                </c:pt>
                <c:pt idx="10">
                  <c:v>3</c:v>
                </c:pt>
                <c:pt idx="11">
                  <c:v>2</c:v>
                </c:pt>
                <c:pt idx="12">
                  <c:v>2</c:v>
                </c:pt>
                <c:pt idx="13">
                  <c:v>3</c:v>
                </c:pt>
                <c:pt idx="14">
                  <c:v>2</c:v>
                </c:pt>
                <c:pt idx="15">
                  <c:v>3</c:v>
                </c:pt>
                <c:pt idx="16">
                  <c:v>4</c:v>
                </c:pt>
                <c:pt idx="17">
                  <c:v>3</c:v>
                </c:pt>
                <c:pt idx="18">
                  <c:v>2</c:v>
                </c:pt>
                <c:pt idx="19">
                  <c:v>6</c:v>
                </c:pt>
                <c:pt idx="20">
                  <c:v>4</c:v>
                </c:pt>
                <c:pt idx="21">
                  <c:v>3</c:v>
                </c:pt>
                <c:pt idx="2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048-4E05-8A02-A42459CADC15}"/>
            </c:ext>
          </c:extLst>
        </c:ser>
        <c:ser>
          <c:idx val="12"/>
          <c:order val="12"/>
          <c:tx>
            <c:strRef>
              <c:f>Sheet1!$A$14</c:f>
              <c:strCache>
                <c:ptCount val="1"/>
                <c:pt idx="0">
                  <c:v>Ricrem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Sheet1!$B$14:$X$14</c:f>
              <c:numCache>
                <c:formatCode>General</c:formatCode>
                <c:ptCount val="23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2</c:v>
                </c:pt>
                <c:pt idx="7">
                  <c:v>4</c:v>
                </c:pt>
                <c:pt idx="8">
                  <c:v>2</c:v>
                </c:pt>
                <c:pt idx="9">
                  <c:v>3</c:v>
                </c:pt>
                <c:pt idx="10">
                  <c:v>2</c:v>
                </c:pt>
                <c:pt idx="11">
                  <c:v>2</c:v>
                </c:pt>
                <c:pt idx="12">
                  <c:v>3</c:v>
                </c:pt>
                <c:pt idx="13">
                  <c:v>2</c:v>
                </c:pt>
                <c:pt idx="14">
                  <c:v>3</c:v>
                </c:pt>
                <c:pt idx="15">
                  <c:v>1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5</c:v>
                </c:pt>
                <c:pt idx="20">
                  <c:v>2</c:v>
                </c:pt>
                <c:pt idx="21">
                  <c:v>3</c:v>
                </c:pt>
                <c:pt idx="2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048-4E05-8A02-A42459CADC15}"/>
            </c:ext>
          </c:extLst>
        </c:ser>
        <c:ser>
          <c:idx val="13"/>
          <c:order val="13"/>
          <c:tx>
            <c:strRef>
              <c:f>Sheet1!$A$15</c:f>
              <c:strCache>
                <c:ptCount val="1"/>
                <c:pt idx="0">
                  <c:v>Sancor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Sheet1!$B$15:$X$15</c:f>
              <c:numCache>
                <c:formatCode>General</c:formatCode>
                <c:ptCount val="23"/>
                <c:pt idx="0">
                  <c:v>40</c:v>
                </c:pt>
                <c:pt idx="1">
                  <c:v>51</c:v>
                </c:pt>
                <c:pt idx="2">
                  <c:v>35</c:v>
                </c:pt>
                <c:pt idx="3">
                  <c:v>39</c:v>
                </c:pt>
                <c:pt idx="4">
                  <c:v>58</c:v>
                </c:pt>
                <c:pt idx="5">
                  <c:v>63</c:v>
                </c:pt>
                <c:pt idx="6">
                  <c:v>52</c:v>
                </c:pt>
                <c:pt idx="7">
                  <c:v>50</c:v>
                </c:pt>
                <c:pt idx="8">
                  <c:v>30</c:v>
                </c:pt>
                <c:pt idx="9">
                  <c:v>23</c:v>
                </c:pt>
                <c:pt idx="10">
                  <c:v>34</c:v>
                </c:pt>
                <c:pt idx="11">
                  <c:v>45</c:v>
                </c:pt>
                <c:pt idx="12">
                  <c:v>53</c:v>
                </c:pt>
                <c:pt idx="13">
                  <c:v>39</c:v>
                </c:pt>
                <c:pt idx="14">
                  <c:v>47</c:v>
                </c:pt>
                <c:pt idx="15">
                  <c:v>45</c:v>
                </c:pt>
                <c:pt idx="16">
                  <c:v>40</c:v>
                </c:pt>
                <c:pt idx="17">
                  <c:v>46</c:v>
                </c:pt>
                <c:pt idx="18">
                  <c:v>44</c:v>
                </c:pt>
                <c:pt idx="19">
                  <c:v>37</c:v>
                </c:pt>
                <c:pt idx="20">
                  <c:v>44</c:v>
                </c:pt>
                <c:pt idx="21">
                  <c:v>40</c:v>
                </c:pt>
                <c:pt idx="22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048-4E05-8A02-A42459CADC15}"/>
            </c:ext>
          </c:extLst>
        </c:ser>
        <c:ser>
          <c:idx val="14"/>
          <c:order val="14"/>
          <c:tx>
            <c:strRef>
              <c:f>Sheet1!$A$16</c:f>
              <c:strCache>
                <c:ptCount val="1"/>
                <c:pt idx="0">
                  <c:v>Tregar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Sheet1!$B$16:$X$16</c:f>
              <c:numCache>
                <c:formatCode>General</c:formatCode>
                <c:ptCount val="23"/>
                <c:pt idx="0">
                  <c:v>19</c:v>
                </c:pt>
                <c:pt idx="1">
                  <c:v>29</c:v>
                </c:pt>
                <c:pt idx="2">
                  <c:v>21</c:v>
                </c:pt>
                <c:pt idx="3">
                  <c:v>27</c:v>
                </c:pt>
                <c:pt idx="4">
                  <c:v>27</c:v>
                </c:pt>
                <c:pt idx="5">
                  <c:v>14</c:v>
                </c:pt>
                <c:pt idx="6">
                  <c:v>21</c:v>
                </c:pt>
                <c:pt idx="7">
                  <c:v>29</c:v>
                </c:pt>
                <c:pt idx="8">
                  <c:v>19</c:v>
                </c:pt>
                <c:pt idx="9">
                  <c:v>32</c:v>
                </c:pt>
                <c:pt idx="10">
                  <c:v>19</c:v>
                </c:pt>
                <c:pt idx="11">
                  <c:v>27</c:v>
                </c:pt>
                <c:pt idx="12">
                  <c:v>31</c:v>
                </c:pt>
                <c:pt idx="13">
                  <c:v>21</c:v>
                </c:pt>
                <c:pt idx="14">
                  <c:v>24</c:v>
                </c:pt>
                <c:pt idx="15">
                  <c:v>25</c:v>
                </c:pt>
                <c:pt idx="16">
                  <c:v>14</c:v>
                </c:pt>
                <c:pt idx="17">
                  <c:v>23</c:v>
                </c:pt>
                <c:pt idx="18">
                  <c:v>18</c:v>
                </c:pt>
                <c:pt idx="19">
                  <c:v>24</c:v>
                </c:pt>
                <c:pt idx="20">
                  <c:v>24</c:v>
                </c:pt>
                <c:pt idx="21">
                  <c:v>26</c:v>
                </c:pt>
                <c:pt idx="22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048-4E05-8A02-A42459CADC15}"/>
            </c:ext>
          </c:extLst>
        </c:ser>
        <c:ser>
          <c:idx val="15"/>
          <c:order val="15"/>
          <c:tx>
            <c:strRef>
              <c:f>Sheet1!$A$17</c:f>
              <c:strCache>
                <c:ptCount val="1"/>
                <c:pt idx="0">
                  <c:v>Tremblay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Sheet1!$B$17:$X$17</c:f>
              <c:numCache>
                <c:formatCode>General</c:formatCode>
                <c:ptCount val="23"/>
                <c:pt idx="0">
                  <c:v>8</c:v>
                </c:pt>
                <c:pt idx="1">
                  <c:v>12</c:v>
                </c:pt>
                <c:pt idx="2">
                  <c:v>7</c:v>
                </c:pt>
                <c:pt idx="3">
                  <c:v>9</c:v>
                </c:pt>
                <c:pt idx="4">
                  <c:v>11</c:v>
                </c:pt>
                <c:pt idx="5">
                  <c:v>5</c:v>
                </c:pt>
                <c:pt idx="6">
                  <c:v>7</c:v>
                </c:pt>
                <c:pt idx="7">
                  <c:v>13</c:v>
                </c:pt>
                <c:pt idx="8">
                  <c:v>8</c:v>
                </c:pt>
                <c:pt idx="9">
                  <c:v>12</c:v>
                </c:pt>
                <c:pt idx="10">
                  <c:v>8</c:v>
                </c:pt>
                <c:pt idx="11">
                  <c:v>11</c:v>
                </c:pt>
                <c:pt idx="12">
                  <c:v>8</c:v>
                </c:pt>
                <c:pt idx="13">
                  <c:v>5</c:v>
                </c:pt>
                <c:pt idx="14">
                  <c:v>9</c:v>
                </c:pt>
                <c:pt idx="15">
                  <c:v>10</c:v>
                </c:pt>
                <c:pt idx="16">
                  <c:v>6</c:v>
                </c:pt>
                <c:pt idx="17">
                  <c:v>10</c:v>
                </c:pt>
                <c:pt idx="18">
                  <c:v>5</c:v>
                </c:pt>
                <c:pt idx="19">
                  <c:v>12</c:v>
                </c:pt>
                <c:pt idx="20">
                  <c:v>8</c:v>
                </c:pt>
                <c:pt idx="21">
                  <c:v>10</c:v>
                </c:pt>
                <c:pt idx="2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048-4E05-8A02-A42459CADC15}"/>
            </c:ext>
          </c:extLst>
        </c:ser>
        <c:ser>
          <c:idx val="16"/>
          <c:order val="16"/>
          <c:tx>
            <c:strRef>
              <c:f>Sheet1!$A$18</c:f>
              <c:strCache>
                <c:ptCount val="1"/>
                <c:pt idx="0">
                  <c:v>Verónica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Sheet1!$B$18:$X$18</c:f>
              <c:numCache>
                <c:formatCode>General</c:formatCode>
                <c:ptCount val="23"/>
                <c:pt idx="0">
                  <c:v>10</c:v>
                </c:pt>
                <c:pt idx="1">
                  <c:v>18</c:v>
                </c:pt>
                <c:pt idx="2">
                  <c:v>10</c:v>
                </c:pt>
                <c:pt idx="3">
                  <c:v>15</c:v>
                </c:pt>
                <c:pt idx="4">
                  <c:v>21</c:v>
                </c:pt>
                <c:pt idx="5">
                  <c:v>16</c:v>
                </c:pt>
                <c:pt idx="6">
                  <c:v>14</c:v>
                </c:pt>
                <c:pt idx="7">
                  <c:v>17</c:v>
                </c:pt>
                <c:pt idx="8">
                  <c:v>5</c:v>
                </c:pt>
                <c:pt idx="9">
                  <c:v>12</c:v>
                </c:pt>
                <c:pt idx="10">
                  <c:v>8</c:v>
                </c:pt>
                <c:pt idx="11">
                  <c:v>17</c:v>
                </c:pt>
                <c:pt idx="12">
                  <c:v>14</c:v>
                </c:pt>
                <c:pt idx="13">
                  <c:v>10</c:v>
                </c:pt>
                <c:pt idx="14">
                  <c:v>13</c:v>
                </c:pt>
                <c:pt idx="15">
                  <c:v>11</c:v>
                </c:pt>
                <c:pt idx="16">
                  <c:v>9</c:v>
                </c:pt>
                <c:pt idx="17">
                  <c:v>12</c:v>
                </c:pt>
                <c:pt idx="18">
                  <c:v>11</c:v>
                </c:pt>
                <c:pt idx="19">
                  <c:v>13</c:v>
                </c:pt>
                <c:pt idx="20">
                  <c:v>14</c:v>
                </c:pt>
                <c:pt idx="21">
                  <c:v>15</c:v>
                </c:pt>
                <c:pt idx="22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BF-40CF-AE1E-5A141FF41B7B}"/>
            </c:ext>
          </c:extLst>
        </c:ser>
        <c:ser>
          <c:idx val="17"/>
          <c:order val="17"/>
          <c:tx>
            <c:strRef>
              <c:f>Sheet1!$A$19</c:f>
              <c:strCache>
                <c:ptCount val="1"/>
                <c:pt idx="0">
                  <c:v>Nonna Pia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Sheet1!$B$19:$X$19</c:f>
              <c:numCache>
                <c:formatCode>General</c:formatCode>
                <c:ptCount val="23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2</c:v>
                </c:pt>
                <c:pt idx="5">
                  <c:v>0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0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2</c:v>
                </c:pt>
                <c:pt idx="17">
                  <c:v>0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BF-40CF-AE1E-5A141FF41B7B}"/>
            </c:ext>
          </c:extLst>
        </c:ser>
        <c:ser>
          <c:idx val="18"/>
          <c:order val="18"/>
          <c:tx>
            <c:strRef>
              <c:f>Sheet1!$A$20</c:f>
              <c:strCache>
                <c:ptCount val="1"/>
                <c:pt idx="0">
                  <c:v>Santa Rosa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Sheet1!$B$20:$X$20</c:f>
              <c:numCache>
                <c:formatCode>General</c:formatCode>
                <c:ptCount val="23"/>
                <c:pt idx="0">
                  <c:v>11</c:v>
                </c:pt>
                <c:pt idx="1">
                  <c:v>14</c:v>
                </c:pt>
                <c:pt idx="2">
                  <c:v>8</c:v>
                </c:pt>
                <c:pt idx="3">
                  <c:v>8</c:v>
                </c:pt>
                <c:pt idx="4">
                  <c:v>13</c:v>
                </c:pt>
                <c:pt idx="5">
                  <c:v>13</c:v>
                </c:pt>
                <c:pt idx="6">
                  <c:v>15</c:v>
                </c:pt>
                <c:pt idx="7">
                  <c:v>11</c:v>
                </c:pt>
                <c:pt idx="8">
                  <c:v>4</c:v>
                </c:pt>
                <c:pt idx="9">
                  <c:v>6</c:v>
                </c:pt>
                <c:pt idx="10">
                  <c:v>11</c:v>
                </c:pt>
                <c:pt idx="11">
                  <c:v>12</c:v>
                </c:pt>
                <c:pt idx="12">
                  <c:v>10</c:v>
                </c:pt>
                <c:pt idx="13">
                  <c:v>13</c:v>
                </c:pt>
                <c:pt idx="14">
                  <c:v>10</c:v>
                </c:pt>
                <c:pt idx="15">
                  <c:v>14</c:v>
                </c:pt>
                <c:pt idx="16">
                  <c:v>17</c:v>
                </c:pt>
                <c:pt idx="17">
                  <c:v>14</c:v>
                </c:pt>
                <c:pt idx="18">
                  <c:v>12</c:v>
                </c:pt>
                <c:pt idx="19">
                  <c:v>8</c:v>
                </c:pt>
                <c:pt idx="20">
                  <c:v>11</c:v>
                </c:pt>
                <c:pt idx="21">
                  <c:v>9</c:v>
                </c:pt>
                <c:pt idx="2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ABF-40CF-AE1E-5A141FF41B7B}"/>
            </c:ext>
          </c:extLst>
        </c:ser>
        <c:ser>
          <c:idx val="19"/>
          <c:order val="19"/>
          <c:tx>
            <c:strRef>
              <c:f>Sheet1!$A$21</c:f>
              <c:strCache>
                <c:ptCount val="1"/>
                <c:pt idx="0">
                  <c:v>Pampa Cheese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Sheet1!$B$21:$X$21</c:f>
              <c:numCache>
                <c:formatCode>General</c:formatCode>
                <c:ptCount val="2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2</c:v>
                </c:pt>
                <c:pt idx="7">
                  <c:v>2</c:v>
                </c:pt>
                <c:pt idx="8">
                  <c:v>1</c:v>
                </c:pt>
                <c:pt idx="9">
                  <c:v>0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0</c:v>
                </c:pt>
                <c:pt idx="14">
                  <c:v>1</c:v>
                </c:pt>
                <c:pt idx="15">
                  <c:v>1</c:v>
                </c:pt>
                <c:pt idx="16">
                  <c:v>2</c:v>
                </c:pt>
                <c:pt idx="17">
                  <c:v>1</c:v>
                </c:pt>
                <c:pt idx="18">
                  <c:v>1</c:v>
                </c:pt>
                <c:pt idx="19">
                  <c:v>2</c:v>
                </c:pt>
                <c:pt idx="20">
                  <c:v>0</c:v>
                </c:pt>
                <c:pt idx="21">
                  <c:v>1</c:v>
                </c:pt>
                <c:pt idx="2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ABF-40CF-AE1E-5A141FF41B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34969568"/>
        <c:axId val="1634970112"/>
        <c:extLst/>
      </c:radarChart>
      <c:catAx>
        <c:axId val="1634969568"/>
        <c:scaling>
          <c:orientation val="minMax"/>
        </c:scaling>
        <c:delete val="0"/>
        <c:axPos val="b"/>
        <c:majorGridlines>
          <c:spPr>
            <a:ln w="12218">
              <a:solidFill>
                <a:srgbClr val="808080"/>
              </a:solidFill>
              <a:prstDash val="sysDash"/>
            </a:ln>
          </c:spPr>
        </c:majorGridlines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s-AR"/>
          </a:p>
        </c:txPr>
        <c:crossAx val="1634970112"/>
        <c:crosses val="autoZero"/>
        <c:auto val="0"/>
        <c:lblAlgn val="ctr"/>
        <c:lblOffset val="100"/>
        <c:noMultiLvlLbl val="0"/>
      </c:catAx>
      <c:valAx>
        <c:axId val="1634970112"/>
        <c:scaling>
          <c:orientation val="minMax"/>
          <c:max val="100"/>
          <c:min val="0"/>
        </c:scaling>
        <c:delete val="0"/>
        <c:axPos val="l"/>
        <c:majorGridlines>
          <c:spPr>
            <a:ln w="12218">
              <a:solidFill>
                <a:srgbClr val="CBD1CD"/>
              </a:solidFill>
              <a:prstDash val="solid"/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600" b="0">
                <a:solidFill>
                  <a:schemeClr val="bg1">
                    <a:lumMod val="75000"/>
                  </a:schemeClr>
                </a:solidFill>
              </a:defRPr>
            </a:pPr>
            <a:endParaRPr lang="es-AR"/>
          </a:p>
        </c:txPr>
        <c:crossAx val="1634969568"/>
        <c:crosses val="autoZero"/>
        <c:crossBetween val="midCat"/>
        <c:majorUnit val="10"/>
      </c:valAx>
      <c:spPr>
        <a:noFill/>
        <a:ln w="24436">
          <a:noFill/>
        </a:ln>
      </c:spPr>
    </c:plotArea>
    <c:legend>
      <c:legendPos val="r"/>
      <c:layout>
        <c:manualLayout>
          <c:xMode val="edge"/>
          <c:yMode val="edge"/>
          <c:x val="0.87872811953832075"/>
          <c:y val="0.15850499124687376"/>
          <c:w val="0.11263904067300803"/>
          <c:h val="0.54561486466265052"/>
        </c:manualLayout>
      </c:layout>
      <c:overlay val="0"/>
      <c:spPr>
        <a:ln>
          <a:solidFill>
            <a:schemeClr val="bg1">
              <a:lumMod val="85000"/>
            </a:schemeClr>
          </a:solidFill>
        </a:ln>
      </c:spPr>
      <c:txPr>
        <a:bodyPr/>
        <a:lstStyle/>
        <a:p>
          <a:pPr>
            <a:defRPr sz="900" b="0">
              <a:solidFill>
                <a:schemeClr val="tx1"/>
              </a:solidFill>
              <a:latin typeface="+mn-lt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2116" b="1" i="0" u="none" strike="noStrike" baseline="0">
          <a:solidFill>
            <a:srgbClr val="FFFFFF"/>
          </a:solidFill>
          <a:latin typeface="Arial"/>
          <a:ea typeface="Arial"/>
          <a:cs typeface="Arial"/>
        </a:defRPr>
      </a:pPr>
      <a:endParaRPr lang="es-AR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7796510856694279"/>
          <c:y val="0.19267573541460753"/>
          <c:w val="0.35731230079774684"/>
          <c:h val="0.79666493285692774"/>
        </c:manualLayout>
      </c:layout>
      <c:radarChart>
        <c:radarStyle val="marker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Barraza</c:v>
                </c:pt>
              </c:strCache>
            </c:strRef>
          </c:tx>
          <c:spPr>
            <a:ln w="381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c:spPr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11</c:v>
                </c:pt>
                <c:pt idx="1">
                  <c:v>13</c:v>
                </c:pt>
                <c:pt idx="2">
                  <c:v>9</c:v>
                </c:pt>
                <c:pt idx="3">
                  <c:v>10</c:v>
                </c:pt>
                <c:pt idx="4">
                  <c:v>15</c:v>
                </c:pt>
                <c:pt idx="5">
                  <c:v>8</c:v>
                </c:pt>
                <c:pt idx="6">
                  <c:v>11</c:v>
                </c:pt>
                <c:pt idx="7">
                  <c:v>9</c:v>
                </c:pt>
                <c:pt idx="8">
                  <c:v>7</c:v>
                </c:pt>
                <c:pt idx="9">
                  <c:v>6</c:v>
                </c:pt>
                <c:pt idx="10">
                  <c:v>7</c:v>
                </c:pt>
                <c:pt idx="11">
                  <c:v>11</c:v>
                </c:pt>
                <c:pt idx="12">
                  <c:v>6</c:v>
                </c:pt>
                <c:pt idx="13">
                  <c:v>11</c:v>
                </c:pt>
                <c:pt idx="14">
                  <c:v>9</c:v>
                </c:pt>
                <c:pt idx="15">
                  <c:v>10</c:v>
                </c:pt>
                <c:pt idx="16">
                  <c:v>17</c:v>
                </c:pt>
                <c:pt idx="17">
                  <c:v>12</c:v>
                </c:pt>
                <c:pt idx="18">
                  <c:v>10</c:v>
                </c:pt>
                <c:pt idx="19">
                  <c:v>11</c:v>
                </c:pt>
                <c:pt idx="20">
                  <c:v>9</c:v>
                </c:pt>
                <c:pt idx="21">
                  <c:v>9</c:v>
                </c:pt>
                <c:pt idx="22">
                  <c:v>7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166B-4AF6-A6D9-0B9BF8B1E957}"/>
            </c:ext>
          </c:extLst>
        </c:ser>
        <c:ser>
          <c:idx val="3"/>
          <c:order val="1"/>
          <c:tx>
            <c:strRef>
              <c:f>Sheet1!$C$1</c:f>
              <c:strCache>
                <c:ptCount val="1"/>
                <c:pt idx="0">
                  <c:v>Cremac</c:v>
                </c:pt>
              </c:strCache>
            </c:strRef>
          </c:tx>
          <c:spPr>
            <a:ln w="38100">
              <a:solidFill>
                <a:schemeClr val="accent6">
                  <a:lumMod val="50000"/>
                </a:schemeClr>
              </a:solidFill>
            </a:ln>
          </c:spPr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9</c:v>
                </c:pt>
                <c:pt idx="1">
                  <c:v>8</c:v>
                </c:pt>
                <c:pt idx="2">
                  <c:v>8</c:v>
                </c:pt>
                <c:pt idx="3">
                  <c:v>7</c:v>
                </c:pt>
                <c:pt idx="4">
                  <c:v>10</c:v>
                </c:pt>
                <c:pt idx="5">
                  <c:v>4</c:v>
                </c:pt>
                <c:pt idx="6">
                  <c:v>7</c:v>
                </c:pt>
                <c:pt idx="7">
                  <c:v>9</c:v>
                </c:pt>
                <c:pt idx="8">
                  <c:v>5</c:v>
                </c:pt>
                <c:pt idx="9">
                  <c:v>11</c:v>
                </c:pt>
                <c:pt idx="10">
                  <c:v>7</c:v>
                </c:pt>
                <c:pt idx="11">
                  <c:v>11</c:v>
                </c:pt>
                <c:pt idx="12">
                  <c:v>6</c:v>
                </c:pt>
                <c:pt idx="13">
                  <c:v>9</c:v>
                </c:pt>
                <c:pt idx="14">
                  <c:v>6</c:v>
                </c:pt>
                <c:pt idx="15">
                  <c:v>9</c:v>
                </c:pt>
                <c:pt idx="16">
                  <c:v>6</c:v>
                </c:pt>
                <c:pt idx="17">
                  <c:v>9</c:v>
                </c:pt>
                <c:pt idx="18">
                  <c:v>6</c:v>
                </c:pt>
                <c:pt idx="19">
                  <c:v>8</c:v>
                </c:pt>
                <c:pt idx="20">
                  <c:v>8</c:v>
                </c:pt>
                <c:pt idx="21">
                  <c:v>11</c:v>
                </c:pt>
                <c:pt idx="22">
                  <c:v>4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166B-4AF6-A6D9-0B9BF8B1E957}"/>
            </c:ext>
          </c:extLst>
        </c:ser>
        <c:ser>
          <c:idx val="0"/>
          <c:order val="2"/>
          <c:tx>
            <c:strRef>
              <c:f>Sheet1!$D$1</c:f>
              <c:strCache>
                <c:ptCount val="1"/>
                <c:pt idx="0">
                  <c:v>Cremón</c:v>
                </c:pt>
              </c:strCache>
            </c:strRef>
          </c:tx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Sheet1!$D$2:$D$24</c:f>
              <c:numCache>
                <c:formatCode>General</c:formatCode>
                <c:ptCount val="23"/>
                <c:pt idx="0">
                  <c:v>37</c:v>
                </c:pt>
                <c:pt idx="1">
                  <c:v>32</c:v>
                </c:pt>
                <c:pt idx="2">
                  <c:v>27</c:v>
                </c:pt>
                <c:pt idx="3">
                  <c:v>19</c:v>
                </c:pt>
                <c:pt idx="4">
                  <c:v>38</c:v>
                </c:pt>
                <c:pt idx="5">
                  <c:v>17</c:v>
                </c:pt>
                <c:pt idx="6">
                  <c:v>27</c:v>
                </c:pt>
                <c:pt idx="7">
                  <c:v>33</c:v>
                </c:pt>
                <c:pt idx="8">
                  <c:v>16</c:v>
                </c:pt>
                <c:pt idx="9">
                  <c:v>18</c:v>
                </c:pt>
                <c:pt idx="10">
                  <c:v>33</c:v>
                </c:pt>
                <c:pt idx="11">
                  <c:v>33</c:v>
                </c:pt>
                <c:pt idx="12">
                  <c:v>15</c:v>
                </c:pt>
                <c:pt idx="13">
                  <c:v>34</c:v>
                </c:pt>
                <c:pt idx="14">
                  <c:v>19</c:v>
                </c:pt>
                <c:pt idx="15">
                  <c:v>39</c:v>
                </c:pt>
                <c:pt idx="16">
                  <c:v>32</c:v>
                </c:pt>
                <c:pt idx="17">
                  <c:v>34</c:v>
                </c:pt>
                <c:pt idx="18">
                  <c:v>20</c:v>
                </c:pt>
                <c:pt idx="19">
                  <c:v>23</c:v>
                </c:pt>
                <c:pt idx="20">
                  <c:v>29</c:v>
                </c:pt>
                <c:pt idx="21">
                  <c:v>25</c:v>
                </c:pt>
                <c:pt idx="22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CA-4542-ADE6-2BD069350315}"/>
            </c:ext>
          </c:extLst>
        </c:ser>
        <c:ser>
          <c:idx val="1"/>
          <c:order val="3"/>
          <c:tx>
            <c:strRef>
              <c:f>Sheet1!$E$1</c:f>
              <c:strCache>
                <c:ptCount val="1"/>
                <c:pt idx="0">
                  <c:v>Doña Aurora</c:v>
                </c:pt>
              </c:strCache>
            </c:strRef>
          </c:tx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Sheet1!$E$2:$E$24</c:f>
              <c:numCache>
                <c:formatCode>General</c:formatCode>
                <c:ptCount val="23"/>
                <c:pt idx="0">
                  <c:v>0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  <c:pt idx="12">
                  <c:v>1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21-4201-BBA4-16E1AB1BC3A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Ilolay</c:v>
                </c:pt>
              </c:strCache>
            </c:strRef>
          </c:tx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Sheet1!$F$2:$F$24</c:f>
              <c:numCache>
                <c:formatCode>General</c:formatCode>
                <c:ptCount val="23"/>
                <c:pt idx="0">
                  <c:v>35</c:v>
                </c:pt>
                <c:pt idx="1">
                  <c:v>45</c:v>
                </c:pt>
                <c:pt idx="2">
                  <c:v>36</c:v>
                </c:pt>
                <c:pt idx="3">
                  <c:v>39</c:v>
                </c:pt>
                <c:pt idx="4">
                  <c:v>53</c:v>
                </c:pt>
                <c:pt idx="5">
                  <c:v>47</c:v>
                </c:pt>
                <c:pt idx="6">
                  <c:v>40</c:v>
                </c:pt>
                <c:pt idx="7">
                  <c:v>48</c:v>
                </c:pt>
                <c:pt idx="8">
                  <c:v>26</c:v>
                </c:pt>
                <c:pt idx="9">
                  <c:v>37</c:v>
                </c:pt>
                <c:pt idx="10">
                  <c:v>31</c:v>
                </c:pt>
                <c:pt idx="11">
                  <c:v>42</c:v>
                </c:pt>
                <c:pt idx="12">
                  <c:v>49</c:v>
                </c:pt>
                <c:pt idx="13">
                  <c:v>37</c:v>
                </c:pt>
                <c:pt idx="14">
                  <c:v>48</c:v>
                </c:pt>
                <c:pt idx="15">
                  <c:v>35</c:v>
                </c:pt>
                <c:pt idx="16">
                  <c:v>27</c:v>
                </c:pt>
                <c:pt idx="17">
                  <c:v>38</c:v>
                </c:pt>
                <c:pt idx="18">
                  <c:v>35</c:v>
                </c:pt>
                <c:pt idx="19">
                  <c:v>32</c:v>
                </c:pt>
                <c:pt idx="20">
                  <c:v>41</c:v>
                </c:pt>
                <c:pt idx="21">
                  <c:v>43</c:v>
                </c:pt>
                <c:pt idx="22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21-4201-BBA4-16E1AB1BC3A1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La Paulina</c:v>
                </c:pt>
              </c:strCache>
            </c:strRef>
          </c:tx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Sheet1!$G$2:$G$24</c:f>
              <c:numCache>
                <c:formatCode>General</c:formatCode>
                <c:ptCount val="23"/>
                <c:pt idx="0">
                  <c:v>39</c:v>
                </c:pt>
                <c:pt idx="1">
                  <c:v>42</c:v>
                </c:pt>
                <c:pt idx="2">
                  <c:v>33</c:v>
                </c:pt>
                <c:pt idx="3">
                  <c:v>42</c:v>
                </c:pt>
                <c:pt idx="4">
                  <c:v>49</c:v>
                </c:pt>
                <c:pt idx="5">
                  <c:v>44</c:v>
                </c:pt>
                <c:pt idx="6">
                  <c:v>48</c:v>
                </c:pt>
                <c:pt idx="7">
                  <c:v>51</c:v>
                </c:pt>
                <c:pt idx="8">
                  <c:v>22</c:v>
                </c:pt>
                <c:pt idx="9">
                  <c:v>37</c:v>
                </c:pt>
                <c:pt idx="10">
                  <c:v>35</c:v>
                </c:pt>
                <c:pt idx="11">
                  <c:v>43</c:v>
                </c:pt>
                <c:pt idx="12">
                  <c:v>47</c:v>
                </c:pt>
                <c:pt idx="13">
                  <c:v>39</c:v>
                </c:pt>
                <c:pt idx="14">
                  <c:v>45</c:v>
                </c:pt>
                <c:pt idx="15">
                  <c:v>45</c:v>
                </c:pt>
                <c:pt idx="16">
                  <c:v>41</c:v>
                </c:pt>
                <c:pt idx="17">
                  <c:v>44</c:v>
                </c:pt>
                <c:pt idx="18">
                  <c:v>43</c:v>
                </c:pt>
                <c:pt idx="19">
                  <c:v>33</c:v>
                </c:pt>
                <c:pt idx="20">
                  <c:v>43</c:v>
                </c:pt>
                <c:pt idx="21">
                  <c:v>40</c:v>
                </c:pt>
                <c:pt idx="22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821-4201-BBA4-16E1AB1BC3A1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La Serenísima</c:v>
                </c:pt>
              </c:strCache>
            </c:strRef>
          </c:tx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Sheet1!$H$2:$H$24</c:f>
              <c:numCache>
                <c:formatCode>General</c:formatCode>
                <c:ptCount val="23"/>
                <c:pt idx="0">
                  <c:v>61</c:v>
                </c:pt>
                <c:pt idx="1">
                  <c:v>64</c:v>
                </c:pt>
                <c:pt idx="2">
                  <c:v>49</c:v>
                </c:pt>
                <c:pt idx="3">
                  <c:v>45</c:v>
                </c:pt>
                <c:pt idx="4">
                  <c:v>73</c:v>
                </c:pt>
                <c:pt idx="5">
                  <c:v>81</c:v>
                </c:pt>
                <c:pt idx="6">
                  <c:v>74</c:v>
                </c:pt>
                <c:pt idx="7">
                  <c:v>64</c:v>
                </c:pt>
                <c:pt idx="8">
                  <c:v>61</c:v>
                </c:pt>
                <c:pt idx="9">
                  <c:v>33</c:v>
                </c:pt>
                <c:pt idx="10">
                  <c:v>53</c:v>
                </c:pt>
                <c:pt idx="11">
                  <c:v>58</c:v>
                </c:pt>
                <c:pt idx="12">
                  <c:v>74</c:v>
                </c:pt>
                <c:pt idx="13">
                  <c:v>53</c:v>
                </c:pt>
                <c:pt idx="14">
                  <c:v>71</c:v>
                </c:pt>
                <c:pt idx="15">
                  <c:v>57</c:v>
                </c:pt>
                <c:pt idx="16">
                  <c:v>57</c:v>
                </c:pt>
                <c:pt idx="17">
                  <c:v>66</c:v>
                </c:pt>
                <c:pt idx="18">
                  <c:v>62</c:v>
                </c:pt>
                <c:pt idx="19">
                  <c:v>47</c:v>
                </c:pt>
                <c:pt idx="20">
                  <c:v>68</c:v>
                </c:pt>
                <c:pt idx="21">
                  <c:v>53</c:v>
                </c:pt>
                <c:pt idx="22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821-4201-BBA4-16E1AB1BC3A1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Marcas propias (marcas de supermercado)</c:v>
                </c:pt>
              </c:strCache>
            </c:strRef>
          </c:tx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Sheet1!$I$2:$I$24</c:f>
              <c:numCache>
                <c:formatCode>General</c:formatCode>
                <c:ptCount val="23"/>
                <c:pt idx="0">
                  <c:v>3</c:v>
                </c:pt>
                <c:pt idx="1">
                  <c:v>4</c:v>
                </c:pt>
                <c:pt idx="2">
                  <c:v>7</c:v>
                </c:pt>
                <c:pt idx="3">
                  <c:v>7</c:v>
                </c:pt>
                <c:pt idx="4">
                  <c:v>6</c:v>
                </c:pt>
                <c:pt idx="5">
                  <c:v>2</c:v>
                </c:pt>
                <c:pt idx="6">
                  <c:v>4</c:v>
                </c:pt>
                <c:pt idx="7">
                  <c:v>8</c:v>
                </c:pt>
                <c:pt idx="8">
                  <c:v>4</c:v>
                </c:pt>
                <c:pt idx="9">
                  <c:v>9</c:v>
                </c:pt>
                <c:pt idx="10">
                  <c:v>4</c:v>
                </c:pt>
                <c:pt idx="11">
                  <c:v>7</c:v>
                </c:pt>
                <c:pt idx="12">
                  <c:v>6</c:v>
                </c:pt>
                <c:pt idx="13">
                  <c:v>6</c:v>
                </c:pt>
                <c:pt idx="14">
                  <c:v>3</c:v>
                </c:pt>
                <c:pt idx="15">
                  <c:v>3</c:v>
                </c:pt>
                <c:pt idx="16">
                  <c:v>1</c:v>
                </c:pt>
                <c:pt idx="17">
                  <c:v>4</c:v>
                </c:pt>
                <c:pt idx="18">
                  <c:v>3</c:v>
                </c:pt>
                <c:pt idx="19">
                  <c:v>4</c:v>
                </c:pt>
                <c:pt idx="20">
                  <c:v>3</c:v>
                </c:pt>
                <c:pt idx="21">
                  <c:v>7</c:v>
                </c:pt>
                <c:pt idx="2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821-4201-BBA4-16E1AB1BC3A1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Milkaut</c:v>
                </c:pt>
              </c:strCache>
            </c:strRef>
          </c:tx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Sheet1!$J$2:$J$24</c:f>
              <c:numCache>
                <c:formatCode>General</c:formatCode>
                <c:ptCount val="23"/>
                <c:pt idx="0">
                  <c:v>35</c:v>
                </c:pt>
                <c:pt idx="1">
                  <c:v>46</c:v>
                </c:pt>
                <c:pt idx="2">
                  <c:v>33</c:v>
                </c:pt>
                <c:pt idx="3">
                  <c:v>36</c:v>
                </c:pt>
                <c:pt idx="4">
                  <c:v>52</c:v>
                </c:pt>
                <c:pt idx="5">
                  <c:v>44</c:v>
                </c:pt>
                <c:pt idx="6">
                  <c:v>47</c:v>
                </c:pt>
                <c:pt idx="7">
                  <c:v>46</c:v>
                </c:pt>
                <c:pt idx="8">
                  <c:v>33</c:v>
                </c:pt>
                <c:pt idx="9">
                  <c:v>29</c:v>
                </c:pt>
                <c:pt idx="10">
                  <c:v>32</c:v>
                </c:pt>
                <c:pt idx="11">
                  <c:v>46</c:v>
                </c:pt>
                <c:pt idx="12">
                  <c:v>49</c:v>
                </c:pt>
                <c:pt idx="13">
                  <c:v>36</c:v>
                </c:pt>
                <c:pt idx="14">
                  <c:v>43</c:v>
                </c:pt>
                <c:pt idx="15">
                  <c:v>41</c:v>
                </c:pt>
                <c:pt idx="16">
                  <c:v>24</c:v>
                </c:pt>
                <c:pt idx="17">
                  <c:v>47</c:v>
                </c:pt>
                <c:pt idx="18">
                  <c:v>41</c:v>
                </c:pt>
                <c:pt idx="19">
                  <c:v>36</c:v>
                </c:pt>
                <c:pt idx="20">
                  <c:v>41</c:v>
                </c:pt>
                <c:pt idx="21">
                  <c:v>39</c:v>
                </c:pt>
                <c:pt idx="22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821-4201-BBA4-16E1AB1BC3A1}"/>
            </c:ext>
          </c:extLst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Noal</c:v>
                </c:pt>
              </c:strCache>
            </c:strRef>
          </c:tx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Sheet1!$K$2:$K$24</c:f>
              <c:numCache>
                <c:formatCode>General</c:formatCode>
                <c:ptCount val="23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2</c:v>
                </c:pt>
                <c:pt idx="7">
                  <c:v>4</c:v>
                </c:pt>
                <c:pt idx="8">
                  <c:v>3</c:v>
                </c:pt>
                <c:pt idx="9">
                  <c:v>4</c:v>
                </c:pt>
                <c:pt idx="10">
                  <c:v>2</c:v>
                </c:pt>
                <c:pt idx="11">
                  <c:v>3</c:v>
                </c:pt>
                <c:pt idx="12">
                  <c:v>2</c:v>
                </c:pt>
                <c:pt idx="13">
                  <c:v>2</c:v>
                </c:pt>
                <c:pt idx="14">
                  <c:v>3</c:v>
                </c:pt>
                <c:pt idx="15">
                  <c:v>2</c:v>
                </c:pt>
                <c:pt idx="16">
                  <c:v>2</c:v>
                </c:pt>
                <c:pt idx="17">
                  <c:v>3</c:v>
                </c:pt>
                <c:pt idx="18">
                  <c:v>2</c:v>
                </c:pt>
                <c:pt idx="19">
                  <c:v>3</c:v>
                </c:pt>
                <c:pt idx="20">
                  <c:v>3</c:v>
                </c:pt>
                <c:pt idx="21">
                  <c:v>3</c:v>
                </c:pt>
                <c:pt idx="2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821-4201-BBA4-16E1AB1BC3A1}"/>
            </c:ext>
          </c:extLst>
        </c:ser>
        <c:ser>
          <c:idx val="10"/>
          <c:order val="10"/>
          <c:tx>
            <c:strRef>
              <c:f>Sheet1!$L$1</c:f>
              <c:strCache>
                <c:ptCount val="1"/>
                <c:pt idx="0">
                  <c:v>Punta del agua</c:v>
                </c:pt>
              </c:strCache>
            </c:strRef>
          </c:tx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Sheet1!$L$2:$L$24</c:f>
              <c:numCache>
                <c:formatCode>General</c:formatCode>
                <c:ptCount val="23"/>
                <c:pt idx="0">
                  <c:v>17</c:v>
                </c:pt>
                <c:pt idx="1">
                  <c:v>18</c:v>
                </c:pt>
                <c:pt idx="2">
                  <c:v>16</c:v>
                </c:pt>
                <c:pt idx="3">
                  <c:v>19</c:v>
                </c:pt>
                <c:pt idx="4">
                  <c:v>22</c:v>
                </c:pt>
                <c:pt idx="5">
                  <c:v>9</c:v>
                </c:pt>
                <c:pt idx="6">
                  <c:v>14</c:v>
                </c:pt>
                <c:pt idx="7">
                  <c:v>21</c:v>
                </c:pt>
                <c:pt idx="8">
                  <c:v>8</c:v>
                </c:pt>
                <c:pt idx="9">
                  <c:v>24</c:v>
                </c:pt>
                <c:pt idx="10">
                  <c:v>14</c:v>
                </c:pt>
                <c:pt idx="11">
                  <c:v>21</c:v>
                </c:pt>
                <c:pt idx="12">
                  <c:v>13</c:v>
                </c:pt>
                <c:pt idx="13">
                  <c:v>14</c:v>
                </c:pt>
                <c:pt idx="14">
                  <c:v>14</c:v>
                </c:pt>
                <c:pt idx="15">
                  <c:v>18</c:v>
                </c:pt>
                <c:pt idx="16">
                  <c:v>16</c:v>
                </c:pt>
                <c:pt idx="17">
                  <c:v>13</c:v>
                </c:pt>
                <c:pt idx="18">
                  <c:v>14</c:v>
                </c:pt>
                <c:pt idx="19">
                  <c:v>16</c:v>
                </c:pt>
                <c:pt idx="20">
                  <c:v>16</c:v>
                </c:pt>
                <c:pt idx="21">
                  <c:v>18</c:v>
                </c:pt>
                <c:pt idx="22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821-4201-BBA4-16E1AB1BC3A1}"/>
            </c:ext>
          </c:extLst>
        </c:ser>
        <c:ser>
          <c:idx val="11"/>
          <c:order val="11"/>
          <c:tx>
            <c:strRef>
              <c:f>Sheet1!$M$1</c:f>
              <c:strCache>
                <c:ptCount val="1"/>
                <c:pt idx="0">
                  <c:v>Puyehue</c:v>
                </c:pt>
              </c:strCache>
            </c:strRef>
          </c:tx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Sheet1!$M$2:$M$24</c:f>
              <c:numCache>
                <c:formatCode>General</c:formatCode>
                <c:ptCount val="23"/>
                <c:pt idx="0">
                  <c:v>4</c:v>
                </c:pt>
                <c:pt idx="1">
                  <c:v>5</c:v>
                </c:pt>
                <c:pt idx="2">
                  <c:v>3</c:v>
                </c:pt>
                <c:pt idx="3">
                  <c:v>3</c:v>
                </c:pt>
                <c:pt idx="4">
                  <c:v>6</c:v>
                </c:pt>
                <c:pt idx="5">
                  <c:v>4</c:v>
                </c:pt>
                <c:pt idx="6">
                  <c:v>3</c:v>
                </c:pt>
                <c:pt idx="7">
                  <c:v>6</c:v>
                </c:pt>
                <c:pt idx="8">
                  <c:v>2</c:v>
                </c:pt>
                <c:pt idx="9">
                  <c:v>6</c:v>
                </c:pt>
                <c:pt idx="10">
                  <c:v>4</c:v>
                </c:pt>
                <c:pt idx="11">
                  <c:v>3</c:v>
                </c:pt>
                <c:pt idx="12">
                  <c:v>2</c:v>
                </c:pt>
                <c:pt idx="13">
                  <c:v>4</c:v>
                </c:pt>
                <c:pt idx="14">
                  <c:v>3</c:v>
                </c:pt>
                <c:pt idx="15">
                  <c:v>4</c:v>
                </c:pt>
                <c:pt idx="16">
                  <c:v>6</c:v>
                </c:pt>
                <c:pt idx="17">
                  <c:v>4</c:v>
                </c:pt>
                <c:pt idx="18">
                  <c:v>3</c:v>
                </c:pt>
                <c:pt idx="19">
                  <c:v>7</c:v>
                </c:pt>
                <c:pt idx="20">
                  <c:v>6</c:v>
                </c:pt>
                <c:pt idx="21">
                  <c:v>5</c:v>
                </c:pt>
                <c:pt idx="2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821-4201-BBA4-16E1AB1BC3A1}"/>
            </c:ext>
          </c:extLst>
        </c:ser>
        <c:ser>
          <c:idx val="12"/>
          <c:order val="12"/>
          <c:tx>
            <c:strRef>
              <c:f>Sheet1!$N$1</c:f>
              <c:strCache>
                <c:ptCount val="1"/>
                <c:pt idx="0">
                  <c:v>Ricrem</c:v>
                </c:pt>
              </c:strCache>
            </c:strRef>
          </c:tx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Sheet1!$N$2:$N$24</c:f>
              <c:numCache>
                <c:formatCode>General</c:formatCode>
                <c:ptCount val="23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6</c:v>
                </c:pt>
                <c:pt idx="8">
                  <c:v>3</c:v>
                </c:pt>
                <c:pt idx="9">
                  <c:v>4</c:v>
                </c:pt>
                <c:pt idx="10">
                  <c:v>3</c:v>
                </c:pt>
                <c:pt idx="11">
                  <c:v>3</c:v>
                </c:pt>
                <c:pt idx="12">
                  <c:v>4</c:v>
                </c:pt>
                <c:pt idx="13">
                  <c:v>2</c:v>
                </c:pt>
                <c:pt idx="14">
                  <c:v>4</c:v>
                </c:pt>
                <c:pt idx="15">
                  <c:v>1</c:v>
                </c:pt>
                <c:pt idx="16">
                  <c:v>2</c:v>
                </c:pt>
                <c:pt idx="17">
                  <c:v>3</c:v>
                </c:pt>
                <c:pt idx="18">
                  <c:v>2</c:v>
                </c:pt>
                <c:pt idx="19">
                  <c:v>6</c:v>
                </c:pt>
                <c:pt idx="20">
                  <c:v>3</c:v>
                </c:pt>
                <c:pt idx="21">
                  <c:v>5</c:v>
                </c:pt>
                <c:pt idx="2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3821-4201-BBA4-16E1AB1BC3A1}"/>
            </c:ext>
          </c:extLst>
        </c:ser>
        <c:ser>
          <c:idx val="13"/>
          <c:order val="13"/>
          <c:tx>
            <c:strRef>
              <c:f>Sheet1!$O$1</c:f>
              <c:strCache>
                <c:ptCount val="1"/>
                <c:pt idx="0">
                  <c:v>Sancor</c:v>
                </c:pt>
              </c:strCache>
            </c:strRef>
          </c:tx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Sheet1!$O$2:$O$24</c:f>
              <c:numCache>
                <c:formatCode>General</c:formatCode>
                <c:ptCount val="23"/>
                <c:pt idx="0">
                  <c:v>43</c:v>
                </c:pt>
                <c:pt idx="1">
                  <c:v>54</c:v>
                </c:pt>
                <c:pt idx="2">
                  <c:v>34</c:v>
                </c:pt>
                <c:pt idx="3">
                  <c:v>41</c:v>
                </c:pt>
                <c:pt idx="4">
                  <c:v>59</c:v>
                </c:pt>
                <c:pt idx="5">
                  <c:v>67</c:v>
                </c:pt>
                <c:pt idx="6">
                  <c:v>55</c:v>
                </c:pt>
                <c:pt idx="7">
                  <c:v>52</c:v>
                </c:pt>
                <c:pt idx="8">
                  <c:v>31</c:v>
                </c:pt>
                <c:pt idx="9">
                  <c:v>24</c:v>
                </c:pt>
                <c:pt idx="10">
                  <c:v>38</c:v>
                </c:pt>
                <c:pt idx="11">
                  <c:v>49</c:v>
                </c:pt>
                <c:pt idx="12">
                  <c:v>57</c:v>
                </c:pt>
                <c:pt idx="13">
                  <c:v>42</c:v>
                </c:pt>
                <c:pt idx="14">
                  <c:v>48</c:v>
                </c:pt>
                <c:pt idx="15">
                  <c:v>47</c:v>
                </c:pt>
                <c:pt idx="16">
                  <c:v>45</c:v>
                </c:pt>
                <c:pt idx="17">
                  <c:v>49</c:v>
                </c:pt>
                <c:pt idx="18">
                  <c:v>44</c:v>
                </c:pt>
                <c:pt idx="19">
                  <c:v>35</c:v>
                </c:pt>
                <c:pt idx="20">
                  <c:v>48</c:v>
                </c:pt>
                <c:pt idx="21">
                  <c:v>44</c:v>
                </c:pt>
                <c:pt idx="22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821-4201-BBA4-16E1AB1BC3A1}"/>
            </c:ext>
          </c:extLst>
        </c:ser>
        <c:ser>
          <c:idx val="14"/>
          <c:order val="14"/>
          <c:tx>
            <c:strRef>
              <c:f>Sheet1!$P$1</c:f>
              <c:strCache>
                <c:ptCount val="1"/>
                <c:pt idx="0">
                  <c:v>Tregar</c:v>
                </c:pt>
              </c:strCache>
            </c:strRef>
          </c:tx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Sheet1!$P$2:$P$24</c:f>
              <c:numCache>
                <c:formatCode>General</c:formatCode>
                <c:ptCount val="23"/>
                <c:pt idx="0">
                  <c:v>26</c:v>
                </c:pt>
                <c:pt idx="1">
                  <c:v>31</c:v>
                </c:pt>
                <c:pt idx="2">
                  <c:v>25</c:v>
                </c:pt>
                <c:pt idx="3">
                  <c:v>32</c:v>
                </c:pt>
                <c:pt idx="4">
                  <c:v>31</c:v>
                </c:pt>
                <c:pt idx="5">
                  <c:v>16</c:v>
                </c:pt>
                <c:pt idx="6">
                  <c:v>25</c:v>
                </c:pt>
                <c:pt idx="7">
                  <c:v>33</c:v>
                </c:pt>
                <c:pt idx="8">
                  <c:v>22</c:v>
                </c:pt>
                <c:pt idx="9">
                  <c:v>33</c:v>
                </c:pt>
                <c:pt idx="10">
                  <c:v>23</c:v>
                </c:pt>
                <c:pt idx="11">
                  <c:v>33</c:v>
                </c:pt>
                <c:pt idx="12">
                  <c:v>32</c:v>
                </c:pt>
                <c:pt idx="13">
                  <c:v>24</c:v>
                </c:pt>
                <c:pt idx="14">
                  <c:v>31</c:v>
                </c:pt>
                <c:pt idx="15">
                  <c:v>31</c:v>
                </c:pt>
                <c:pt idx="16">
                  <c:v>14</c:v>
                </c:pt>
                <c:pt idx="17">
                  <c:v>27</c:v>
                </c:pt>
                <c:pt idx="18">
                  <c:v>20</c:v>
                </c:pt>
                <c:pt idx="19">
                  <c:v>24</c:v>
                </c:pt>
                <c:pt idx="20">
                  <c:v>28</c:v>
                </c:pt>
                <c:pt idx="21">
                  <c:v>29</c:v>
                </c:pt>
                <c:pt idx="22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3821-4201-BBA4-16E1AB1BC3A1}"/>
            </c:ext>
          </c:extLst>
        </c:ser>
        <c:ser>
          <c:idx val="15"/>
          <c:order val="15"/>
          <c:tx>
            <c:strRef>
              <c:f>Sheet1!$Q$1</c:f>
              <c:strCache>
                <c:ptCount val="1"/>
                <c:pt idx="0">
                  <c:v>Tremblay</c:v>
                </c:pt>
              </c:strCache>
            </c:strRef>
          </c:tx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Sheet1!$Q$2:$Q$24</c:f>
              <c:numCache>
                <c:formatCode>General</c:formatCode>
                <c:ptCount val="23"/>
                <c:pt idx="0">
                  <c:v>13</c:v>
                </c:pt>
                <c:pt idx="1">
                  <c:v>13</c:v>
                </c:pt>
                <c:pt idx="2">
                  <c:v>9</c:v>
                </c:pt>
                <c:pt idx="3">
                  <c:v>12</c:v>
                </c:pt>
                <c:pt idx="4">
                  <c:v>16</c:v>
                </c:pt>
                <c:pt idx="5">
                  <c:v>7</c:v>
                </c:pt>
                <c:pt idx="6">
                  <c:v>10</c:v>
                </c:pt>
                <c:pt idx="7">
                  <c:v>16</c:v>
                </c:pt>
                <c:pt idx="8">
                  <c:v>8</c:v>
                </c:pt>
                <c:pt idx="9">
                  <c:v>14</c:v>
                </c:pt>
                <c:pt idx="10">
                  <c:v>11</c:v>
                </c:pt>
                <c:pt idx="11">
                  <c:v>17</c:v>
                </c:pt>
                <c:pt idx="12">
                  <c:v>11</c:v>
                </c:pt>
                <c:pt idx="13">
                  <c:v>9</c:v>
                </c:pt>
                <c:pt idx="14">
                  <c:v>12</c:v>
                </c:pt>
                <c:pt idx="15">
                  <c:v>14</c:v>
                </c:pt>
                <c:pt idx="16">
                  <c:v>7</c:v>
                </c:pt>
                <c:pt idx="17">
                  <c:v>12</c:v>
                </c:pt>
                <c:pt idx="18">
                  <c:v>7</c:v>
                </c:pt>
                <c:pt idx="19">
                  <c:v>16</c:v>
                </c:pt>
                <c:pt idx="20">
                  <c:v>12</c:v>
                </c:pt>
                <c:pt idx="21">
                  <c:v>15</c:v>
                </c:pt>
                <c:pt idx="2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821-4201-BBA4-16E1AB1BC3A1}"/>
            </c:ext>
          </c:extLst>
        </c:ser>
        <c:ser>
          <c:idx val="16"/>
          <c:order val="16"/>
          <c:tx>
            <c:strRef>
              <c:f>Sheet1!$R$1</c:f>
              <c:strCache>
                <c:ptCount val="1"/>
                <c:pt idx="0">
                  <c:v>Verónica</c:v>
                </c:pt>
              </c:strCache>
            </c:strRef>
          </c:tx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Sheet1!$R$2:$R$24</c:f>
              <c:numCache>
                <c:formatCode>General</c:formatCode>
                <c:ptCount val="23"/>
                <c:pt idx="0">
                  <c:v>8</c:v>
                </c:pt>
                <c:pt idx="1">
                  <c:v>14</c:v>
                </c:pt>
                <c:pt idx="2">
                  <c:v>7</c:v>
                </c:pt>
                <c:pt idx="3">
                  <c:v>12</c:v>
                </c:pt>
                <c:pt idx="4">
                  <c:v>19</c:v>
                </c:pt>
                <c:pt idx="5">
                  <c:v>13</c:v>
                </c:pt>
                <c:pt idx="6">
                  <c:v>12</c:v>
                </c:pt>
                <c:pt idx="7">
                  <c:v>15</c:v>
                </c:pt>
                <c:pt idx="8">
                  <c:v>3</c:v>
                </c:pt>
                <c:pt idx="9">
                  <c:v>11</c:v>
                </c:pt>
                <c:pt idx="10">
                  <c:v>9</c:v>
                </c:pt>
                <c:pt idx="11">
                  <c:v>16</c:v>
                </c:pt>
                <c:pt idx="12">
                  <c:v>13</c:v>
                </c:pt>
                <c:pt idx="13">
                  <c:v>7</c:v>
                </c:pt>
                <c:pt idx="14">
                  <c:v>13</c:v>
                </c:pt>
                <c:pt idx="15">
                  <c:v>8</c:v>
                </c:pt>
                <c:pt idx="16">
                  <c:v>6</c:v>
                </c:pt>
                <c:pt idx="17">
                  <c:v>12</c:v>
                </c:pt>
                <c:pt idx="18">
                  <c:v>11</c:v>
                </c:pt>
                <c:pt idx="19">
                  <c:v>11</c:v>
                </c:pt>
                <c:pt idx="20">
                  <c:v>14</c:v>
                </c:pt>
                <c:pt idx="21">
                  <c:v>14</c:v>
                </c:pt>
                <c:pt idx="22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3821-4201-BBA4-16E1AB1BC3A1}"/>
            </c:ext>
          </c:extLst>
        </c:ser>
        <c:ser>
          <c:idx val="17"/>
          <c:order val="17"/>
          <c:tx>
            <c:strRef>
              <c:f>Sheet1!$S$1</c:f>
              <c:strCache>
                <c:ptCount val="1"/>
                <c:pt idx="0">
                  <c:v>Nonna Pia</c:v>
                </c:pt>
              </c:strCache>
            </c:strRef>
          </c:tx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Sheet1!$S$2:$S$24</c:f>
              <c:numCache>
                <c:formatCode>General</c:formatCode>
                <c:ptCount val="23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2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1</c:v>
                </c:pt>
                <c:pt idx="9">
                  <c:v>0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2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2</c:v>
                </c:pt>
                <c:pt idx="2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821-4201-BBA4-16E1AB1BC3A1}"/>
            </c:ext>
          </c:extLst>
        </c:ser>
        <c:ser>
          <c:idx val="18"/>
          <c:order val="18"/>
          <c:tx>
            <c:strRef>
              <c:f>Sheet1!$T$1</c:f>
              <c:strCache>
                <c:ptCount val="1"/>
                <c:pt idx="0">
                  <c:v>Santa Rosa</c:v>
                </c:pt>
              </c:strCache>
            </c:strRef>
          </c:tx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Sheet1!$T$2:$T$24</c:f>
              <c:numCache>
                <c:formatCode>General</c:formatCode>
                <c:ptCount val="23"/>
                <c:pt idx="0">
                  <c:v>7</c:v>
                </c:pt>
                <c:pt idx="1">
                  <c:v>8</c:v>
                </c:pt>
                <c:pt idx="2">
                  <c:v>5</c:v>
                </c:pt>
                <c:pt idx="3">
                  <c:v>6</c:v>
                </c:pt>
                <c:pt idx="4">
                  <c:v>8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3</c:v>
                </c:pt>
                <c:pt idx="9">
                  <c:v>4</c:v>
                </c:pt>
                <c:pt idx="10">
                  <c:v>7</c:v>
                </c:pt>
                <c:pt idx="11">
                  <c:v>8</c:v>
                </c:pt>
                <c:pt idx="12">
                  <c:v>5</c:v>
                </c:pt>
                <c:pt idx="13">
                  <c:v>8</c:v>
                </c:pt>
                <c:pt idx="14">
                  <c:v>6</c:v>
                </c:pt>
                <c:pt idx="15">
                  <c:v>7</c:v>
                </c:pt>
                <c:pt idx="16">
                  <c:v>10</c:v>
                </c:pt>
                <c:pt idx="17">
                  <c:v>9</c:v>
                </c:pt>
                <c:pt idx="18">
                  <c:v>5</c:v>
                </c:pt>
                <c:pt idx="19">
                  <c:v>5</c:v>
                </c:pt>
                <c:pt idx="20">
                  <c:v>6</c:v>
                </c:pt>
                <c:pt idx="21">
                  <c:v>8</c:v>
                </c:pt>
                <c:pt idx="2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3821-4201-BBA4-16E1AB1BC3A1}"/>
            </c:ext>
          </c:extLst>
        </c:ser>
        <c:ser>
          <c:idx val="19"/>
          <c:order val="19"/>
          <c:tx>
            <c:strRef>
              <c:f>Sheet1!$U$1</c:f>
              <c:strCache>
                <c:ptCount val="1"/>
                <c:pt idx="0">
                  <c:v>Pampa Cheese</c:v>
                </c:pt>
              </c:strCache>
            </c:strRef>
          </c:tx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Sheet1!$U$2:$U$24</c:f>
              <c:numCache>
                <c:formatCode>General</c:formatCode>
                <c:ptCount val="23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2</c:v>
                </c:pt>
                <c:pt idx="7">
                  <c:v>2</c:v>
                </c:pt>
                <c:pt idx="8">
                  <c:v>1</c:v>
                </c:pt>
                <c:pt idx="9">
                  <c:v>1</c:v>
                </c:pt>
                <c:pt idx="10">
                  <c:v>2</c:v>
                </c:pt>
                <c:pt idx="11">
                  <c:v>1</c:v>
                </c:pt>
                <c:pt idx="12">
                  <c:v>2</c:v>
                </c:pt>
                <c:pt idx="13">
                  <c:v>1</c:v>
                </c:pt>
                <c:pt idx="14">
                  <c:v>2</c:v>
                </c:pt>
                <c:pt idx="15">
                  <c:v>2</c:v>
                </c:pt>
                <c:pt idx="16">
                  <c:v>1</c:v>
                </c:pt>
                <c:pt idx="17">
                  <c:v>2</c:v>
                </c:pt>
                <c:pt idx="18">
                  <c:v>1</c:v>
                </c:pt>
                <c:pt idx="19">
                  <c:v>3</c:v>
                </c:pt>
                <c:pt idx="20">
                  <c:v>1</c:v>
                </c:pt>
                <c:pt idx="21">
                  <c:v>1</c:v>
                </c:pt>
                <c:pt idx="2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821-4201-BBA4-16E1AB1BC3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34969568"/>
        <c:axId val="1634970112"/>
        <c:extLst/>
      </c:radarChart>
      <c:catAx>
        <c:axId val="1634969568"/>
        <c:scaling>
          <c:orientation val="minMax"/>
        </c:scaling>
        <c:delete val="0"/>
        <c:axPos val="b"/>
        <c:majorGridlines>
          <c:spPr>
            <a:ln w="12218">
              <a:solidFill>
                <a:srgbClr val="808080"/>
              </a:solidFill>
              <a:prstDash val="sysDash"/>
            </a:ln>
          </c:spPr>
        </c:majorGridlines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s-AR"/>
          </a:p>
        </c:txPr>
        <c:crossAx val="1634970112"/>
        <c:crosses val="autoZero"/>
        <c:auto val="0"/>
        <c:lblAlgn val="ctr"/>
        <c:lblOffset val="100"/>
        <c:noMultiLvlLbl val="0"/>
      </c:catAx>
      <c:valAx>
        <c:axId val="1634970112"/>
        <c:scaling>
          <c:orientation val="minMax"/>
          <c:max val="100"/>
          <c:min val="0"/>
        </c:scaling>
        <c:delete val="0"/>
        <c:axPos val="l"/>
        <c:majorGridlines>
          <c:spPr>
            <a:ln w="12218">
              <a:solidFill>
                <a:srgbClr val="CBD1CD"/>
              </a:solidFill>
              <a:prstDash val="solid"/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600" b="0">
                <a:solidFill>
                  <a:schemeClr val="bg1">
                    <a:lumMod val="75000"/>
                  </a:schemeClr>
                </a:solidFill>
              </a:defRPr>
            </a:pPr>
            <a:endParaRPr lang="es-AR"/>
          </a:p>
        </c:txPr>
        <c:crossAx val="1634969568"/>
        <c:crosses val="autoZero"/>
        <c:crossBetween val="midCat"/>
        <c:majorUnit val="10"/>
      </c:valAx>
      <c:spPr>
        <a:noFill/>
        <a:ln w="24436">
          <a:noFill/>
        </a:ln>
      </c:spPr>
    </c:plotArea>
    <c:legend>
      <c:legendPos val="r"/>
      <c:layout>
        <c:manualLayout>
          <c:xMode val="edge"/>
          <c:yMode val="edge"/>
          <c:x val="0.87872811953832075"/>
          <c:y val="0.15850499124687376"/>
          <c:w val="0.12127188046167922"/>
          <c:h val="0.15952822836873018"/>
        </c:manualLayout>
      </c:layout>
      <c:overlay val="0"/>
      <c:spPr>
        <a:ln>
          <a:solidFill>
            <a:schemeClr val="bg1">
              <a:lumMod val="85000"/>
            </a:schemeClr>
          </a:solidFill>
        </a:ln>
      </c:spPr>
      <c:txPr>
        <a:bodyPr/>
        <a:lstStyle/>
        <a:p>
          <a:pPr>
            <a:defRPr sz="900" b="0">
              <a:solidFill>
                <a:schemeClr val="tx1"/>
              </a:solidFill>
              <a:latin typeface="+mn-lt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2116" b="1" i="0" u="none" strike="noStrike" baseline="0">
          <a:solidFill>
            <a:srgbClr val="FFFFFF"/>
          </a:solidFill>
          <a:latin typeface="Arial"/>
          <a:ea typeface="Arial"/>
          <a:cs typeface="Arial"/>
        </a:defRPr>
      </a:pPr>
      <a:endParaRPr lang="es-AR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093485566650924"/>
          <c:y val="0.10318959706784399"/>
          <c:w val="0.35731230079774684"/>
          <c:h val="0.79666493285692774"/>
        </c:manualLayout>
      </c:layout>
      <c:radarChart>
        <c:radarStyle val="marker"/>
        <c:varyColors val="0"/>
        <c:ser>
          <c:idx val="2"/>
          <c:order val="0"/>
          <c:tx>
            <c:strRef>
              <c:f>Sheet1!$A$2</c:f>
              <c:strCache>
                <c:ptCount val="1"/>
                <c:pt idx="0">
                  <c:v>Barraza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Sheet1!$B$2:$X$2</c:f>
              <c:numCache>
                <c:formatCode>General</c:formatCode>
                <c:ptCount val="23"/>
                <c:pt idx="0">
                  <c:v>28</c:v>
                </c:pt>
                <c:pt idx="1">
                  <c:v>30</c:v>
                </c:pt>
                <c:pt idx="2">
                  <c:v>22</c:v>
                </c:pt>
                <c:pt idx="3">
                  <c:v>22</c:v>
                </c:pt>
                <c:pt idx="4">
                  <c:v>31</c:v>
                </c:pt>
                <c:pt idx="5">
                  <c:v>22</c:v>
                </c:pt>
                <c:pt idx="6">
                  <c:v>28</c:v>
                </c:pt>
                <c:pt idx="7">
                  <c:v>22</c:v>
                </c:pt>
                <c:pt idx="8">
                  <c:v>5</c:v>
                </c:pt>
                <c:pt idx="9">
                  <c:v>21</c:v>
                </c:pt>
                <c:pt idx="10">
                  <c:v>21</c:v>
                </c:pt>
                <c:pt idx="11">
                  <c:v>22</c:v>
                </c:pt>
                <c:pt idx="12">
                  <c:v>19</c:v>
                </c:pt>
                <c:pt idx="13">
                  <c:v>27</c:v>
                </c:pt>
                <c:pt idx="14">
                  <c:v>18</c:v>
                </c:pt>
                <c:pt idx="15">
                  <c:v>30</c:v>
                </c:pt>
                <c:pt idx="16">
                  <c:v>36</c:v>
                </c:pt>
                <c:pt idx="17">
                  <c:v>22</c:v>
                </c:pt>
                <c:pt idx="18">
                  <c:v>22</c:v>
                </c:pt>
                <c:pt idx="19">
                  <c:v>23</c:v>
                </c:pt>
                <c:pt idx="20">
                  <c:v>21</c:v>
                </c:pt>
                <c:pt idx="21">
                  <c:v>18</c:v>
                </c:pt>
                <c:pt idx="22">
                  <c:v>14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F-C600-43D2-A341-8D595C7FD064}"/>
            </c:ext>
          </c:extLst>
        </c:ser>
        <c:ser>
          <c:idx val="3"/>
          <c:order val="1"/>
          <c:tx>
            <c:strRef>
              <c:f>Sheet1!$A$3</c:f>
              <c:strCache>
                <c:ptCount val="1"/>
                <c:pt idx="0">
                  <c:v>Cremac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Sheet1!$B$3:$X$3</c:f>
              <c:numCache>
                <c:formatCode>General</c:formatCode>
                <c:ptCount val="23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4</c:v>
                </c:pt>
                <c:pt idx="8">
                  <c:v>2</c:v>
                </c:pt>
                <c:pt idx="9">
                  <c:v>4</c:v>
                </c:pt>
                <c:pt idx="10">
                  <c:v>2</c:v>
                </c:pt>
                <c:pt idx="11">
                  <c:v>3</c:v>
                </c:pt>
                <c:pt idx="12">
                  <c:v>2</c:v>
                </c:pt>
                <c:pt idx="13">
                  <c:v>2</c:v>
                </c:pt>
                <c:pt idx="14">
                  <c:v>1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1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10-C600-43D2-A341-8D595C7FD064}"/>
            </c:ext>
          </c:extLst>
        </c:ser>
        <c:ser>
          <c:idx val="5"/>
          <c:order val="2"/>
          <c:tx>
            <c:strRef>
              <c:f>Sheet1!$A$4</c:f>
              <c:strCache>
                <c:ptCount val="1"/>
                <c:pt idx="0">
                  <c:v>Cremón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Sheet1!$B$4:$X$4</c:f>
              <c:numCache>
                <c:formatCode>General</c:formatCode>
                <c:ptCount val="23"/>
                <c:pt idx="0">
                  <c:v>21</c:v>
                </c:pt>
                <c:pt idx="1">
                  <c:v>27</c:v>
                </c:pt>
                <c:pt idx="2">
                  <c:v>18</c:v>
                </c:pt>
                <c:pt idx="3">
                  <c:v>18</c:v>
                </c:pt>
                <c:pt idx="4">
                  <c:v>30</c:v>
                </c:pt>
                <c:pt idx="5">
                  <c:v>16</c:v>
                </c:pt>
                <c:pt idx="6">
                  <c:v>25</c:v>
                </c:pt>
                <c:pt idx="7">
                  <c:v>24</c:v>
                </c:pt>
                <c:pt idx="8">
                  <c:v>8</c:v>
                </c:pt>
                <c:pt idx="9">
                  <c:v>9</c:v>
                </c:pt>
                <c:pt idx="10">
                  <c:v>24</c:v>
                </c:pt>
                <c:pt idx="11">
                  <c:v>24</c:v>
                </c:pt>
                <c:pt idx="12">
                  <c:v>9</c:v>
                </c:pt>
                <c:pt idx="13">
                  <c:v>27</c:v>
                </c:pt>
                <c:pt idx="14">
                  <c:v>16</c:v>
                </c:pt>
                <c:pt idx="15">
                  <c:v>28</c:v>
                </c:pt>
                <c:pt idx="16">
                  <c:v>24</c:v>
                </c:pt>
                <c:pt idx="17">
                  <c:v>28</c:v>
                </c:pt>
                <c:pt idx="18">
                  <c:v>16</c:v>
                </c:pt>
                <c:pt idx="19">
                  <c:v>16</c:v>
                </c:pt>
                <c:pt idx="20">
                  <c:v>22</c:v>
                </c:pt>
                <c:pt idx="21">
                  <c:v>18</c:v>
                </c:pt>
                <c:pt idx="22">
                  <c:v>20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11-C600-43D2-A341-8D595C7FD064}"/>
            </c:ext>
          </c:extLst>
        </c:ser>
        <c:ser>
          <c:idx val="0"/>
          <c:order val="3"/>
          <c:tx>
            <c:strRef>
              <c:f>Sheet1!$A$5</c:f>
              <c:strCache>
                <c:ptCount val="1"/>
                <c:pt idx="0">
                  <c:v>Doña Aurora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Sheet1!$B$5:$X$5</c:f>
              <c:numCache>
                <c:formatCode>General</c:formatCode>
                <c:ptCount val="23"/>
                <c:pt idx="0">
                  <c:v>2</c:v>
                </c:pt>
                <c:pt idx="1">
                  <c:v>4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0</c:v>
                </c:pt>
                <c:pt idx="9">
                  <c:v>2</c:v>
                </c:pt>
                <c:pt idx="10">
                  <c:v>1</c:v>
                </c:pt>
                <c:pt idx="11">
                  <c:v>4</c:v>
                </c:pt>
                <c:pt idx="12">
                  <c:v>2</c:v>
                </c:pt>
                <c:pt idx="13">
                  <c:v>2</c:v>
                </c:pt>
                <c:pt idx="14">
                  <c:v>1</c:v>
                </c:pt>
                <c:pt idx="15">
                  <c:v>2</c:v>
                </c:pt>
                <c:pt idx="16">
                  <c:v>3</c:v>
                </c:pt>
                <c:pt idx="17">
                  <c:v>2</c:v>
                </c:pt>
                <c:pt idx="18">
                  <c:v>3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C4-49FC-A386-D8D33ABBDF26}"/>
            </c:ext>
          </c:extLst>
        </c:ser>
        <c:ser>
          <c:idx val="1"/>
          <c:order val="4"/>
          <c:tx>
            <c:strRef>
              <c:f>Sheet1!$A$6</c:f>
              <c:strCache>
                <c:ptCount val="1"/>
                <c:pt idx="0">
                  <c:v>Ilolay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Sheet1!$B$6:$X$6</c:f>
              <c:numCache>
                <c:formatCode>General</c:formatCode>
                <c:ptCount val="23"/>
                <c:pt idx="0">
                  <c:v>19</c:v>
                </c:pt>
                <c:pt idx="1">
                  <c:v>26</c:v>
                </c:pt>
                <c:pt idx="2">
                  <c:v>14</c:v>
                </c:pt>
                <c:pt idx="3">
                  <c:v>21</c:v>
                </c:pt>
                <c:pt idx="4">
                  <c:v>23</c:v>
                </c:pt>
                <c:pt idx="5">
                  <c:v>22</c:v>
                </c:pt>
                <c:pt idx="6">
                  <c:v>24</c:v>
                </c:pt>
                <c:pt idx="7">
                  <c:v>28</c:v>
                </c:pt>
                <c:pt idx="8">
                  <c:v>20</c:v>
                </c:pt>
                <c:pt idx="9">
                  <c:v>26</c:v>
                </c:pt>
                <c:pt idx="10">
                  <c:v>14</c:v>
                </c:pt>
                <c:pt idx="11">
                  <c:v>25</c:v>
                </c:pt>
                <c:pt idx="12">
                  <c:v>34</c:v>
                </c:pt>
                <c:pt idx="13">
                  <c:v>10</c:v>
                </c:pt>
                <c:pt idx="14">
                  <c:v>26</c:v>
                </c:pt>
                <c:pt idx="15">
                  <c:v>18</c:v>
                </c:pt>
                <c:pt idx="16">
                  <c:v>10</c:v>
                </c:pt>
                <c:pt idx="17">
                  <c:v>16</c:v>
                </c:pt>
                <c:pt idx="18">
                  <c:v>18</c:v>
                </c:pt>
                <c:pt idx="19">
                  <c:v>23</c:v>
                </c:pt>
                <c:pt idx="20">
                  <c:v>18</c:v>
                </c:pt>
                <c:pt idx="21">
                  <c:v>13</c:v>
                </c:pt>
                <c:pt idx="22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C4-49FC-A386-D8D33ABBDF26}"/>
            </c:ext>
          </c:extLst>
        </c:ser>
        <c:ser>
          <c:idx val="4"/>
          <c:order val="5"/>
          <c:tx>
            <c:strRef>
              <c:f>Sheet1!$A$7</c:f>
              <c:strCache>
                <c:ptCount val="1"/>
                <c:pt idx="0">
                  <c:v>La Paulina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Sheet1!$B$7:$X$7</c:f>
              <c:numCache>
                <c:formatCode>General</c:formatCode>
                <c:ptCount val="23"/>
                <c:pt idx="0">
                  <c:v>36</c:v>
                </c:pt>
                <c:pt idx="1">
                  <c:v>43</c:v>
                </c:pt>
                <c:pt idx="2">
                  <c:v>36</c:v>
                </c:pt>
                <c:pt idx="3">
                  <c:v>37</c:v>
                </c:pt>
                <c:pt idx="4">
                  <c:v>45</c:v>
                </c:pt>
                <c:pt idx="5">
                  <c:v>38</c:v>
                </c:pt>
                <c:pt idx="6">
                  <c:v>47</c:v>
                </c:pt>
                <c:pt idx="7">
                  <c:v>43</c:v>
                </c:pt>
                <c:pt idx="8">
                  <c:v>22</c:v>
                </c:pt>
                <c:pt idx="9">
                  <c:v>34</c:v>
                </c:pt>
                <c:pt idx="10">
                  <c:v>26</c:v>
                </c:pt>
                <c:pt idx="11">
                  <c:v>34</c:v>
                </c:pt>
                <c:pt idx="12">
                  <c:v>40</c:v>
                </c:pt>
                <c:pt idx="13">
                  <c:v>36</c:v>
                </c:pt>
                <c:pt idx="14">
                  <c:v>41</c:v>
                </c:pt>
                <c:pt idx="15">
                  <c:v>41</c:v>
                </c:pt>
                <c:pt idx="16">
                  <c:v>39</c:v>
                </c:pt>
                <c:pt idx="17">
                  <c:v>37</c:v>
                </c:pt>
                <c:pt idx="18">
                  <c:v>40</c:v>
                </c:pt>
                <c:pt idx="19">
                  <c:v>35</c:v>
                </c:pt>
                <c:pt idx="20">
                  <c:v>37</c:v>
                </c:pt>
                <c:pt idx="21">
                  <c:v>35</c:v>
                </c:pt>
                <c:pt idx="22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4C4-49FC-A386-D8D33ABBDF26}"/>
            </c:ext>
          </c:extLst>
        </c:ser>
        <c:ser>
          <c:idx val="6"/>
          <c:order val="6"/>
          <c:tx>
            <c:strRef>
              <c:f>Sheet1!$A$8</c:f>
              <c:strCache>
                <c:ptCount val="1"/>
                <c:pt idx="0">
                  <c:v>La Serenísima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Sheet1!$B$8:$X$8</c:f>
              <c:numCache>
                <c:formatCode>General</c:formatCode>
                <c:ptCount val="23"/>
                <c:pt idx="0">
                  <c:v>69</c:v>
                </c:pt>
                <c:pt idx="1">
                  <c:v>73</c:v>
                </c:pt>
                <c:pt idx="2">
                  <c:v>58</c:v>
                </c:pt>
                <c:pt idx="3">
                  <c:v>56</c:v>
                </c:pt>
                <c:pt idx="4">
                  <c:v>74</c:v>
                </c:pt>
                <c:pt idx="5">
                  <c:v>82</c:v>
                </c:pt>
                <c:pt idx="6">
                  <c:v>77</c:v>
                </c:pt>
                <c:pt idx="7">
                  <c:v>75</c:v>
                </c:pt>
                <c:pt idx="8">
                  <c:v>58</c:v>
                </c:pt>
                <c:pt idx="9">
                  <c:v>33</c:v>
                </c:pt>
                <c:pt idx="10">
                  <c:v>55</c:v>
                </c:pt>
                <c:pt idx="11">
                  <c:v>62</c:v>
                </c:pt>
                <c:pt idx="12">
                  <c:v>78</c:v>
                </c:pt>
                <c:pt idx="13">
                  <c:v>62</c:v>
                </c:pt>
                <c:pt idx="14">
                  <c:v>69</c:v>
                </c:pt>
                <c:pt idx="15">
                  <c:v>64</c:v>
                </c:pt>
                <c:pt idx="16">
                  <c:v>52</c:v>
                </c:pt>
                <c:pt idx="17">
                  <c:v>68</c:v>
                </c:pt>
                <c:pt idx="18">
                  <c:v>69</c:v>
                </c:pt>
                <c:pt idx="19">
                  <c:v>54</c:v>
                </c:pt>
                <c:pt idx="20">
                  <c:v>68</c:v>
                </c:pt>
                <c:pt idx="21">
                  <c:v>59</c:v>
                </c:pt>
                <c:pt idx="22">
                  <c:v>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4C4-49FC-A386-D8D33ABBDF26}"/>
            </c:ext>
          </c:extLst>
        </c:ser>
        <c:ser>
          <c:idx val="7"/>
          <c:order val="7"/>
          <c:tx>
            <c:strRef>
              <c:f>Sheet1!$A$9</c:f>
              <c:strCache>
                <c:ptCount val="1"/>
                <c:pt idx="0">
                  <c:v>Marcas propias (marcas de supermercado)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Sheet1!$B$9:$X$9</c:f>
              <c:numCache>
                <c:formatCode>General</c:formatCode>
                <c:ptCount val="23"/>
                <c:pt idx="0">
                  <c:v>4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7</c:v>
                </c:pt>
                <c:pt idx="5">
                  <c:v>1</c:v>
                </c:pt>
                <c:pt idx="6">
                  <c:v>4</c:v>
                </c:pt>
                <c:pt idx="7">
                  <c:v>11</c:v>
                </c:pt>
                <c:pt idx="8">
                  <c:v>6</c:v>
                </c:pt>
                <c:pt idx="9">
                  <c:v>11</c:v>
                </c:pt>
                <c:pt idx="10">
                  <c:v>2</c:v>
                </c:pt>
                <c:pt idx="11">
                  <c:v>8</c:v>
                </c:pt>
                <c:pt idx="12">
                  <c:v>10</c:v>
                </c:pt>
                <c:pt idx="13">
                  <c:v>8</c:v>
                </c:pt>
                <c:pt idx="14">
                  <c:v>12</c:v>
                </c:pt>
                <c:pt idx="15">
                  <c:v>4</c:v>
                </c:pt>
                <c:pt idx="16">
                  <c:v>4</c:v>
                </c:pt>
                <c:pt idx="17">
                  <c:v>3</c:v>
                </c:pt>
                <c:pt idx="18">
                  <c:v>3</c:v>
                </c:pt>
                <c:pt idx="19">
                  <c:v>8</c:v>
                </c:pt>
                <c:pt idx="20">
                  <c:v>5</c:v>
                </c:pt>
                <c:pt idx="21">
                  <c:v>10</c:v>
                </c:pt>
                <c:pt idx="2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4C4-49FC-A386-D8D33ABBDF26}"/>
            </c:ext>
          </c:extLst>
        </c:ser>
        <c:ser>
          <c:idx val="8"/>
          <c:order val="8"/>
          <c:tx>
            <c:strRef>
              <c:f>Sheet1!$A$10</c:f>
              <c:strCache>
                <c:ptCount val="1"/>
                <c:pt idx="0">
                  <c:v>Milkaut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Sheet1!$B$10:$X$10</c:f>
              <c:numCache>
                <c:formatCode>General</c:formatCode>
                <c:ptCount val="23"/>
                <c:pt idx="0">
                  <c:v>23</c:v>
                </c:pt>
                <c:pt idx="1">
                  <c:v>33</c:v>
                </c:pt>
                <c:pt idx="2">
                  <c:v>23</c:v>
                </c:pt>
                <c:pt idx="3">
                  <c:v>27</c:v>
                </c:pt>
                <c:pt idx="4">
                  <c:v>35</c:v>
                </c:pt>
                <c:pt idx="5">
                  <c:v>28</c:v>
                </c:pt>
                <c:pt idx="6">
                  <c:v>34</c:v>
                </c:pt>
                <c:pt idx="7">
                  <c:v>33</c:v>
                </c:pt>
                <c:pt idx="8">
                  <c:v>23</c:v>
                </c:pt>
                <c:pt idx="9">
                  <c:v>26</c:v>
                </c:pt>
                <c:pt idx="10">
                  <c:v>18</c:v>
                </c:pt>
                <c:pt idx="11">
                  <c:v>33</c:v>
                </c:pt>
                <c:pt idx="12">
                  <c:v>42</c:v>
                </c:pt>
                <c:pt idx="13">
                  <c:v>17</c:v>
                </c:pt>
                <c:pt idx="14">
                  <c:v>32</c:v>
                </c:pt>
                <c:pt idx="15">
                  <c:v>25</c:v>
                </c:pt>
                <c:pt idx="16">
                  <c:v>13</c:v>
                </c:pt>
                <c:pt idx="17">
                  <c:v>28</c:v>
                </c:pt>
                <c:pt idx="18">
                  <c:v>25</c:v>
                </c:pt>
                <c:pt idx="19">
                  <c:v>35</c:v>
                </c:pt>
                <c:pt idx="20">
                  <c:v>27</c:v>
                </c:pt>
                <c:pt idx="21">
                  <c:v>23</c:v>
                </c:pt>
                <c:pt idx="22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4C4-49FC-A386-D8D33ABBDF26}"/>
            </c:ext>
          </c:extLst>
        </c:ser>
        <c:ser>
          <c:idx val="9"/>
          <c:order val="9"/>
          <c:tx>
            <c:strRef>
              <c:f>Sheet1!$A$11</c:f>
              <c:strCache>
                <c:ptCount val="1"/>
                <c:pt idx="0">
                  <c:v>Noal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Sheet1!$B$11:$X$11</c:f>
              <c:numCache>
                <c:formatCode>General</c:formatCode>
                <c:ptCount val="23"/>
                <c:pt idx="0">
                  <c:v>1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4</c:v>
                </c:pt>
                <c:pt idx="10">
                  <c:v>0</c:v>
                </c:pt>
                <c:pt idx="11">
                  <c:v>2</c:v>
                </c:pt>
                <c:pt idx="12">
                  <c:v>2</c:v>
                </c:pt>
                <c:pt idx="13">
                  <c:v>1</c:v>
                </c:pt>
                <c:pt idx="14">
                  <c:v>2</c:v>
                </c:pt>
                <c:pt idx="15">
                  <c:v>2</c:v>
                </c:pt>
                <c:pt idx="16">
                  <c:v>6</c:v>
                </c:pt>
                <c:pt idx="17">
                  <c:v>0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4C4-49FC-A386-D8D33ABBDF26}"/>
            </c:ext>
          </c:extLst>
        </c:ser>
        <c:ser>
          <c:idx val="10"/>
          <c:order val="10"/>
          <c:tx>
            <c:strRef>
              <c:f>Sheet1!$A$12</c:f>
              <c:strCache>
                <c:ptCount val="1"/>
                <c:pt idx="0">
                  <c:v>Punta del agua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Sheet1!$B$12:$X$12</c:f>
              <c:numCache>
                <c:formatCode>General</c:formatCode>
                <c:ptCount val="23"/>
                <c:pt idx="0">
                  <c:v>33</c:v>
                </c:pt>
                <c:pt idx="1">
                  <c:v>41</c:v>
                </c:pt>
                <c:pt idx="2">
                  <c:v>41</c:v>
                </c:pt>
                <c:pt idx="3">
                  <c:v>42</c:v>
                </c:pt>
                <c:pt idx="4">
                  <c:v>40</c:v>
                </c:pt>
                <c:pt idx="5">
                  <c:v>24</c:v>
                </c:pt>
                <c:pt idx="6">
                  <c:v>26</c:v>
                </c:pt>
                <c:pt idx="7">
                  <c:v>41</c:v>
                </c:pt>
                <c:pt idx="8">
                  <c:v>16</c:v>
                </c:pt>
                <c:pt idx="9">
                  <c:v>53</c:v>
                </c:pt>
                <c:pt idx="10">
                  <c:v>33</c:v>
                </c:pt>
                <c:pt idx="11">
                  <c:v>40</c:v>
                </c:pt>
                <c:pt idx="12">
                  <c:v>20</c:v>
                </c:pt>
                <c:pt idx="13">
                  <c:v>35</c:v>
                </c:pt>
                <c:pt idx="14">
                  <c:v>29</c:v>
                </c:pt>
                <c:pt idx="15">
                  <c:v>46</c:v>
                </c:pt>
                <c:pt idx="16">
                  <c:v>40</c:v>
                </c:pt>
                <c:pt idx="17">
                  <c:v>31</c:v>
                </c:pt>
                <c:pt idx="18">
                  <c:v>27</c:v>
                </c:pt>
                <c:pt idx="19">
                  <c:v>38</c:v>
                </c:pt>
                <c:pt idx="20">
                  <c:v>27</c:v>
                </c:pt>
                <c:pt idx="21">
                  <c:v>32</c:v>
                </c:pt>
                <c:pt idx="22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A4C4-49FC-A386-D8D33ABBDF26}"/>
            </c:ext>
          </c:extLst>
        </c:ser>
        <c:ser>
          <c:idx val="11"/>
          <c:order val="11"/>
          <c:tx>
            <c:strRef>
              <c:f>Sheet1!$A$13</c:f>
              <c:strCache>
                <c:ptCount val="1"/>
                <c:pt idx="0">
                  <c:v>Puyehue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Sheet1!$B$13:$X$13</c:f>
              <c:numCache>
                <c:formatCode>General</c:formatCode>
                <c:ptCount val="23"/>
                <c:pt idx="0">
                  <c:v>1</c:v>
                </c:pt>
                <c:pt idx="1">
                  <c:v>5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2</c:v>
                </c:pt>
                <c:pt idx="6">
                  <c:v>0</c:v>
                </c:pt>
                <c:pt idx="7">
                  <c:v>4</c:v>
                </c:pt>
                <c:pt idx="8">
                  <c:v>0</c:v>
                </c:pt>
                <c:pt idx="9">
                  <c:v>5</c:v>
                </c:pt>
                <c:pt idx="10">
                  <c:v>2</c:v>
                </c:pt>
                <c:pt idx="11">
                  <c:v>1</c:v>
                </c:pt>
                <c:pt idx="12">
                  <c:v>2</c:v>
                </c:pt>
                <c:pt idx="13">
                  <c:v>2</c:v>
                </c:pt>
                <c:pt idx="14">
                  <c:v>0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1</c:v>
                </c:pt>
                <c:pt idx="19">
                  <c:v>4</c:v>
                </c:pt>
                <c:pt idx="20">
                  <c:v>1</c:v>
                </c:pt>
                <c:pt idx="21">
                  <c:v>1</c:v>
                </c:pt>
                <c:pt idx="2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4C4-49FC-A386-D8D33ABBDF26}"/>
            </c:ext>
          </c:extLst>
        </c:ser>
        <c:ser>
          <c:idx val="12"/>
          <c:order val="12"/>
          <c:tx>
            <c:strRef>
              <c:f>Sheet1!$A$14</c:f>
              <c:strCache>
                <c:ptCount val="1"/>
                <c:pt idx="0">
                  <c:v>Ricrem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Sheet1!$B$14:$X$14</c:f>
              <c:numCache>
                <c:formatCode>General</c:formatCode>
                <c:ptCount val="23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2</c:v>
                </c:pt>
                <c:pt idx="6">
                  <c:v>0</c:v>
                </c:pt>
                <c:pt idx="7">
                  <c:v>1</c:v>
                </c:pt>
                <c:pt idx="8">
                  <c:v>1</c:v>
                </c:pt>
                <c:pt idx="9">
                  <c:v>2</c:v>
                </c:pt>
                <c:pt idx="10">
                  <c:v>0</c:v>
                </c:pt>
                <c:pt idx="11">
                  <c:v>2</c:v>
                </c:pt>
                <c:pt idx="12">
                  <c:v>2</c:v>
                </c:pt>
                <c:pt idx="13">
                  <c:v>1</c:v>
                </c:pt>
                <c:pt idx="14">
                  <c:v>1</c:v>
                </c:pt>
                <c:pt idx="15">
                  <c:v>2</c:v>
                </c:pt>
                <c:pt idx="16">
                  <c:v>2</c:v>
                </c:pt>
                <c:pt idx="17">
                  <c:v>0</c:v>
                </c:pt>
                <c:pt idx="18">
                  <c:v>1</c:v>
                </c:pt>
                <c:pt idx="19">
                  <c:v>2</c:v>
                </c:pt>
                <c:pt idx="20">
                  <c:v>0</c:v>
                </c:pt>
                <c:pt idx="21">
                  <c:v>0</c:v>
                </c:pt>
                <c:pt idx="2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A4C4-49FC-A386-D8D33ABBDF26}"/>
            </c:ext>
          </c:extLst>
        </c:ser>
        <c:ser>
          <c:idx val="13"/>
          <c:order val="13"/>
          <c:tx>
            <c:strRef>
              <c:f>Sheet1!$A$15</c:f>
              <c:strCache>
                <c:ptCount val="1"/>
                <c:pt idx="0">
                  <c:v>Sancor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Sheet1!$B$15:$X$15</c:f>
              <c:numCache>
                <c:formatCode>General</c:formatCode>
                <c:ptCount val="23"/>
                <c:pt idx="0">
                  <c:v>36</c:v>
                </c:pt>
                <c:pt idx="1">
                  <c:v>47</c:v>
                </c:pt>
                <c:pt idx="2">
                  <c:v>36</c:v>
                </c:pt>
                <c:pt idx="3">
                  <c:v>35</c:v>
                </c:pt>
                <c:pt idx="4">
                  <c:v>57</c:v>
                </c:pt>
                <c:pt idx="5">
                  <c:v>57</c:v>
                </c:pt>
                <c:pt idx="6">
                  <c:v>48</c:v>
                </c:pt>
                <c:pt idx="7">
                  <c:v>48</c:v>
                </c:pt>
                <c:pt idx="8">
                  <c:v>28</c:v>
                </c:pt>
                <c:pt idx="9">
                  <c:v>22</c:v>
                </c:pt>
                <c:pt idx="10">
                  <c:v>28</c:v>
                </c:pt>
                <c:pt idx="11">
                  <c:v>38</c:v>
                </c:pt>
                <c:pt idx="12">
                  <c:v>48</c:v>
                </c:pt>
                <c:pt idx="13">
                  <c:v>35</c:v>
                </c:pt>
                <c:pt idx="14">
                  <c:v>44</c:v>
                </c:pt>
                <c:pt idx="15">
                  <c:v>41</c:v>
                </c:pt>
                <c:pt idx="16">
                  <c:v>32</c:v>
                </c:pt>
                <c:pt idx="17">
                  <c:v>41</c:v>
                </c:pt>
                <c:pt idx="18">
                  <c:v>43</c:v>
                </c:pt>
                <c:pt idx="19">
                  <c:v>39</c:v>
                </c:pt>
                <c:pt idx="20">
                  <c:v>38</c:v>
                </c:pt>
                <c:pt idx="21">
                  <c:v>34</c:v>
                </c:pt>
                <c:pt idx="2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4C4-49FC-A386-D8D33ABBDF26}"/>
            </c:ext>
          </c:extLst>
        </c:ser>
        <c:ser>
          <c:idx val="14"/>
          <c:order val="14"/>
          <c:tx>
            <c:strRef>
              <c:f>Sheet1!$A$16</c:f>
              <c:strCache>
                <c:ptCount val="1"/>
                <c:pt idx="0">
                  <c:v>Tregar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Sheet1!$B$16:$X$16</c:f>
              <c:numCache>
                <c:formatCode>General</c:formatCode>
                <c:ptCount val="23"/>
                <c:pt idx="0">
                  <c:v>8</c:v>
                </c:pt>
                <c:pt idx="1">
                  <c:v>25</c:v>
                </c:pt>
                <c:pt idx="2">
                  <c:v>15</c:v>
                </c:pt>
                <c:pt idx="3">
                  <c:v>20</c:v>
                </c:pt>
                <c:pt idx="4">
                  <c:v>20</c:v>
                </c:pt>
                <c:pt idx="5">
                  <c:v>10</c:v>
                </c:pt>
                <c:pt idx="6">
                  <c:v>16</c:v>
                </c:pt>
                <c:pt idx="7">
                  <c:v>22</c:v>
                </c:pt>
                <c:pt idx="8">
                  <c:v>15</c:v>
                </c:pt>
                <c:pt idx="9">
                  <c:v>29</c:v>
                </c:pt>
                <c:pt idx="10">
                  <c:v>12</c:v>
                </c:pt>
                <c:pt idx="11">
                  <c:v>18</c:v>
                </c:pt>
                <c:pt idx="12">
                  <c:v>28</c:v>
                </c:pt>
                <c:pt idx="13">
                  <c:v>15</c:v>
                </c:pt>
                <c:pt idx="14">
                  <c:v>14</c:v>
                </c:pt>
                <c:pt idx="15">
                  <c:v>18</c:v>
                </c:pt>
                <c:pt idx="16">
                  <c:v>13</c:v>
                </c:pt>
                <c:pt idx="17">
                  <c:v>17</c:v>
                </c:pt>
                <c:pt idx="18">
                  <c:v>16</c:v>
                </c:pt>
                <c:pt idx="19">
                  <c:v>22</c:v>
                </c:pt>
                <c:pt idx="20">
                  <c:v>17</c:v>
                </c:pt>
                <c:pt idx="21">
                  <c:v>21</c:v>
                </c:pt>
                <c:pt idx="2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A4C4-49FC-A386-D8D33ABBDF26}"/>
            </c:ext>
          </c:extLst>
        </c:ser>
        <c:ser>
          <c:idx val="15"/>
          <c:order val="15"/>
          <c:tx>
            <c:strRef>
              <c:f>Sheet1!$A$17</c:f>
              <c:strCache>
                <c:ptCount val="1"/>
                <c:pt idx="0">
                  <c:v>Tremblay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Sheet1!$B$17:$X$17</c:f>
              <c:numCache>
                <c:formatCode>General</c:formatCode>
                <c:ptCount val="23"/>
                <c:pt idx="0">
                  <c:v>2</c:v>
                </c:pt>
                <c:pt idx="1">
                  <c:v>9</c:v>
                </c:pt>
                <c:pt idx="2">
                  <c:v>3</c:v>
                </c:pt>
                <c:pt idx="3">
                  <c:v>6</c:v>
                </c:pt>
                <c:pt idx="4">
                  <c:v>4</c:v>
                </c:pt>
                <c:pt idx="5">
                  <c:v>2</c:v>
                </c:pt>
                <c:pt idx="6">
                  <c:v>2</c:v>
                </c:pt>
                <c:pt idx="7">
                  <c:v>8</c:v>
                </c:pt>
                <c:pt idx="8">
                  <c:v>7</c:v>
                </c:pt>
                <c:pt idx="9">
                  <c:v>8</c:v>
                </c:pt>
                <c:pt idx="10">
                  <c:v>3</c:v>
                </c:pt>
                <c:pt idx="11">
                  <c:v>2</c:v>
                </c:pt>
                <c:pt idx="12">
                  <c:v>5</c:v>
                </c:pt>
                <c:pt idx="13">
                  <c:v>0</c:v>
                </c:pt>
                <c:pt idx="14">
                  <c:v>3</c:v>
                </c:pt>
                <c:pt idx="15">
                  <c:v>4</c:v>
                </c:pt>
                <c:pt idx="16">
                  <c:v>3</c:v>
                </c:pt>
                <c:pt idx="17">
                  <c:v>6</c:v>
                </c:pt>
                <c:pt idx="18">
                  <c:v>2</c:v>
                </c:pt>
                <c:pt idx="19">
                  <c:v>7</c:v>
                </c:pt>
                <c:pt idx="20">
                  <c:v>2</c:v>
                </c:pt>
                <c:pt idx="21">
                  <c:v>3</c:v>
                </c:pt>
                <c:pt idx="2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4C4-49FC-A386-D8D33ABBDF26}"/>
            </c:ext>
          </c:extLst>
        </c:ser>
        <c:ser>
          <c:idx val="16"/>
          <c:order val="16"/>
          <c:tx>
            <c:strRef>
              <c:f>Sheet1!$A$18</c:f>
              <c:strCache>
                <c:ptCount val="1"/>
                <c:pt idx="0">
                  <c:v>Verónica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Sheet1!$B$18:$X$18</c:f>
              <c:numCache>
                <c:formatCode>General</c:formatCode>
                <c:ptCount val="23"/>
                <c:pt idx="0">
                  <c:v>14</c:v>
                </c:pt>
                <c:pt idx="1">
                  <c:v>23</c:v>
                </c:pt>
                <c:pt idx="2">
                  <c:v>15</c:v>
                </c:pt>
                <c:pt idx="3">
                  <c:v>20</c:v>
                </c:pt>
                <c:pt idx="4">
                  <c:v>23</c:v>
                </c:pt>
                <c:pt idx="5">
                  <c:v>21</c:v>
                </c:pt>
                <c:pt idx="6">
                  <c:v>18</c:v>
                </c:pt>
                <c:pt idx="7">
                  <c:v>20</c:v>
                </c:pt>
                <c:pt idx="8">
                  <c:v>8</c:v>
                </c:pt>
                <c:pt idx="9">
                  <c:v>15</c:v>
                </c:pt>
                <c:pt idx="10">
                  <c:v>7</c:v>
                </c:pt>
                <c:pt idx="11">
                  <c:v>20</c:v>
                </c:pt>
                <c:pt idx="12">
                  <c:v>16</c:v>
                </c:pt>
                <c:pt idx="13">
                  <c:v>13</c:v>
                </c:pt>
                <c:pt idx="14">
                  <c:v>12</c:v>
                </c:pt>
                <c:pt idx="15">
                  <c:v>17</c:v>
                </c:pt>
                <c:pt idx="16">
                  <c:v>15</c:v>
                </c:pt>
                <c:pt idx="17">
                  <c:v>12</c:v>
                </c:pt>
                <c:pt idx="18">
                  <c:v>12</c:v>
                </c:pt>
                <c:pt idx="19">
                  <c:v>18</c:v>
                </c:pt>
                <c:pt idx="20">
                  <c:v>13</c:v>
                </c:pt>
                <c:pt idx="21">
                  <c:v>15</c:v>
                </c:pt>
                <c:pt idx="22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4F-4D88-AA39-53DD769B53F9}"/>
            </c:ext>
          </c:extLst>
        </c:ser>
        <c:ser>
          <c:idx val="17"/>
          <c:order val="17"/>
          <c:tx>
            <c:strRef>
              <c:f>Sheet1!$A$19</c:f>
              <c:strCache>
                <c:ptCount val="1"/>
                <c:pt idx="0">
                  <c:v>Nonna Pia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Sheet1!$B$19:$X$19</c:f>
              <c:numCache>
                <c:formatCode>General</c:formatCode>
                <c:ptCount val="23"/>
                <c:pt idx="0">
                  <c:v>2</c:v>
                </c:pt>
                <c:pt idx="1">
                  <c:v>3</c:v>
                </c:pt>
                <c:pt idx="2">
                  <c:v>1</c:v>
                </c:pt>
                <c:pt idx="3">
                  <c:v>0</c:v>
                </c:pt>
                <c:pt idx="4">
                  <c:v>2</c:v>
                </c:pt>
                <c:pt idx="5">
                  <c:v>1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2</c:v>
                </c:pt>
                <c:pt idx="13">
                  <c:v>1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0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0</c:v>
                </c:pt>
                <c:pt idx="2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04F-4D88-AA39-53DD769B53F9}"/>
            </c:ext>
          </c:extLst>
        </c:ser>
        <c:ser>
          <c:idx val="18"/>
          <c:order val="18"/>
          <c:tx>
            <c:strRef>
              <c:f>Sheet1!$A$20</c:f>
              <c:strCache>
                <c:ptCount val="1"/>
                <c:pt idx="0">
                  <c:v>Santa Rosa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Sheet1!$B$20:$X$20</c:f>
              <c:numCache>
                <c:formatCode>General</c:formatCode>
                <c:ptCount val="23"/>
                <c:pt idx="0">
                  <c:v>18</c:v>
                </c:pt>
                <c:pt idx="1">
                  <c:v>22</c:v>
                </c:pt>
                <c:pt idx="2">
                  <c:v>12</c:v>
                </c:pt>
                <c:pt idx="3">
                  <c:v>12</c:v>
                </c:pt>
                <c:pt idx="4">
                  <c:v>20</c:v>
                </c:pt>
                <c:pt idx="5">
                  <c:v>23</c:v>
                </c:pt>
                <c:pt idx="6">
                  <c:v>26</c:v>
                </c:pt>
                <c:pt idx="7">
                  <c:v>16</c:v>
                </c:pt>
                <c:pt idx="8">
                  <c:v>6</c:v>
                </c:pt>
                <c:pt idx="9">
                  <c:v>9</c:v>
                </c:pt>
                <c:pt idx="10">
                  <c:v>18</c:v>
                </c:pt>
                <c:pt idx="11">
                  <c:v>18</c:v>
                </c:pt>
                <c:pt idx="12">
                  <c:v>18</c:v>
                </c:pt>
                <c:pt idx="13">
                  <c:v>21</c:v>
                </c:pt>
                <c:pt idx="14">
                  <c:v>16</c:v>
                </c:pt>
                <c:pt idx="15">
                  <c:v>23</c:v>
                </c:pt>
                <c:pt idx="16">
                  <c:v>28</c:v>
                </c:pt>
                <c:pt idx="17">
                  <c:v>22</c:v>
                </c:pt>
                <c:pt idx="18">
                  <c:v>22</c:v>
                </c:pt>
                <c:pt idx="19">
                  <c:v>12</c:v>
                </c:pt>
                <c:pt idx="20">
                  <c:v>18</c:v>
                </c:pt>
                <c:pt idx="21">
                  <c:v>11</c:v>
                </c:pt>
                <c:pt idx="2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04F-4D88-AA39-53DD769B53F9}"/>
            </c:ext>
          </c:extLst>
        </c:ser>
        <c:ser>
          <c:idx val="19"/>
          <c:order val="19"/>
          <c:tx>
            <c:strRef>
              <c:f>Sheet1!$A$21</c:f>
              <c:strCache>
                <c:ptCount val="1"/>
                <c:pt idx="0">
                  <c:v>Pampa Cheese</c:v>
                </c:pt>
              </c:strCache>
            </c:strRef>
          </c:tx>
          <c:marker>
            <c:symbol val="none"/>
          </c:marker>
          <c:cat>
            <c:strRef>
              <c:f>Sheet1!$B$1:$X$1</c:f>
              <c:strCache>
                <c:ptCount val="23"/>
                <c:pt idx="0">
                  <c:v>Es la marca que garantiza el éxito/las mejores preparaciones</c:v>
                </c:pt>
                <c:pt idx="1">
                  <c:v>Es una marca que tiene productos frescos y naturales</c:v>
                </c:pt>
                <c:pt idx="2">
                  <c:v>Es una marca para mí</c:v>
                </c:pt>
                <c:pt idx="3">
                  <c:v>Es una marca amigable/cercana</c:v>
                </c:pt>
                <c:pt idx="4">
                  <c:v>Es una marca confiable</c:v>
                </c:pt>
                <c:pt idx="5">
                  <c:v>Es una marca tradicional/con trayectoria en el país</c:v>
                </c:pt>
                <c:pt idx="6">
                  <c:v>Tiene productos de alta calidad</c:v>
                </c:pt>
                <c:pt idx="7">
                  <c:v>Es una marca ideal para toda la familia</c:v>
                </c:pt>
                <c:pt idx="8">
                  <c:v>Es una marca innovadora en el lanzamiento de nuevos productos</c:v>
                </c:pt>
                <c:pt idx="9">
                  <c:v>Tiene buena relación precio/calidad de producto</c:v>
                </c:pt>
                <c:pt idx="10">
                  <c:v>Es una marca con la textura ideal</c:v>
                </c:pt>
                <c:pt idx="11">
                  <c:v>Es una marca ideal para acompañar otros alimentos</c:v>
                </c:pt>
                <c:pt idx="12">
                  <c:v>Es una marca que ofrece distintas variedades de productos</c:v>
                </c:pt>
                <c:pt idx="13">
                  <c:v>Es una marca que realza el sabor de mis preparaciones</c:v>
                </c:pt>
                <c:pt idx="14">
                  <c:v>Es una marca que tiene buena disponibilidad de productos</c:v>
                </c:pt>
                <c:pt idx="15">
                  <c:v>Tiene muy rico sabor</c:v>
                </c:pt>
                <c:pt idx="16">
                  <c:v>Es una marca experta en quesos</c:v>
                </c:pt>
                <c:pt idx="17">
                  <c:v>Sus productos son garantía de placer</c:v>
                </c:pt>
                <c:pt idx="18">
                  <c:v>Es una marca auténtica, fiel a su origen y escencia</c:v>
                </c:pt>
                <c:pt idx="19">
                  <c:v>Es una marca contemporánea/actual</c:v>
                </c:pt>
                <c:pt idx="20">
                  <c:v>Es una marca que me brinda seguridad por su envasado en origen</c:v>
                </c:pt>
                <c:pt idx="21">
                  <c:v>Sus presentaciones (tamaños y tipos de empaque) se adecuan a mis necesidades</c:v>
                </c:pt>
                <c:pt idx="22">
                  <c:v>Tiene productos que brindan una mejor nutrición</c:v>
                </c:pt>
              </c:strCache>
            </c:strRef>
          </c:cat>
          <c:val>
            <c:numRef>
              <c:f>Sheet1!$B$21:$X$21</c:f>
              <c:numCache>
                <c:formatCode>General</c:formatCode>
                <c:ptCount val="23"/>
                <c:pt idx="0">
                  <c:v>0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1</c:v>
                </c:pt>
                <c:pt idx="6">
                  <c:v>2</c:v>
                </c:pt>
                <c:pt idx="7">
                  <c:v>2</c:v>
                </c:pt>
                <c:pt idx="8">
                  <c:v>1</c:v>
                </c:pt>
                <c:pt idx="9">
                  <c:v>0</c:v>
                </c:pt>
                <c:pt idx="10">
                  <c:v>0</c:v>
                </c:pt>
                <c:pt idx="11">
                  <c:v>1</c:v>
                </c:pt>
                <c:pt idx="12">
                  <c:v>1</c:v>
                </c:pt>
                <c:pt idx="13">
                  <c:v>0</c:v>
                </c:pt>
                <c:pt idx="14">
                  <c:v>0</c:v>
                </c:pt>
                <c:pt idx="15">
                  <c:v>1</c:v>
                </c:pt>
                <c:pt idx="16">
                  <c:v>3</c:v>
                </c:pt>
                <c:pt idx="17">
                  <c:v>1</c:v>
                </c:pt>
                <c:pt idx="18">
                  <c:v>0</c:v>
                </c:pt>
                <c:pt idx="19">
                  <c:v>2</c:v>
                </c:pt>
                <c:pt idx="20">
                  <c:v>0</c:v>
                </c:pt>
                <c:pt idx="21">
                  <c:v>1</c:v>
                </c:pt>
                <c:pt idx="2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04F-4D88-AA39-53DD769B53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34969568"/>
        <c:axId val="1634970112"/>
        <c:extLst/>
      </c:radarChart>
      <c:catAx>
        <c:axId val="1634969568"/>
        <c:scaling>
          <c:orientation val="minMax"/>
        </c:scaling>
        <c:delete val="0"/>
        <c:axPos val="b"/>
        <c:majorGridlines>
          <c:spPr>
            <a:ln w="12218">
              <a:solidFill>
                <a:srgbClr val="808080"/>
              </a:solidFill>
              <a:prstDash val="sysDash"/>
            </a:ln>
          </c:spPr>
        </c:majorGridlines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s-AR"/>
          </a:p>
        </c:txPr>
        <c:crossAx val="1634970112"/>
        <c:crosses val="autoZero"/>
        <c:auto val="0"/>
        <c:lblAlgn val="ctr"/>
        <c:lblOffset val="100"/>
        <c:noMultiLvlLbl val="0"/>
      </c:catAx>
      <c:valAx>
        <c:axId val="1634970112"/>
        <c:scaling>
          <c:orientation val="minMax"/>
          <c:max val="100"/>
          <c:min val="0"/>
        </c:scaling>
        <c:delete val="0"/>
        <c:axPos val="l"/>
        <c:majorGridlines>
          <c:spPr>
            <a:ln w="12218">
              <a:solidFill>
                <a:srgbClr val="CBD1CD"/>
              </a:solidFill>
              <a:prstDash val="solid"/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600" b="0">
                <a:solidFill>
                  <a:schemeClr val="bg1">
                    <a:lumMod val="75000"/>
                  </a:schemeClr>
                </a:solidFill>
              </a:defRPr>
            </a:pPr>
            <a:endParaRPr lang="es-AR"/>
          </a:p>
        </c:txPr>
        <c:crossAx val="1634969568"/>
        <c:crosses val="autoZero"/>
        <c:crossBetween val="midCat"/>
        <c:majorUnit val="10"/>
      </c:valAx>
      <c:spPr>
        <a:noFill/>
        <a:ln w="24436">
          <a:noFill/>
        </a:ln>
      </c:spPr>
    </c:plotArea>
    <c:legend>
      <c:legendPos val="r"/>
      <c:layout>
        <c:manualLayout>
          <c:xMode val="edge"/>
          <c:yMode val="edge"/>
          <c:x val="0.89121795101227774"/>
          <c:y val="2.5261728424604266E-2"/>
          <c:w val="0.10031147341546924"/>
          <c:h val="0.20178234564503841"/>
        </c:manualLayout>
      </c:layout>
      <c:overlay val="0"/>
      <c:spPr>
        <a:ln>
          <a:solidFill>
            <a:schemeClr val="bg1">
              <a:lumMod val="85000"/>
            </a:schemeClr>
          </a:solidFill>
        </a:ln>
      </c:spPr>
      <c:txPr>
        <a:bodyPr/>
        <a:lstStyle/>
        <a:p>
          <a:pPr>
            <a:defRPr sz="1050" b="0">
              <a:solidFill>
                <a:schemeClr val="tx1"/>
              </a:solidFill>
              <a:latin typeface="+mn-lt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2116" b="1" i="0" u="none" strike="noStrike" baseline="0">
          <a:solidFill>
            <a:srgbClr val="FFFFFF"/>
          </a:solidFill>
          <a:latin typeface="Arial"/>
          <a:ea typeface="Arial"/>
          <a:cs typeface="Arial"/>
        </a:defRPr>
      </a:pPr>
      <a:endParaRPr lang="es-AR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093485566650924"/>
          <c:y val="0.10318959706784399"/>
          <c:w val="0.35731230079774684"/>
          <c:h val="0.79666493285692774"/>
        </c:manualLayout>
      </c:layout>
      <c:radarChart>
        <c:radarStyle val="marker"/>
        <c:varyColors val="0"/>
        <c:ser>
          <c:idx val="2"/>
          <c:order val="0"/>
          <c:tx>
            <c:strRef>
              <c:f>Sheet1!$A$2</c:f>
              <c:strCache>
                <c:ptCount val="1"/>
                <c:pt idx="0">
                  <c:v>Es la marca que garantiza el éxito/las mejores preparaciones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61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F-C600-43D2-A341-8D595C7FD064}"/>
            </c:ext>
          </c:extLst>
        </c:ser>
        <c:ser>
          <c:idx val="3"/>
          <c:order val="1"/>
          <c:tx>
            <c:strRef>
              <c:f>Sheet1!$A$3</c:f>
              <c:strCache>
                <c:ptCount val="1"/>
                <c:pt idx="0">
                  <c:v>Es una marca que tiene productos frescos y naturales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Sheet1!$B$3</c:f>
              <c:numCache>
                <c:formatCode>General</c:formatCode>
                <c:ptCount val="1"/>
                <c:pt idx="0">
                  <c:v>64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10-C600-43D2-A341-8D595C7FD064}"/>
            </c:ext>
          </c:extLst>
        </c:ser>
        <c:ser>
          <c:idx val="5"/>
          <c:order val="2"/>
          <c:tx>
            <c:strRef>
              <c:f>Sheet1!$A$4</c:f>
              <c:strCache>
                <c:ptCount val="1"/>
                <c:pt idx="0">
                  <c:v>Es una marca para mí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Sheet1!$B$4</c:f>
              <c:numCache>
                <c:formatCode>General</c:formatCode>
                <c:ptCount val="1"/>
                <c:pt idx="0">
                  <c:v>49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11-C600-43D2-A341-8D595C7FD064}"/>
            </c:ext>
          </c:extLst>
        </c:ser>
        <c:ser>
          <c:idx val="0"/>
          <c:order val="3"/>
          <c:tx>
            <c:strRef>
              <c:f>Sheet1!$A$5</c:f>
              <c:strCache>
                <c:ptCount val="1"/>
                <c:pt idx="0">
                  <c:v>Es una marca amigable/cercana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Sheet1!$B$5</c:f>
              <c:numCache>
                <c:formatCode>General</c:formatCode>
                <c:ptCount val="1"/>
                <c:pt idx="0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AF-475F-9FD0-3F0094A1AA6E}"/>
            </c:ext>
          </c:extLst>
        </c:ser>
        <c:ser>
          <c:idx val="1"/>
          <c:order val="4"/>
          <c:tx>
            <c:strRef>
              <c:f>Sheet1!$A$6</c:f>
              <c:strCache>
                <c:ptCount val="1"/>
                <c:pt idx="0">
                  <c:v>Es una marca confiable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Sheet1!$B$6</c:f>
              <c:numCache>
                <c:formatCode>General</c:formatCode>
                <c:ptCount val="1"/>
                <c:pt idx="0">
                  <c:v>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AF-475F-9FD0-3F0094A1AA6E}"/>
            </c:ext>
          </c:extLst>
        </c:ser>
        <c:ser>
          <c:idx val="4"/>
          <c:order val="5"/>
          <c:tx>
            <c:strRef>
              <c:f>Sheet1!$A$7</c:f>
              <c:strCache>
                <c:ptCount val="1"/>
                <c:pt idx="0">
                  <c:v>Es una marca tradicional/con trayectoria en el país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Sheet1!$B$7</c:f>
              <c:numCache>
                <c:formatCode>General</c:formatCode>
                <c:ptCount val="1"/>
                <c:pt idx="0">
                  <c:v>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AF-475F-9FD0-3F0094A1AA6E}"/>
            </c:ext>
          </c:extLst>
        </c:ser>
        <c:ser>
          <c:idx val="6"/>
          <c:order val="6"/>
          <c:tx>
            <c:strRef>
              <c:f>Sheet1!$A$8</c:f>
              <c:strCache>
                <c:ptCount val="1"/>
                <c:pt idx="0">
                  <c:v>Tiene productos de alta calidad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Sheet1!$B$8</c:f>
              <c:numCache>
                <c:formatCode>General</c:formatCode>
                <c:ptCount val="1"/>
                <c:pt idx="0">
                  <c:v>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3AF-475F-9FD0-3F0094A1AA6E}"/>
            </c:ext>
          </c:extLst>
        </c:ser>
        <c:ser>
          <c:idx val="7"/>
          <c:order val="7"/>
          <c:tx>
            <c:strRef>
              <c:f>Sheet1!$A$9</c:f>
              <c:strCache>
                <c:ptCount val="1"/>
                <c:pt idx="0">
                  <c:v>Es una marca ideal para toda la familia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Sheet1!$B$9</c:f>
              <c:numCache>
                <c:formatCode>General</c:formatCode>
                <c:ptCount val="1"/>
                <c:pt idx="0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3AF-475F-9FD0-3F0094A1AA6E}"/>
            </c:ext>
          </c:extLst>
        </c:ser>
        <c:ser>
          <c:idx val="8"/>
          <c:order val="8"/>
          <c:tx>
            <c:strRef>
              <c:f>Sheet1!$A$10</c:f>
              <c:strCache>
                <c:ptCount val="1"/>
                <c:pt idx="0">
                  <c:v>Es una marca innovadora en el lanzamiento de nuevos productos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Sheet1!$B$10</c:f>
              <c:numCache>
                <c:formatCode>General</c:formatCode>
                <c:ptCount val="1"/>
                <c:pt idx="0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3AF-475F-9FD0-3F0094A1AA6E}"/>
            </c:ext>
          </c:extLst>
        </c:ser>
        <c:ser>
          <c:idx val="9"/>
          <c:order val="9"/>
          <c:tx>
            <c:strRef>
              <c:f>Sheet1!$A$11</c:f>
              <c:strCache>
                <c:ptCount val="1"/>
                <c:pt idx="0">
                  <c:v>Tiene buena relación precio/calidad de producto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Sheet1!$B$11</c:f>
              <c:numCache>
                <c:formatCode>General</c:formatCode>
                <c:ptCount val="1"/>
                <c:pt idx="0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3AF-475F-9FD0-3F0094A1AA6E}"/>
            </c:ext>
          </c:extLst>
        </c:ser>
        <c:ser>
          <c:idx val="10"/>
          <c:order val="10"/>
          <c:tx>
            <c:strRef>
              <c:f>Sheet1!$A$12</c:f>
              <c:strCache>
                <c:ptCount val="1"/>
                <c:pt idx="0">
                  <c:v>Es una marca con la textura ideal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Sheet1!$B$12</c:f>
              <c:numCache>
                <c:formatCode>General</c:formatCode>
                <c:ptCount val="1"/>
                <c:pt idx="0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E3AF-475F-9FD0-3F0094A1AA6E}"/>
            </c:ext>
          </c:extLst>
        </c:ser>
        <c:ser>
          <c:idx val="11"/>
          <c:order val="11"/>
          <c:tx>
            <c:strRef>
              <c:f>Sheet1!$A$13</c:f>
              <c:strCache>
                <c:ptCount val="1"/>
                <c:pt idx="0">
                  <c:v>Es una marca ideal para acompañar otros alimentos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Sheet1!$B$13</c:f>
              <c:numCache>
                <c:formatCode>General</c:formatCode>
                <c:ptCount val="1"/>
                <c:pt idx="0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3AF-475F-9FD0-3F0094A1AA6E}"/>
            </c:ext>
          </c:extLst>
        </c:ser>
        <c:ser>
          <c:idx val="12"/>
          <c:order val="12"/>
          <c:tx>
            <c:strRef>
              <c:f>Sheet1!$A$14</c:f>
              <c:strCache>
                <c:ptCount val="1"/>
                <c:pt idx="0">
                  <c:v>Es una marca que ofrece distintas variedades de productos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Sheet1!$B$14</c:f>
              <c:numCache>
                <c:formatCode>General</c:formatCode>
                <c:ptCount val="1"/>
                <c:pt idx="0">
                  <c:v>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E3AF-475F-9FD0-3F0094A1AA6E}"/>
            </c:ext>
          </c:extLst>
        </c:ser>
        <c:ser>
          <c:idx val="13"/>
          <c:order val="13"/>
          <c:tx>
            <c:strRef>
              <c:f>Sheet1!$A$15</c:f>
              <c:strCache>
                <c:ptCount val="1"/>
                <c:pt idx="0">
                  <c:v>Es una marca que realza el sabor de mis preparaciones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Sheet1!$B$15</c:f>
              <c:numCache>
                <c:formatCode>General</c:formatCode>
                <c:ptCount val="1"/>
                <c:pt idx="0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3AF-475F-9FD0-3F0094A1AA6E}"/>
            </c:ext>
          </c:extLst>
        </c:ser>
        <c:ser>
          <c:idx val="14"/>
          <c:order val="14"/>
          <c:tx>
            <c:strRef>
              <c:f>Sheet1!$A$16</c:f>
              <c:strCache>
                <c:ptCount val="1"/>
                <c:pt idx="0">
                  <c:v>Es una marca que tiene buena disponibilidad de productos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Sheet1!$B$16</c:f>
              <c:numCache>
                <c:formatCode>General</c:formatCode>
                <c:ptCount val="1"/>
                <c:pt idx="0">
                  <c:v>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E3AF-475F-9FD0-3F0094A1AA6E}"/>
            </c:ext>
          </c:extLst>
        </c:ser>
        <c:ser>
          <c:idx val="15"/>
          <c:order val="15"/>
          <c:tx>
            <c:strRef>
              <c:f>Sheet1!$A$17</c:f>
              <c:strCache>
                <c:ptCount val="1"/>
                <c:pt idx="0">
                  <c:v>Tiene muy rico sabor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Sheet1!$B$17</c:f>
              <c:numCache>
                <c:formatCode>General</c:formatCode>
                <c:ptCount val="1"/>
                <c:pt idx="0">
                  <c:v>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3AF-475F-9FD0-3F0094A1AA6E}"/>
            </c:ext>
          </c:extLst>
        </c:ser>
        <c:ser>
          <c:idx val="16"/>
          <c:order val="16"/>
          <c:tx>
            <c:strRef>
              <c:f>Sheet1!$A$18</c:f>
              <c:strCache>
                <c:ptCount val="1"/>
                <c:pt idx="0">
                  <c:v>Es una marca experta en quesos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Sheet1!$B$18</c:f>
              <c:numCache>
                <c:formatCode>General</c:formatCode>
                <c:ptCount val="1"/>
                <c:pt idx="0">
                  <c:v>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4D-49ED-9EA4-263379F638E5}"/>
            </c:ext>
          </c:extLst>
        </c:ser>
        <c:ser>
          <c:idx val="17"/>
          <c:order val="17"/>
          <c:tx>
            <c:strRef>
              <c:f>Sheet1!$A$19</c:f>
              <c:strCache>
                <c:ptCount val="1"/>
                <c:pt idx="0">
                  <c:v>Sus productos son garantía de placer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Sheet1!$B$19</c:f>
              <c:numCache>
                <c:formatCode>General</c:formatCode>
                <c:ptCount val="1"/>
                <c:pt idx="0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84D-49ED-9EA4-263379F638E5}"/>
            </c:ext>
          </c:extLst>
        </c:ser>
        <c:ser>
          <c:idx val="18"/>
          <c:order val="18"/>
          <c:tx>
            <c:strRef>
              <c:f>Sheet1!$A$20</c:f>
              <c:strCache>
                <c:ptCount val="1"/>
                <c:pt idx="0">
                  <c:v>Es una marca auténtica, fiel a su origen y escencia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Sheet1!$B$20</c:f>
              <c:numCache>
                <c:formatCode>General</c:formatCode>
                <c:ptCount val="1"/>
                <c:pt idx="0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84D-49ED-9EA4-263379F638E5}"/>
            </c:ext>
          </c:extLst>
        </c:ser>
        <c:ser>
          <c:idx val="19"/>
          <c:order val="19"/>
          <c:tx>
            <c:strRef>
              <c:f>Sheet1!$A$21</c:f>
              <c:strCache>
                <c:ptCount val="1"/>
                <c:pt idx="0">
                  <c:v>Es una marca contemporánea/actual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Sheet1!$B$21</c:f>
              <c:numCache>
                <c:formatCode>General</c:formatCode>
                <c:ptCount val="1"/>
                <c:pt idx="0">
                  <c:v>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84D-49ED-9EA4-263379F638E5}"/>
            </c:ext>
          </c:extLst>
        </c:ser>
        <c:ser>
          <c:idx val="20"/>
          <c:order val="20"/>
          <c:tx>
            <c:strRef>
              <c:f>Sheet1!$A$22</c:f>
              <c:strCache>
                <c:ptCount val="1"/>
                <c:pt idx="0">
                  <c:v>Es una marca que me brinda seguridad por su envasado en origen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Sheet1!$B$22</c:f>
              <c:numCache>
                <c:formatCode>General</c:formatCode>
                <c:ptCount val="1"/>
                <c:pt idx="0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84D-49ED-9EA4-263379F638E5}"/>
            </c:ext>
          </c:extLst>
        </c:ser>
        <c:ser>
          <c:idx val="21"/>
          <c:order val="21"/>
          <c:tx>
            <c:strRef>
              <c:f>Sheet1!$A$23</c:f>
              <c:strCache>
                <c:ptCount val="1"/>
                <c:pt idx="0">
                  <c:v>Sus presentaciones (tamaños y tipos de empaque) se adecuan a mis necesidades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Sheet1!$B$23</c:f>
              <c:numCache>
                <c:formatCode>General</c:formatCode>
                <c:ptCount val="1"/>
                <c:pt idx="0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84D-49ED-9EA4-263379F638E5}"/>
            </c:ext>
          </c:extLst>
        </c:ser>
        <c:ser>
          <c:idx val="22"/>
          <c:order val="22"/>
          <c:tx>
            <c:strRef>
              <c:f>Sheet1!$A$24</c:f>
              <c:strCache>
                <c:ptCount val="1"/>
                <c:pt idx="0">
                  <c:v>Tiene productos que brindan una mejor nutrición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Sheet1!$B$24</c:f>
              <c:numCache>
                <c:formatCode>General</c:formatCode>
                <c:ptCount val="1"/>
                <c:pt idx="0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84D-49ED-9EA4-263379F638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34969568"/>
        <c:axId val="1634970112"/>
        <c:extLst/>
      </c:radarChart>
      <c:catAx>
        <c:axId val="1634969568"/>
        <c:scaling>
          <c:orientation val="minMax"/>
        </c:scaling>
        <c:delete val="0"/>
        <c:axPos val="b"/>
        <c:majorGridlines>
          <c:spPr>
            <a:ln w="12218">
              <a:solidFill>
                <a:srgbClr val="808080"/>
              </a:solidFill>
              <a:prstDash val="sysDash"/>
            </a:ln>
          </c:spPr>
        </c:majorGridlines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s-AR"/>
          </a:p>
        </c:txPr>
        <c:crossAx val="1634970112"/>
        <c:crosses val="autoZero"/>
        <c:auto val="0"/>
        <c:lblAlgn val="ctr"/>
        <c:lblOffset val="100"/>
        <c:noMultiLvlLbl val="0"/>
      </c:catAx>
      <c:valAx>
        <c:axId val="1634970112"/>
        <c:scaling>
          <c:orientation val="minMax"/>
          <c:max val="100"/>
          <c:min val="0"/>
        </c:scaling>
        <c:delete val="0"/>
        <c:axPos val="l"/>
        <c:majorGridlines>
          <c:spPr>
            <a:ln w="12218">
              <a:solidFill>
                <a:srgbClr val="CBD1CD"/>
              </a:solidFill>
              <a:prstDash val="solid"/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600" b="0">
                <a:solidFill>
                  <a:schemeClr val="bg1">
                    <a:lumMod val="75000"/>
                  </a:schemeClr>
                </a:solidFill>
              </a:defRPr>
            </a:pPr>
            <a:endParaRPr lang="es-AR"/>
          </a:p>
        </c:txPr>
        <c:crossAx val="1634969568"/>
        <c:crosses val="autoZero"/>
        <c:crossBetween val="midCat"/>
        <c:majorUnit val="10"/>
      </c:valAx>
      <c:spPr>
        <a:noFill/>
        <a:ln w="24436">
          <a:noFill/>
        </a:ln>
      </c:spPr>
    </c:plotArea>
    <c:legend>
      <c:legendPos val="r"/>
      <c:layout>
        <c:manualLayout>
          <c:xMode val="edge"/>
          <c:yMode val="edge"/>
          <c:x val="0.89121795101227774"/>
          <c:y val="2.5261728424604266E-2"/>
          <c:w val="0.10031147341546924"/>
          <c:h val="0.20178234564503841"/>
        </c:manualLayout>
      </c:layout>
      <c:overlay val="0"/>
      <c:spPr>
        <a:ln>
          <a:solidFill>
            <a:schemeClr val="bg1">
              <a:lumMod val="85000"/>
            </a:schemeClr>
          </a:solidFill>
        </a:ln>
      </c:spPr>
      <c:txPr>
        <a:bodyPr/>
        <a:lstStyle/>
        <a:p>
          <a:pPr>
            <a:defRPr sz="1050" b="0">
              <a:solidFill>
                <a:schemeClr val="tx1"/>
              </a:solidFill>
              <a:latin typeface="+mn-lt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2116" b="1" i="0" u="none" strike="noStrike" baseline="0">
          <a:solidFill>
            <a:srgbClr val="FFFFFF"/>
          </a:solidFill>
          <a:latin typeface="Arial"/>
          <a:ea typeface="Arial"/>
          <a:cs typeface="Arial"/>
        </a:defRPr>
      </a:pPr>
      <a:endParaRPr lang="es-AR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093485566650924"/>
          <c:y val="0.10318959706784399"/>
          <c:w val="0.35731230079774684"/>
          <c:h val="0.79666493285692774"/>
        </c:manualLayout>
      </c:layout>
      <c:radarChart>
        <c:radarStyle val="marker"/>
        <c:varyColors val="0"/>
        <c:ser>
          <c:idx val="2"/>
          <c:order val="0"/>
          <c:tx>
            <c:strRef>
              <c:f>Sheet1!$A$2</c:f>
              <c:strCache>
                <c:ptCount val="1"/>
                <c:pt idx="0">
                  <c:v>Es la marca que garantiza el éxito/las mejores preparaciones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69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F-C600-43D2-A341-8D595C7FD064}"/>
            </c:ext>
          </c:extLst>
        </c:ser>
        <c:ser>
          <c:idx val="3"/>
          <c:order val="1"/>
          <c:tx>
            <c:strRef>
              <c:f>Sheet1!$A$3</c:f>
              <c:strCache>
                <c:ptCount val="1"/>
                <c:pt idx="0">
                  <c:v>Es una marca que tiene productos frescos y naturales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Sheet1!$B$3</c:f>
              <c:numCache>
                <c:formatCode>General</c:formatCode>
                <c:ptCount val="1"/>
                <c:pt idx="0">
                  <c:v>73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10-C600-43D2-A341-8D595C7FD064}"/>
            </c:ext>
          </c:extLst>
        </c:ser>
        <c:ser>
          <c:idx val="5"/>
          <c:order val="2"/>
          <c:tx>
            <c:strRef>
              <c:f>Sheet1!$A$4</c:f>
              <c:strCache>
                <c:ptCount val="1"/>
                <c:pt idx="0">
                  <c:v>Es una marca para mí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Sheet1!$B$4</c:f>
              <c:numCache>
                <c:formatCode>General</c:formatCode>
                <c:ptCount val="1"/>
                <c:pt idx="0">
                  <c:v>58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11-C600-43D2-A341-8D595C7FD064}"/>
            </c:ext>
          </c:extLst>
        </c:ser>
        <c:ser>
          <c:idx val="0"/>
          <c:order val="3"/>
          <c:tx>
            <c:strRef>
              <c:f>Sheet1!$A$5</c:f>
              <c:strCache>
                <c:ptCount val="1"/>
                <c:pt idx="0">
                  <c:v>Es una marca amigable/cercana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Sheet1!$B$5</c:f>
              <c:numCache>
                <c:formatCode>General</c:formatCode>
                <c:ptCount val="1"/>
                <c:pt idx="0">
                  <c:v>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AF-475F-9FD0-3F0094A1AA6E}"/>
            </c:ext>
          </c:extLst>
        </c:ser>
        <c:ser>
          <c:idx val="1"/>
          <c:order val="4"/>
          <c:tx>
            <c:strRef>
              <c:f>Sheet1!$A$6</c:f>
              <c:strCache>
                <c:ptCount val="1"/>
                <c:pt idx="0">
                  <c:v>Es una marca confiable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Sheet1!$B$6</c:f>
              <c:numCache>
                <c:formatCode>General</c:formatCode>
                <c:ptCount val="1"/>
                <c:pt idx="0">
                  <c:v>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AF-475F-9FD0-3F0094A1AA6E}"/>
            </c:ext>
          </c:extLst>
        </c:ser>
        <c:ser>
          <c:idx val="4"/>
          <c:order val="5"/>
          <c:tx>
            <c:strRef>
              <c:f>Sheet1!$A$7</c:f>
              <c:strCache>
                <c:ptCount val="1"/>
                <c:pt idx="0">
                  <c:v>Es una marca tradicional/con trayectoria en el país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Sheet1!$B$7</c:f>
              <c:numCache>
                <c:formatCode>General</c:formatCode>
                <c:ptCount val="1"/>
                <c:pt idx="0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AF-475F-9FD0-3F0094A1AA6E}"/>
            </c:ext>
          </c:extLst>
        </c:ser>
        <c:ser>
          <c:idx val="6"/>
          <c:order val="6"/>
          <c:tx>
            <c:strRef>
              <c:f>Sheet1!$A$8</c:f>
              <c:strCache>
                <c:ptCount val="1"/>
                <c:pt idx="0">
                  <c:v>Tiene productos de alta calidad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Sheet1!$B$8</c:f>
              <c:numCache>
                <c:formatCode>General</c:formatCode>
                <c:ptCount val="1"/>
                <c:pt idx="0">
                  <c:v>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3AF-475F-9FD0-3F0094A1AA6E}"/>
            </c:ext>
          </c:extLst>
        </c:ser>
        <c:ser>
          <c:idx val="7"/>
          <c:order val="7"/>
          <c:tx>
            <c:strRef>
              <c:f>Sheet1!$A$9</c:f>
              <c:strCache>
                <c:ptCount val="1"/>
                <c:pt idx="0">
                  <c:v>Es una marca ideal para toda la familia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Sheet1!$B$9</c:f>
              <c:numCache>
                <c:formatCode>General</c:formatCode>
                <c:ptCount val="1"/>
                <c:pt idx="0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3AF-475F-9FD0-3F0094A1AA6E}"/>
            </c:ext>
          </c:extLst>
        </c:ser>
        <c:ser>
          <c:idx val="8"/>
          <c:order val="8"/>
          <c:tx>
            <c:strRef>
              <c:f>Sheet1!$A$10</c:f>
              <c:strCache>
                <c:ptCount val="1"/>
                <c:pt idx="0">
                  <c:v>Es una marca innovadora en el lanzamiento de nuevos productos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Sheet1!$B$10</c:f>
              <c:numCache>
                <c:formatCode>General</c:formatCode>
                <c:ptCount val="1"/>
                <c:pt idx="0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3AF-475F-9FD0-3F0094A1AA6E}"/>
            </c:ext>
          </c:extLst>
        </c:ser>
        <c:ser>
          <c:idx val="9"/>
          <c:order val="9"/>
          <c:tx>
            <c:strRef>
              <c:f>Sheet1!$A$11</c:f>
              <c:strCache>
                <c:ptCount val="1"/>
                <c:pt idx="0">
                  <c:v>Tiene buena relación precio/calidad de producto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Sheet1!$B$11</c:f>
              <c:numCache>
                <c:formatCode>General</c:formatCode>
                <c:ptCount val="1"/>
                <c:pt idx="0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3AF-475F-9FD0-3F0094A1AA6E}"/>
            </c:ext>
          </c:extLst>
        </c:ser>
        <c:ser>
          <c:idx val="10"/>
          <c:order val="10"/>
          <c:tx>
            <c:strRef>
              <c:f>Sheet1!$A$12</c:f>
              <c:strCache>
                <c:ptCount val="1"/>
                <c:pt idx="0">
                  <c:v>Es una marca con la textura ideal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Sheet1!$B$12</c:f>
              <c:numCache>
                <c:formatCode>General</c:formatCode>
                <c:ptCount val="1"/>
                <c:pt idx="0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E3AF-475F-9FD0-3F0094A1AA6E}"/>
            </c:ext>
          </c:extLst>
        </c:ser>
        <c:ser>
          <c:idx val="11"/>
          <c:order val="11"/>
          <c:tx>
            <c:strRef>
              <c:f>Sheet1!$A$13</c:f>
              <c:strCache>
                <c:ptCount val="1"/>
                <c:pt idx="0">
                  <c:v>Es una marca ideal para acompañar otros alimentos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Sheet1!$B$13</c:f>
              <c:numCache>
                <c:formatCode>General</c:formatCode>
                <c:ptCount val="1"/>
                <c:pt idx="0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3AF-475F-9FD0-3F0094A1AA6E}"/>
            </c:ext>
          </c:extLst>
        </c:ser>
        <c:ser>
          <c:idx val="12"/>
          <c:order val="12"/>
          <c:tx>
            <c:strRef>
              <c:f>Sheet1!$A$14</c:f>
              <c:strCache>
                <c:ptCount val="1"/>
                <c:pt idx="0">
                  <c:v>Es una marca que ofrece distintas variedades de productos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Sheet1!$B$14</c:f>
              <c:numCache>
                <c:formatCode>General</c:formatCode>
                <c:ptCount val="1"/>
                <c:pt idx="0">
                  <c:v>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E3AF-475F-9FD0-3F0094A1AA6E}"/>
            </c:ext>
          </c:extLst>
        </c:ser>
        <c:ser>
          <c:idx val="13"/>
          <c:order val="13"/>
          <c:tx>
            <c:strRef>
              <c:f>Sheet1!$A$15</c:f>
              <c:strCache>
                <c:ptCount val="1"/>
                <c:pt idx="0">
                  <c:v>Es una marca que realza el sabor de mis preparaciones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Sheet1!$B$15</c:f>
              <c:numCache>
                <c:formatCode>General</c:formatCode>
                <c:ptCount val="1"/>
                <c:pt idx="0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3AF-475F-9FD0-3F0094A1AA6E}"/>
            </c:ext>
          </c:extLst>
        </c:ser>
        <c:ser>
          <c:idx val="14"/>
          <c:order val="14"/>
          <c:tx>
            <c:strRef>
              <c:f>Sheet1!$A$16</c:f>
              <c:strCache>
                <c:ptCount val="1"/>
                <c:pt idx="0">
                  <c:v>Es una marca que tiene buena disponibilidad de productos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Sheet1!$B$16</c:f>
              <c:numCache>
                <c:formatCode>General</c:formatCode>
                <c:ptCount val="1"/>
                <c:pt idx="0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E3AF-475F-9FD0-3F0094A1AA6E}"/>
            </c:ext>
          </c:extLst>
        </c:ser>
        <c:ser>
          <c:idx val="15"/>
          <c:order val="15"/>
          <c:tx>
            <c:strRef>
              <c:f>Sheet1!$A$17</c:f>
              <c:strCache>
                <c:ptCount val="1"/>
                <c:pt idx="0">
                  <c:v>Tiene muy rico sabor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Sheet1!$B$17</c:f>
              <c:numCache>
                <c:formatCode>General</c:formatCode>
                <c:ptCount val="1"/>
                <c:pt idx="0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3AF-475F-9FD0-3F0094A1AA6E}"/>
            </c:ext>
          </c:extLst>
        </c:ser>
        <c:ser>
          <c:idx val="16"/>
          <c:order val="16"/>
          <c:tx>
            <c:strRef>
              <c:f>Sheet1!$A$18</c:f>
              <c:strCache>
                <c:ptCount val="1"/>
                <c:pt idx="0">
                  <c:v>Es una marca experta en quesos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Sheet1!$B$18</c:f>
              <c:numCache>
                <c:formatCode>General</c:formatCode>
                <c:ptCount val="1"/>
                <c:pt idx="0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29-4499-A260-9F2A7FD16AA9}"/>
            </c:ext>
          </c:extLst>
        </c:ser>
        <c:ser>
          <c:idx val="17"/>
          <c:order val="17"/>
          <c:tx>
            <c:strRef>
              <c:f>Sheet1!$A$19</c:f>
              <c:strCache>
                <c:ptCount val="1"/>
                <c:pt idx="0">
                  <c:v>Sus productos son garantía de placer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Sheet1!$B$19</c:f>
              <c:numCache>
                <c:formatCode>General</c:formatCode>
                <c:ptCount val="1"/>
                <c:pt idx="0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F29-4499-A260-9F2A7FD16AA9}"/>
            </c:ext>
          </c:extLst>
        </c:ser>
        <c:ser>
          <c:idx val="18"/>
          <c:order val="18"/>
          <c:tx>
            <c:strRef>
              <c:f>Sheet1!$A$20</c:f>
              <c:strCache>
                <c:ptCount val="1"/>
                <c:pt idx="0">
                  <c:v>Es una marca auténtica, fiel a su origen y escencia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Sheet1!$B$20</c:f>
              <c:numCache>
                <c:formatCode>General</c:formatCode>
                <c:ptCount val="1"/>
                <c:pt idx="0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F29-4499-A260-9F2A7FD16AA9}"/>
            </c:ext>
          </c:extLst>
        </c:ser>
        <c:ser>
          <c:idx val="19"/>
          <c:order val="19"/>
          <c:tx>
            <c:strRef>
              <c:f>Sheet1!$A$21</c:f>
              <c:strCache>
                <c:ptCount val="1"/>
                <c:pt idx="0">
                  <c:v>Es una marca contemporánea/actual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Sheet1!$B$21</c:f>
              <c:numCache>
                <c:formatCode>General</c:formatCode>
                <c:ptCount val="1"/>
                <c:pt idx="0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F29-4499-A260-9F2A7FD16AA9}"/>
            </c:ext>
          </c:extLst>
        </c:ser>
        <c:ser>
          <c:idx val="20"/>
          <c:order val="20"/>
          <c:tx>
            <c:strRef>
              <c:f>Sheet1!$A$22</c:f>
              <c:strCache>
                <c:ptCount val="1"/>
                <c:pt idx="0">
                  <c:v>Es una marca que me brinda seguridad por su envasado en origen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Sheet1!$B$22</c:f>
              <c:numCache>
                <c:formatCode>General</c:formatCode>
                <c:ptCount val="1"/>
                <c:pt idx="0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F29-4499-A260-9F2A7FD16AA9}"/>
            </c:ext>
          </c:extLst>
        </c:ser>
        <c:ser>
          <c:idx val="21"/>
          <c:order val="21"/>
          <c:tx>
            <c:strRef>
              <c:f>Sheet1!$A$23</c:f>
              <c:strCache>
                <c:ptCount val="1"/>
                <c:pt idx="0">
                  <c:v>Sus presentaciones (tamaños y tipos de empaque) se adecuan a mis necesidades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Sheet1!$B$23</c:f>
              <c:numCache>
                <c:formatCode>General</c:formatCode>
                <c:ptCount val="1"/>
                <c:pt idx="0">
                  <c:v>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F29-4499-A260-9F2A7FD16AA9}"/>
            </c:ext>
          </c:extLst>
        </c:ser>
        <c:ser>
          <c:idx val="22"/>
          <c:order val="22"/>
          <c:tx>
            <c:strRef>
              <c:f>Sheet1!$A$24</c:f>
              <c:strCache>
                <c:ptCount val="1"/>
                <c:pt idx="0">
                  <c:v>Tiene productos que brindan una mejor nutrición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Sheet1!$B$24</c:f>
              <c:numCache>
                <c:formatCode>General</c:formatCode>
                <c:ptCount val="1"/>
                <c:pt idx="0">
                  <c:v>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F29-4499-A260-9F2A7FD16A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34969568"/>
        <c:axId val="1634970112"/>
        <c:extLst/>
      </c:radarChart>
      <c:catAx>
        <c:axId val="1634969568"/>
        <c:scaling>
          <c:orientation val="minMax"/>
        </c:scaling>
        <c:delete val="0"/>
        <c:axPos val="b"/>
        <c:majorGridlines>
          <c:spPr>
            <a:ln w="12218">
              <a:solidFill>
                <a:srgbClr val="808080"/>
              </a:solidFill>
              <a:prstDash val="sysDash"/>
            </a:ln>
          </c:spPr>
        </c:majorGridlines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s-AR"/>
          </a:p>
        </c:txPr>
        <c:crossAx val="1634970112"/>
        <c:crosses val="autoZero"/>
        <c:auto val="0"/>
        <c:lblAlgn val="ctr"/>
        <c:lblOffset val="100"/>
        <c:noMultiLvlLbl val="0"/>
      </c:catAx>
      <c:valAx>
        <c:axId val="1634970112"/>
        <c:scaling>
          <c:orientation val="minMax"/>
          <c:max val="100"/>
          <c:min val="0"/>
        </c:scaling>
        <c:delete val="0"/>
        <c:axPos val="l"/>
        <c:majorGridlines>
          <c:spPr>
            <a:ln w="12218">
              <a:solidFill>
                <a:srgbClr val="CBD1CD"/>
              </a:solidFill>
              <a:prstDash val="solid"/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600" b="0">
                <a:solidFill>
                  <a:schemeClr val="bg1">
                    <a:lumMod val="75000"/>
                  </a:schemeClr>
                </a:solidFill>
              </a:defRPr>
            </a:pPr>
            <a:endParaRPr lang="es-AR"/>
          </a:p>
        </c:txPr>
        <c:crossAx val="1634969568"/>
        <c:crosses val="autoZero"/>
        <c:crossBetween val="midCat"/>
        <c:majorUnit val="10"/>
      </c:valAx>
      <c:spPr>
        <a:noFill/>
        <a:ln w="24436">
          <a:noFill/>
        </a:ln>
      </c:spPr>
    </c:plotArea>
    <c:legend>
      <c:legendPos val="r"/>
      <c:layout>
        <c:manualLayout>
          <c:xMode val="edge"/>
          <c:yMode val="edge"/>
          <c:x val="0.89121795101227774"/>
          <c:y val="2.5261728424604266E-2"/>
          <c:w val="0.10031147341546924"/>
          <c:h val="0.20178234564503841"/>
        </c:manualLayout>
      </c:layout>
      <c:overlay val="0"/>
      <c:spPr>
        <a:ln>
          <a:solidFill>
            <a:schemeClr val="bg1">
              <a:lumMod val="85000"/>
            </a:schemeClr>
          </a:solidFill>
        </a:ln>
      </c:spPr>
      <c:txPr>
        <a:bodyPr/>
        <a:lstStyle/>
        <a:p>
          <a:pPr>
            <a:defRPr sz="1050" b="0">
              <a:solidFill>
                <a:schemeClr val="tx1"/>
              </a:solidFill>
              <a:latin typeface="+mn-lt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2116" b="1" i="0" u="none" strike="noStrike" baseline="0">
          <a:solidFill>
            <a:srgbClr val="FFFFFF"/>
          </a:solidFill>
          <a:latin typeface="Arial"/>
          <a:ea typeface="Arial"/>
          <a:cs typeface="Arial"/>
        </a:defRPr>
      </a:pPr>
      <a:endParaRPr lang="es-AR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093485566650924"/>
          <c:y val="0.10318959706784399"/>
          <c:w val="0.35731230079774684"/>
          <c:h val="0.79666493285692774"/>
        </c:manualLayout>
      </c:layout>
      <c:radarChart>
        <c:radarStyle val="marker"/>
        <c:varyColors val="0"/>
        <c:ser>
          <c:idx val="2"/>
          <c:order val="0"/>
          <c:tx>
            <c:strRef>
              <c:f>Sheet1!$A$2</c:f>
              <c:strCache>
                <c:ptCount val="1"/>
                <c:pt idx="0">
                  <c:v>Es la marca que garantiza el éxito/las mejores preparaciones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21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F-C600-43D2-A341-8D595C7FD064}"/>
            </c:ext>
          </c:extLst>
        </c:ser>
        <c:ser>
          <c:idx val="3"/>
          <c:order val="1"/>
          <c:tx>
            <c:strRef>
              <c:f>Sheet1!$A$3</c:f>
              <c:strCache>
                <c:ptCount val="1"/>
                <c:pt idx="0">
                  <c:v>Es una marca que tiene productos frescos y naturales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Sheet1!$B$3</c:f>
              <c:numCache>
                <c:formatCode>General</c:formatCode>
                <c:ptCount val="1"/>
                <c:pt idx="0">
                  <c:v>27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10-C600-43D2-A341-8D595C7FD064}"/>
            </c:ext>
          </c:extLst>
        </c:ser>
        <c:ser>
          <c:idx val="5"/>
          <c:order val="2"/>
          <c:tx>
            <c:strRef>
              <c:f>Sheet1!$A$4</c:f>
              <c:strCache>
                <c:ptCount val="1"/>
                <c:pt idx="0">
                  <c:v>Es una marca para mí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Sheet1!$B$4</c:f>
              <c:numCache>
                <c:formatCode>General</c:formatCode>
                <c:ptCount val="1"/>
                <c:pt idx="0">
                  <c:v>18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11-C600-43D2-A341-8D595C7FD064}"/>
            </c:ext>
          </c:extLst>
        </c:ser>
        <c:ser>
          <c:idx val="0"/>
          <c:order val="3"/>
          <c:tx>
            <c:strRef>
              <c:f>Sheet1!$A$5</c:f>
              <c:strCache>
                <c:ptCount val="1"/>
                <c:pt idx="0">
                  <c:v>Es una marca amigable/cercana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Sheet1!$B$5</c:f>
              <c:numCache>
                <c:formatCode>General</c:formatCode>
                <c:ptCount val="1"/>
                <c:pt idx="0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AF-475F-9FD0-3F0094A1AA6E}"/>
            </c:ext>
          </c:extLst>
        </c:ser>
        <c:ser>
          <c:idx val="1"/>
          <c:order val="4"/>
          <c:tx>
            <c:strRef>
              <c:f>Sheet1!$A$6</c:f>
              <c:strCache>
                <c:ptCount val="1"/>
                <c:pt idx="0">
                  <c:v>Es una marca confiable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Sheet1!$B$6</c:f>
              <c:numCache>
                <c:formatCode>General</c:formatCode>
                <c:ptCount val="1"/>
                <c:pt idx="0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AF-475F-9FD0-3F0094A1AA6E}"/>
            </c:ext>
          </c:extLst>
        </c:ser>
        <c:ser>
          <c:idx val="4"/>
          <c:order val="5"/>
          <c:tx>
            <c:strRef>
              <c:f>Sheet1!$A$7</c:f>
              <c:strCache>
                <c:ptCount val="1"/>
                <c:pt idx="0">
                  <c:v>Es una marca tradicional/con trayectoria en el país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Sheet1!$B$7</c:f>
              <c:numCache>
                <c:formatCode>General</c:formatCode>
                <c:ptCount val="1"/>
                <c:pt idx="0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AF-475F-9FD0-3F0094A1AA6E}"/>
            </c:ext>
          </c:extLst>
        </c:ser>
        <c:ser>
          <c:idx val="6"/>
          <c:order val="6"/>
          <c:tx>
            <c:strRef>
              <c:f>Sheet1!$A$8</c:f>
              <c:strCache>
                <c:ptCount val="1"/>
                <c:pt idx="0">
                  <c:v>Tiene productos de alta calidad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Sheet1!$B$8</c:f>
              <c:numCache>
                <c:formatCode>General</c:formatCode>
                <c:ptCount val="1"/>
                <c:pt idx="0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3AF-475F-9FD0-3F0094A1AA6E}"/>
            </c:ext>
          </c:extLst>
        </c:ser>
        <c:ser>
          <c:idx val="7"/>
          <c:order val="7"/>
          <c:tx>
            <c:strRef>
              <c:f>Sheet1!$A$9</c:f>
              <c:strCache>
                <c:ptCount val="1"/>
                <c:pt idx="0">
                  <c:v>Es una marca ideal para toda la familia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Sheet1!$B$9</c:f>
              <c:numCache>
                <c:formatCode>General</c:formatCode>
                <c:ptCount val="1"/>
                <c:pt idx="0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3AF-475F-9FD0-3F0094A1AA6E}"/>
            </c:ext>
          </c:extLst>
        </c:ser>
        <c:ser>
          <c:idx val="8"/>
          <c:order val="8"/>
          <c:tx>
            <c:strRef>
              <c:f>Sheet1!$A$10</c:f>
              <c:strCache>
                <c:ptCount val="1"/>
                <c:pt idx="0">
                  <c:v>Es una marca innovadora en el lanzamiento de nuevos productos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Sheet1!$B$10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3AF-475F-9FD0-3F0094A1AA6E}"/>
            </c:ext>
          </c:extLst>
        </c:ser>
        <c:ser>
          <c:idx val="9"/>
          <c:order val="9"/>
          <c:tx>
            <c:strRef>
              <c:f>Sheet1!$A$11</c:f>
              <c:strCache>
                <c:ptCount val="1"/>
                <c:pt idx="0">
                  <c:v>Tiene buena relación precio/calidad de producto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Sheet1!$B$11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3AF-475F-9FD0-3F0094A1AA6E}"/>
            </c:ext>
          </c:extLst>
        </c:ser>
        <c:ser>
          <c:idx val="10"/>
          <c:order val="10"/>
          <c:tx>
            <c:strRef>
              <c:f>Sheet1!$A$12</c:f>
              <c:strCache>
                <c:ptCount val="1"/>
                <c:pt idx="0">
                  <c:v>Es una marca con la textura ideal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Sheet1!$B$12</c:f>
              <c:numCache>
                <c:formatCode>General</c:formatCode>
                <c:ptCount val="1"/>
                <c:pt idx="0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E3AF-475F-9FD0-3F0094A1AA6E}"/>
            </c:ext>
          </c:extLst>
        </c:ser>
        <c:ser>
          <c:idx val="11"/>
          <c:order val="11"/>
          <c:tx>
            <c:strRef>
              <c:f>Sheet1!$A$13</c:f>
              <c:strCache>
                <c:ptCount val="1"/>
                <c:pt idx="0">
                  <c:v>Es una marca ideal para acompañar otros alimentos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Sheet1!$B$13</c:f>
              <c:numCache>
                <c:formatCode>General</c:formatCode>
                <c:ptCount val="1"/>
                <c:pt idx="0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3AF-475F-9FD0-3F0094A1AA6E}"/>
            </c:ext>
          </c:extLst>
        </c:ser>
        <c:ser>
          <c:idx val="12"/>
          <c:order val="12"/>
          <c:tx>
            <c:strRef>
              <c:f>Sheet1!$A$14</c:f>
              <c:strCache>
                <c:ptCount val="1"/>
                <c:pt idx="0">
                  <c:v>Es una marca que ofrece distintas variedades de productos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Sheet1!$B$14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E3AF-475F-9FD0-3F0094A1AA6E}"/>
            </c:ext>
          </c:extLst>
        </c:ser>
        <c:ser>
          <c:idx val="13"/>
          <c:order val="13"/>
          <c:tx>
            <c:strRef>
              <c:f>Sheet1!$A$15</c:f>
              <c:strCache>
                <c:ptCount val="1"/>
                <c:pt idx="0">
                  <c:v>Es una marca que realza el sabor de mis preparaciones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Sheet1!$B$15</c:f>
              <c:numCache>
                <c:formatCode>General</c:formatCode>
                <c:ptCount val="1"/>
                <c:pt idx="0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3AF-475F-9FD0-3F0094A1AA6E}"/>
            </c:ext>
          </c:extLst>
        </c:ser>
        <c:ser>
          <c:idx val="14"/>
          <c:order val="14"/>
          <c:tx>
            <c:strRef>
              <c:f>Sheet1!$A$16</c:f>
              <c:strCache>
                <c:ptCount val="1"/>
                <c:pt idx="0">
                  <c:v>Es una marca que tiene buena disponibilidad de productos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Sheet1!$B$16</c:f>
              <c:numCache>
                <c:formatCode>General</c:formatCode>
                <c:ptCount val="1"/>
                <c:pt idx="0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E3AF-475F-9FD0-3F0094A1AA6E}"/>
            </c:ext>
          </c:extLst>
        </c:ser>
        <c:ser>
          <c:idx val="15"/>
          <c:order val="15"/>
          <c:tx>
            <c:strRef>
              <c:f>Sheet1!$A$17</c:f>
              <c:strCache>
                <c:ptCount val="1"/>
                <c:pt idx="0">
                  <c:v>Tiene muy rico sabor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Sheet1!$B$17</c:f>
              <c:numCache>
                <c:formatCode>General</c:formatCode>
                <c:ptCount val="1"/>
                <c:pt idx="0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3AF-475F-9FD0-3F0094A1AA6E}"/>
            </c:ext>
          </c:extLst>
        </c:ser>
        <c:ser>
          <c:idx val="16"/>
          <c:order val="16"/>
          <c:tx>
            <c:strRef>
              <c:f>Sheet1!$A$18</c:f>
              <c:strCache>
                <c:ptCount val="1"/>
                <c:pt idx="0">
                  <c:v>Es una marca experta en quesos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Sheet1!$B$18</c:f>
              <c:numCache>
                <c:formatCode>General</c:formatCode>
                <c:ptCount val="1"/>
                <c:pt idx="0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8D-4A45-85F6-E48860FFABA2}"/>
            </c:ext>
          </c:extLst>
        </c:ser>
        <c:ser>
          <c:idx val="17"/>
          <c:order val="17"/>
          <c:tx>
            <c:strRef>
              <c:f>Sheet1!$A$19</c:f>
              <c:strCache>
                <c:ptCount val="1"/>
                <c:pt idx="0">
                  <c:v>Sus productos son garantía de placer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Sheet1!$B$19</c:f>
              <c:numCache>
                <c:formatCode>General</c:formatCode>
                <c:ptCount val="1"/>
                <c:pt idx="0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88D-4A45-85F6-E48860FFABA2}"/>
            </c:ext>
          </c:extLst>
        </c:ser>
        <c:ser>
          <c:idx val="18"/>
          <c:order val="18"/>
          <c:tx>
            <c:strRef>
              <c:f>Sheet1!$A$20</c:f>
              <c:strCache>
                <c:ptCount val="1"/>
                <c:pt idx="0">
                  <c:v>Es una marca auténtica, fiel a su origen y escencia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Sheet1!$B$20</c:f>
              <c:numCache>
                <c:formatCode>General</c:formatCode>
                <c:ptCount val="1"/>
                <c:pt idx="0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88D-4A45-85F6-E48860FFABA2}"/>
            </c:ext>
          </c:extLst>
        </c:ser>
        <c:ser>
          <c:idx val="19"/>
          <c:order val="19"/>
          <c:tx>
            <c:strRef>
              <c:f>Sheet1!$A$21</c:f>
              <c:strCache>
                <c:ptCount val="1"/>
                <c:pt idx="0">
                  <c:v>Es una marca contemporánea/actual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Sheet1!$B$21</c:f>
              <c:numCache>
                <c:formatCode>General</c:formatCode>
                <c:ptCount val="1"/>
                <c:pt idx="0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88D-4A45-85F6-E48860FFABA2}"/>
            </c:ext>
          </c:extLst>
        </c:ser>
        <c:ser>
          <c:idx val="20"/>
          <c:order val="20"/>
          <c:tx>
            <c:strRef>
              <c:f>Sheet1!$A$22</c:f>
              <c:strCache>
                <c:ptCount val="1"/>
                <c:pt idx="0">
                  <c:v>Es una marca que me brinda seguridad por su envasado en origen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Sheet1!$B$22</c:f>
              <c:numCache>
                <c:formatCode>General</c:formatCode>
                <c:ptCount val="1"/>
                <c:pt idx="0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88D-4A45-85F6-E48860FFABA2}"/>
            </c:ext>
          </c:extLst>
        </c:ser>
        <c:ser>
          <c:idx val="21"/>
          <c:order val="21"/>
          <c:tx>
            <c:strRef>
              <c:f>Sheet1!$A$23</c:f>
              <c:strCache>
                <c:ptCount val="1"/>
                <c:pt idx="0">
                  <c:v>Sus presentaciones (tamaños y tipos de empaque) se adecuan a mis necesidades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Sheet1!$B$23</c:f>
              <c:numCache>
                <c:formatCode>General</c:formatCode>
                <c:ptCount val="1"/>
                <c:pt idx="0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88D-4A45-85F6-E48860FFABA2}"/>
            </c:ext>
          </c:extLst>
        </c:ser>
        <c:ser>
          <c:idx val="22"/>
          <c:order val="22"/>
          <c:tx>
            <c:strRef>
              <c:f>Sheet1!$A$24</c:f>
              <c:strCache>
                <c:ptCount val="1"/>
                <c:pt idx="0">
                  <c:v>Tiene productos que brindan una mejor nutrición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Sheet1!$B$24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88D-4A45-85F6-E48860FFAB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34969568"/>
        <c:axId val="1634970112"/>
        <c:extLst/>
      </c:radarChart>
      <c:catAx>
        <c:axId val="1634969568"/>
        <c:scaling>
          <c:orientation val="minMax"/>
        </c:scaling>
        <c:delete val="0"/>
        <c:axPos val="b"/>
        <c:majorGridlines>
          <c:spPr>
            <a:ln w="12218">
              <a:solidFill>
                <a:srgbClr val="808080"/>
              </a:solidFill>
              <a:prstDash val="sysDash"/>
            </a:ln>
          </c:spPr>
        </c:majorGridlines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s-AR"/>
          </a:p>
        </c:txPr>
        <c:crossAx val="1634970112"/>
        <c:crosses val="autoZero"/>
        <c:auto val="0"/>
        <c:lblAlgn val="ctr"/>
        <c:lblOffset val="100"/>
        <c:noMultiLvlLbl val="0"/>
      </c:catAx>
      <c:valAx>
        <c:axId val="1634970112"/>
        <c:scaling>
          <c:orientation val="minMax"/>
          <c:max val="100"/>
          <c:min val="0"/>
        </c:scaling>
        <c:delete val="0"/>
        <c:axPos val="l"/>
        <c:majorGridlines>
          <c:spPr>
            <a:ln w="12218">
              <a:solidFill>
                <a:srgbClr val="CBD1CD"/>
              </a:solidFill>
              <a:prstDash val="solid"/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600" b="0">
                <a:solidFill>
                  <a:schemeClr val="bg1">
                    <a:lumMod val="75000"/>
                  </a:schemeClr>
                </a:solidFill>
              </a:defRPr>
            </a:pPr>
            <a:endParaRPr lang="es-AR"/>
          </a:p>
        </c:txPr>
        <c:crossAx val="1634969568"/>
        <c:crosses val="autoZero"/>
        <c:crossBetween val="midCat"/>
        <c:majorUnit val="10"/>
      </c:valAx>
      <c:spPr>
        <a:noFill/>
        <a:ln w="24436">
          <a:noFill/>
        </a:ln>
      </c:spPr>
    </c:plotArea>
    <c:legend>
      <c:legendPos val="r"/>
      <c:layout>
        <c:manualLayout>
          <c:xMode val="edge"/>
          <c:yMode val="edge"/>
          <c:x val="0.89121795101227774"/>
          <c:y val="2.5261728424604266E-2"/>
          <c:w val="0.10031147341546924"/>
          <c:h val="0.20178234564503841"/>
        </c:manualLayout>
      </c:layout>
      <c:overlay val="0"/>
      <c:spPr>
        <a:ln>
          <a:solidFill>
            <a:schemeClr val="bg1">
              <a:lumMod val="85000"/>
            </a:schemeClr>
          </a:solidFill>
        </a:ln>
      </c:spPr>
      <c:txPr>
        <a:bodyPr/>
        <a:lstStyle/>
        <a:p>
          <a:pPr>
            <a:defRPr sz="1050" b="0">
              <a:solidFill>
                <a:schemeClr val="tx1"/>
              </a:solidFill>
              <a:latin typeface="+mn-lt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2116" b="1" i="0" u="none" strike="noStrike" baseline="0">
          <a:solidFill>
            <a:srgbClr val="FFFFFF"/>
          </a:solidFill>
          <a:latin typeface="Arial"/>
          <a:ea typeface="Arial"/>
          <a:cs typeface="Arial"/>
        </a:defRPr>
      </a:pPr>
      <a:endParaRPr lang="es-AR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093485566650924"/>
          <c:y val="0.10318959706784399"/>
          <c:w val="0.35731230079774684"/>
          <c:h val="0.79666493285692774"/>
        </c:manualLayout>
      </c:layout>
      <c:radarChart>
        <c:radarStyle val="marker"/>
        <c:varyColors val="0"/>
        <c:ser>
          <c:idx val="2"/>
          <c:order val="0"/>
          <c:tx>
            <c:strRef>
              <c:f>Sheet1!$A$2</c:f>
              <c:strCache>
                <c:ptCount val="1"/>
                <c:pt idx="0">
                  <c:v>Es la marca que garantiza el éxito/las mejores preparaciones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37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F-C600-43D2-A341-8D595C7FD064}"/>
            </c:ext>
          </c:extLst>
        </c:ser>
        <c:ser>
          <c:idx val="3"/>
          <c:order val="1"/>
          <c:tx>
            <c:strRef>
              <c:f>Sheet1!$A$3</c:f>
              <c:strCache>
                <c:ptCount val="1"/>
                <c:pt idx="0">
                  <c:v>Es una marca que tiene productos frescos y naturales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Sheet1!$B$3</c:f>
              <c:numCache>
                <c:formatCode>General</c:formatCode>
                <c:ptCount val="1"/>
                <c:pt idx="0">
                  <c:v>32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10-C600-43D2-A341-8D595C7FD064}"/>
            </c:ext>
          </c:extLst>
        </c:ser>
        <c:ser>
          <c:idx val="5"/>
          <c:order val="2"/>
          <c:tx>
            <c:strRef>
              <c:f>Sheet1!$A$4</c:f>
              <c:strCache>
                <c:ptCount val="1"/>
                <c:pt idx="0">
                  <c:v>Es una marca para mí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Sheet1!$B$4</c:f>
              <c:numCache>
                <c:formatCode>General</c:formatCode>
                <c:ptCount val="1"/>
                <c:pt idx="0">
                  <c:v>27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11-C600-43D2-A341-8D595C7FD064}"/>
            </c:ext>
          </c:extLst>
        </c:ser>
        <c:ser>
          <c:idx val="0"/>
          <c:order val="3"/>
          <c:tx>
            <c:strRef>
              <c:f>Sheet1!$A$5</c:f>
              <c:strCache>
                <c:ptCount val="1"/>
                <c:pt idx="0">
                  <c:v>Es una marca amigable/cercana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Sheet1!$B$5</c:f>
              <c:numCache>
                <c:formatCode>General</c:formatCode>
                <c:ptCount val="1"/>
                <c:pt idx="0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AF-475F-9FD0-3F0094A1AA6E}"/>
            </c:ext>
          </c:extLst>
        </c:ser>
        <c:ser>
          <c:idx val="1"/>
          <c:order val="4"/>
          <c:tx>
            <c:strRef>
              <c:f>Sheet1!$A$6</c:f>
              <c:strCache>
                <c:ptCount val="1"/>
                <c:pt idx="0">
                  <c:v>Es una marca confiable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Sheet1!$B$6</c:f>
              <c:numCache>
                <c:formatCode>General</c:formatCode>
                <c:ptCount val="1"/>
                <c:pt idx="0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AF-475F-9FD0-3F0094A1AA6E}"/>
            </c:ext>
          </c:extLst>
        </c:ser>
        <c:ser>
          <c:idx val="4"/>
          <c:order val="5"/>
          <c:tx>
            <c:strRef>
              <c:f>Sheet1!$A$7</c:f>
              <c:strCache>
                <c:ptCount val="1"/>
                <c:pt idx="0">
                  <c:v>Es una marca tradicional/con trayectoria en el país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Sheet1!$B$7</c:f>
              <c:numCache>
                <c:formatCode>General</c:formatCode>
                <c:ptCount val="1"/>
                <c:pt idx="0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AF-475F-9FD0-3F0094A1AA6E}"/>
            </c:ext>
          </c:extLst>
        </c:ser>
        <c:ser>
          <c:idx val="6"/>
          <c:order val="6"/>
          <c:tx>
            <c:strRef>
              <c:f>Sheet1!$A$8</c:f>
              <c:strCache>
                <c:ptCount val="1"/>
                <c:pt idx="0">
                  <c:v>Tiene productos de alta calidad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Sheet1!$B$8</c:f>
              <c:numCache>
                <c:formatCode>General</c:formatCode>
                <c:ptCount val="1"/>
                <c:pt idx="0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3AF-475F-9FD0-3F0094A1AA6E}"/>
            </c:ext>
          </c:extLst>
        </c:ser>
        <c:ser>
          <c:idx val="7"/>
          <c:order val="7"/>
          <c:tx>
            <c:strRef>
              <c:f>Sheet1!$A$9</c:f>
              <c:strCache>
                <c:ptCount val="1"/>
                <c:pt idx="0">
                  <c:v>Es una marca ideal para toda la familia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Sheet1!$B$9</c:f>
              <c:numCache>
                <c:formatCode>General</c:formatCode>
                <c:ptCount val="1"/>
                <c:pt idx="0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3AF-475F-9FD0-3F0094A1AA6E}"/>
            </c:ext>
          </c:extLst>
        </c:ser>
        <c:ser>
          <c:idx val="8"/>
          <c:order val="8"/>
          <c:tx>
            <c:strRef>
              <c:f>Sheet1!$A$10</c:f>
              <c:strCache>
                <c:ptCount val="1"/>
                <c:pt idx="0">
                  <c:v>Es una marca innovadora en el lanzamiento de nuevos productos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Sheet1!$B$10</c:f>
              <c:numCache>
                <c:formatCode>General</c:formatCode>
                <c:ptCount val="1"/>
                <c:pt idx="0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3AF-475F-9FD0-3F0094A1AA6E}"/>
            </c:ext>
          </c:extLst>
        </c:ser>
        <c:ser>
          <c:idx val="9"/>
          <c:order val="9"/>
          <c:tx>
            <c:strRef>
              <c:f>Sheet1!$A$11</c:f>
              <c:strCache>
                <c:ptCount val="1"/>
                <c:pt idx="0">
                  <c:v>Tiene buena relación precio/calidad de producto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Sheet1!$B$11</c:f>
              <c:numCache>
                <c:formatCode>General</c:formatCode>
                <c:ptCount val="1"/>
                <c:pt idx="0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3AF-475F-9FD0-3F0094A1AA6E}"/>
            </c:ext>
          </c:extLst>
        </c:ser>
        <c:ser>
          <c:idx val="10"/>
          <c:order val="10"/>
          <c:tx>
            <c:strRef>
              <c:f>Sheet1!$A$12</c:f>
              <c:strCache>
                <c:ptCount val="1"/>
                <c:pt idx="0">
                  <c:v>Es una marca con la textura ideal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Sheet1!$B$12</c:f>
              <c:numCache>
                <c:formatCode>General</c:formatCode>
                <c:ptCount val="1"/>
                <c:pt idx="0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E3AF-475F-9FD0-3F0094A1AA6E}"/>
            </c:ext>
          </c:extLst>
        </c:ser>
        <c:ser>
          <c:idx val="11"/>
          <c:order val="11"/>
          <c:tx>
            <c:strRef>
              <c:f>Sheet1!$A$13</c:f>
              <c:strCache>
                <c:ptCount val="1"/>
                <c:pt idx="0">
                  <c:v>Es una marca ideal para acompañar otros alimentos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Sheet1!$B$13</c:f>
              <c:numCache>
                <c:formatCode>General</c:formatCode>
                <c:ptCount val="1"/>
                <c:pt idx="0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3AF-475F-9FD0-3F0094A1AA6E}"/>
            </c:ext>
          </c:extLst>
        </c:ser>
        <c:ser>
          <c:idx val="12"/>
          <c:order val="12"/>
          <c:tx>
            <c:strRef>
              <c:f>Sheet1!$A$14</c:f>
              <c:strCache>
                <c:ptCount val="1"/>
                <c:pt idx="0">
                  <c:v>Es una marca que ofrece distintas variedades de productos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Sheet1!$B$14</c:f>
              <c:numCache>
                <c:formatCode>General</c:formatCode>
                <c:ptCount val="1"/>
                <c:pt idx="0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E3AF-475F-9FD0-3F0094A1AA6E}"/>
            </c:ext>
          </c:extLst>
        </c:ser>
        <c:ser>
          <c:idx val="13"/>
          <c:order val="13"/>
          <c:tx>
            <c:strRef>
              <c:f>Sheet1!$A$15</c:f>
              <c:strCache>
                <c:ptCount val="1"/>
                <c:pt idx="0">
                  <c:v>Es una marca que realza el sabor de mis preparaciones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Sheet1!$B$15</c:f>
              <c:numCache>
                <c:formatCode>General</c:formatCode>
                <c:ptCount val="1"/>
                <c:pt idx="0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3AF-475F-9FD0-3F0094A1AA6E}"/>
            </c:ext>
          </c:extLst>
        </c:ser>
        <c:ser>
          <c:idx val="14"/>
          <c:order val="14"/>
          <c:tx>
            <c:strRef>
              <c:f>Sheet1!$A$16</c:f>
              <c:strCache>
                <c:ptCount val="1"/>
                <c:pt idx="0">
                  <c:v>Es una marca que tiene buena disponibilidad de productos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Sheet1!$B$16</c:f>
              <c:numCache>
                <c:formatCode>General</c:formatCode>
                <c:ptCount val="1"/>
                <c:pt idx="0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E3AF-475F-9FD0-3F0094A1AA6E}"/>
            </c:ext>
          </c:extLst>
        </c:ser>
        <c:ser>
          <c:idx val="15"/>
          <c:order val="15"/>
          <c:tx>
            <c:strRef>
              <c:f>Sheet1!$A$17</c:f>
              <c:strCache>
                <c:ptCount val="1"/>
                <c:pt idx="0">
                  <c:v>Tiene muy rico sabor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Sheet1!$B$17</c:f>
              <c:numCache>
                <c:formatCode>General</c:formatCode>
                <c:ptCount val="1"/>
                <c:pt idx="0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3AF-475F-9FD0-3F0094A1AA6E}"/>
            </c:ext>
          </c:extLst>
        </c:ser>
        <c:ser>
          <c:idx val="16"/>
          <c:order val="16"/>
          <c:tx>
            <c:strRef>
              <c:f>Sheet1!$A$18</c:f>
              <c:strCache>
                <c:ptCount val="1"/>
                <c:pt idx="0">
                  <c:v>Es una marca experta en quesos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Sheet1!$B$18</c:f>
              <c:numCache>
                <c:formatCode>General</c:formatCode>
                <c:ptCount val="1"/>
                <c:pt idx="0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AE-4599-A166-72005405B608}"/>
            </c:ext>
          </c:extLst>
        </c:ser>
        <c:ser>
          <c:idx val="17"/>
          <c:order val="17"/>
          <c:tx>
            <c:strRef>
              <c:f>Sheet1!$A$19</c:f>
              <c:strCache>
                <c:ptCount val="1"/>
                <c:pt idx="0">
                  <c:v>Sus productos son garantía de placer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Sheet1!$B$19</c:f>
              <c:numCache>
                <c:formatCode>General</c:formatCode>
                <c:ptCount val="1"/>
                <c:pt idx="0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AE-4599-A166-72005405B608}"/>
            </c:ext>
          </c:extLst>
        </c:ser>
        <c:ser>
          <c:idx val="18"/>
          <c:order val="18"/>
          <c:tx>
            <c:strRef>
              <c:f>Sheet1!$A$20</c:f>
              <c:strCache>
                <c:ptCount val="1"/>
                <c:pt idx="0">
                  <c:v>Es una marca auténtica, fiel a su origen y escencia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Sheet1!$B$20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3AE-4599-A166-72005405B608}"/>
            </c:ext>
          </c:extLst>
        </c:ser>
        <c:ser>
          <c:idx val="19"/>
          <c:order val="19"/>
          <c:tx>
            <c:strRef>
              <c:f>Sheet1!$A$21</c:f>
              <c:strCache>
                <c:ptCount val="1"/>
                <c:pt idx="0">
                  <c:v>Es una marca contemporánea/actual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Sheet1!$B$21</c:f>
              <c:numCache>
                <c:formatCode>General</c:formatCode>
                <c:ptCount val="1"/>
                <c:pt idx="0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3AE-4599-A166-72005405B608}"/>
            </c:ext>
          </c:extLst>
        </c:ser>
        <c:ser>
          <c:idx val="20"/>
          <c:order val="20"/>
          <c:tx>
            <c:strRef>
              <c:f>Sheet1!$A$22</c:f>
              <c:strCache>
                <c:ptCount val="1"/>
                <c:pt idx="0">
                  <c:v>Es una marca que me brinda seguridad por su envasado en origen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Sheet1!$B$22</c:f>
              <c:numCache>
                <c:formatCode>General</c:formatCode>
                <c:ptCount val="1"/>
                <c:pt idx="0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3AE-4599-A166-72005405B608}"/>
            </c:ext>
          </c:extLst>
        </c:ser>
        <c:ser>
          <c:idx val="21"/>
          <c:order val="21"/>
          <c:tx>
            <c:strRef>
              <c:f>Sheet1!$A$23</c:f>
              <c:strCache>
                <c:ptCount val="1"/>
                <c:pt idx="0">
                  <c:v>Sus presentaciones (tamaños y tipos de empaque) se adecuan a mis necesidades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Sheet1!$B$23</c:f>
              <c:numCache>
                <c:formatCode>General</c:formatCode>
                <c:ptCount val="1"/>
                <c:pt idx="0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3AE-4599-A166-72005405B608}"/>
            </c:ext>
          </c:extLst>
        </c:ser>
        <c:ser>
          <c:idx val="22"/>
          <c:order val="22"/>
          <c:tx>
            <c:strRef>
              <c:f>Sheet1!$A$24</c:f>
              <c:strCache>
                <c:ptCount val="1"/>
                <c:pt idx="0">
                  <c:v>Tiene productos que brindan una mejor nutrición</c:v>
                </c:pt>
              </c:strCache>
            </c:strRef>
          </c:tx>
          <c:marker>
            <c:symbol val="none"/>
          </c:marker>
          <c:cat>
            <c:strRef>
              <c:f>Sheet1!$B$1</c:f>
              <c:strCache>
                <c:ptCount val="1"/>
                <c:pt idx="0">
                  <c:v>OLA 2</c:v>
                </c:pt>
              </c:strCache>
            </c:strRef>
          </c:cat>
          <c:val>
            <c:numRef>
              <c:f>Sheet1!$B$24</c:f>
              <c:numCache>
                <c:formatCode>General</c:formatCode>
                <c:ptCount val="1"/>
                <c:pt idx="0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3AE-4599-A166-72005405B6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34969568"/>
        <c:axId val="1634970112"/>
        <c:extLst/>
      </c:radarChart>
      <c:catAx>
        <c:axId val="1634969568"/>
        <c:scaling>
          <c:orientation val="minMax"/>
        </c:scaling>
        <c:delete val="0"/>
        <c:axPos val="b"/>
        <c:majorGridlines>
          <c:spPr>
            <a:ln w="12218">
              <a:solidFill>
                <a:srgbClr val="808080"/>
              </a:solidFill>
              <a:prstDash val="sysDash"/>
            </a:ln>
          </c:spPr>
        </c:majorGridlines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s-AR"/>
          </a:p>
        </c:txPr>
        <c:crossAx val="1634970112"/>
        <c:crosses val="autoZero"/>
        <c:auto val="0"/>
        <c:lblAlgn val="ctr"/>
        <c:lblOffset val="100"/>
        <c:noMultiLvlLbl val="0"/>
      </c:catAx>
      <c:valAx>
        <c:axId val="1634970112"/>
        <c:scaling>
          <c:orientation val="minMax"/>
          <c:max val="100"/>
          <c:min val="0"/>
        </c:scaling>
        <c:delete val="0"/>
        <c:axPos val="l"/>
        <c:majorGridlines>
          <c:spPr>
            <a:ln w="12218">
              <a:solidFill>
                <a:srgbClr val="CBD1CD"/>
              </a:solidFill>
              <a:prstDash val="solid"/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600" b="0">
                <a:solidFill>
                  <a:schemeClr val="bg1">
                    <a:lumMod val="75000"/>
                  </a:schemeClr>
                </a:solidFill>
              </a:defRPr>
            </a:pPr>
            <a:endParaRPr lang="es-AR"/>
          </a:p>
        </c:txPr>
        <c:crossAx val="1634969568"/>
        <c:crosses val="autoZero"/>
        <c:crossBetween val="midCat"/>
        <c:majorUnit val="10"/>
      </c:valAx>
      <c:spPr>
        <a:noFill/>
        <a:ln w="24436">
          <a:noFill/>
        </a:ln>
      </c:spPr>
    </c:plotArea>
    <c:legend>
      <c:legendPos val="r"/>
      <c:layout>
        <c:manualLayout>
          <c:xMode val="edge"/>
          <c:yMode val="edge"/>
          <c:x val="0.89121795101227774"/>
          <c:y val="2.5261728424604266E-2"/>
          <c:w val="0.10031147341546924"/>
          <c:h val="0.20178234564503841"/>
        </c:manualLayout>
      </c:layout>
      <c:overlay val="0"/>
      <c:spPr>
        <a:ln>
          <a:solidFill>
            <a:schemeClr val="bg1">
              <a:lumMod val="85000"/>
            </a:schemeClr>
          </a:solidFill>
        </a:ln>
      </c:spPr>
      <c:txPr>
        <a:bodyPr/>
        <a:lstStyle/>
        <a:p>
          <a:pPr>
            <a:defRPr sz="1050" b="0">
              <a:solidFill>
                <a:schemeClr val="tx1"/>
              </a:solidFill>
              <a:latin typeface="+mn-lt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2116" b="1" i="0" u="none" strike="noStrike" baseline="0">
          <a:solidFill>
            <a:srgbClr val="FFFFFF"/>
          </a:solidFill>
          <a:latin typeface="Arial"/>
          <a:ea typeface="Arial"/>
          <a:cs typeface="Arial"/>
        </a:defRPr>
      </a:pPr>
      <a:endParaRPr lang="es-AR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F87BDD-24D3-4688-9586-B8BEB7A646B8}" type="doc">
      <dgm:prSet loTypeId="urn:microsoft.com/office/officeart/2005/8/layout/pyramid3" loCatId="pyramid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AR"/>
        </a:p>
      </dgm:t>
    </dgm:pt>
    <dgm:pt modelId="{FAAAC43C-FBF2-46D6-8434-75D0A602F976}">
      <dgm:prSet phldrT="[Texto]" custT="1"/>
      <dgm:spPr>
        <a:xfrm rot="10800000">
          <a:off x="0" y="0"/>
          <a:ext cx="1825619" cy="615014"/>
        </a:xfrm>
        <a:prstGeom prst="trapezoid">
          <a:avLst>
            <a:gd name="adj" fmla="val 29684"/>
          </a:avLst>
        </a:prstGeom>
        <a:solidFill>
          <a:srgbClr val="1B365D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s-ES" sz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Conocimiento Total </a:t>
          </a:r>
        </a:p>
      </dgm:t>
    </dgm:pt>
    <dgm:pt modelId="{7470A461-2A36-47FA-B5CA-A2374CC20843}" type="parTrans" cxnId="{5FFA5ABC-B8D8-4130-A266-8FE5E820A4FD}">
      <dgm:prSet/>
      <dgm:spPr/>
      <dgm:t>
        <a:bodyPr/>
        <a:lstStyle/>
        <a:p>
          <a:endParaRPr lang="es-ES" sz="1400"/>
        </a:p>
      </dgm:t>
    </dgm:pt>
    <dgm:pt modelId="{21EEA11D-CA8D-48EC-86F0-CD3BF92FBAD7}" type="sibTrans" cxnId="{5FFA5ABC-B8D8-4130-A266-8FE5E820A4FD}">
      <dgm:prSet/>
      <dgm:spPr/>
      <dgm:t>
        <a:bodyPr/>
        <a:lstStyle/>
        <a:p>
          <a:endParaRPr lang="es-ES" sz="1400"/>
        </a:p>
      </dgm:t>
    </dgm:pt>
    <dgm:pt modelId="{B4F756BA-75B3-42E3-92D7-310ED93E9D9A}">
      <dgm:prSet custT="1"/>
      <dgm:spPr>
        <a:xfrm rot="10800000">
          <a:off x="182561" y="615014"/>
          <a:ext cx="1460495" cy="615014"/>
        </a:xfrm>
        <a:prstGeom prst="trapezoid">
          <a:avLst>
            <a:gd name="adj" fmla="val 29684"/>
          </a:avLst>
        </a:prstGeom>
        <a:solidFill>
          <a:srgbClr val="30E845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 lIns="0" rIns="0"/>
        <a:lstStyle/>
        <a:p>
          <a:pPr>
            <a:buNone/>
          </a:pPr>
          <a:r>
            <a:rPr lang="es-ES" sz="9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+mn-lt"/>
              <a:ea typeface="+mn-ea"/>
              <a:cs typeface="+mn-cs"/>
            </a:rPr>
            <a:t>Consideración</a:t>
          </a:r>
        </a:p>
      </dgm:t>
    </dgm:pt>
    <dgm:pt modelId="{F8562272-E768-4762-943A-3DFACBE8D9B9}" type="parTrans" cxnId="{90FAEC29-7F54-4109-9D19-DFB896D048C6}">
      <dgm:prSet/>
      <dgm:spPr/>
      <dgm:t>
        <a:bodyPr/>
        <a:lstStyle/>
        <a:p>
          <a:endParaRPr lang="es-ES" sz="1400"/>
        </a:p>
      </dgm:t>
    </dgm:pt>
    <dgm:pt modelId="{7D0E2CD0-4FAF-4B25-8D3F-225C6EC7B108}" type="sibTrans" cxnId="{90FAEC29-7F54-4109-9D19-DFB896D048C6}">
      <dgm:prSet/>
      <dgm:spPr/>
      <dgm:t>
        <a:bodyPr/>
        <a:lstStyle/>
        <a:p>
          <a:endParaRPr lang="es-ES" sz="1400"/>
        </a:p>
      </dgm:t>
    </dgm:pt>
    <dgm:pt modelId="{AD9A90A6-E796-411B-82BA-39B5CA3CCDAD}">
      <dgm:prSet custT="1"/>
      <dgm:spPr>
        <a:xfrm rot="10800000">
          <a:off x="365123" y="1230029"/>
          <a:ext cx="1095371" cy="615014"/>
        </a:xfrm>
        <a:prstGeom prst="trapezoid">
          <a:avLst>
            <a:gd name="adj" fmla="val 29684"/>
          </a:avLst>
        </a:prstGeom>
        <a:solidFill>
          <a:srgbClr val="3FE19B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 lIns="0" rIns="0"/>
        <a:lstStyle/>
        <a:p>
          <a:pPr>
            <a:buNone/>
          </a:pPr>
          <a:r>
            <a:rPr lang="es-ES" sz="11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Compro último mes</a:t>
          </a:r>
        </a:p>
      </dgm:t>
    </dgm:pt>
    <dgm:pt modelId="{85EFFE0C-1849-4D3E-A20E-EE66D4B6A5A8}" type="parTrans" cxnId="{ED7E1C48-6AE2-4078-8F43-58AA3EA8BE44}">
      <dgm:prSet/>
      <dgm:spPr/>
      <dgm:t>
        <a:bodyPr/>
        <a:lstStyle/>
        <a:p>
          <a:endParaRPr lang="es-ES" sz="1400"/>
        </a:p>
      </dgm:t>
    </dgm:pt>
    <dgm:pt modelId="{B7A939B5-16C7-41BC-AFAE-EFD77700B165}" type="sibTrans" cxnId="{ED7E1C48-6AE2-4078-8F43-58AA3EA8BE44}">
      <dgm:prSet/>
      <dgm:spPr/>
      <dgm:t>
        <a:bodyPr/>
        <a:lstStyle/>
        <a:p>
          <a:endParaRPr lang="es-ES" sz="1400"/>
        </a:p>
      </dgm:t>
    </dgm:pt>
    <dgm:pt modelId="{7D0A6224-81D7-41DB-ACC3-2E73D552608D}">
      <dgm:prSet custT="1"/>
      <dgm:spPr>
        <a:xfrm rot="10800000">
          <a:off x="547685" y="1845043"/>
          <a:ext cx="730247" cy="615014"/>
        </a:xfrm>
        <a:prstGeom prst="trapezoid">
          <a:avLst>
            <a:gd name="adj" fmla="val 29684"/>
          </a:avLst>
        </a:prstGeom>
        <a:solidFill>
          <a:srgbClr val="4DD8DB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s-ES" sz="105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Más </a:t>
          </a:r>
          <a:r>
            <a:rPr lang="es-ES" sz="10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frecuente</a:t>
          </a:r>
          <a:endParaRPr lang="es-ES" sz="1050" dirty="0">
            <a:solidFill>
              <a:srgbClr val="222223">
                <a:hueOff val="0"/>
                <a:satOff val="0"/>
                <a:lumOff val="0"/>
                <a:alphaOff val="0"/>
              </a:srgbClr>
            </a:solidFill>
            <a:latin typeface="Calibri"/>
            <a:ea typeface="+mn-ea"/>
            <a:cs typeface="+mn-cs"/>
          </a:endParaRPr>
        </a:p>
      </dgm:t>
    </dgm:pt>
    <dgm:pt modelId="{16AFBF77-FB0E-4A37-B760-D245CC195E29}" type="parTrans" cxnId="{577E3199-206A-4AF6-8294-1DC9EF615F19}">
      <dgm:prSet/>
      <dgm:spPr/>
      <dgm:t>
        <a:bodyPr/>
        <a:lstStyle/>
        <a:p>
          <a:endParaRPr lang="es-ES" sz="1400"/>
        </a:p>
      </dgm:t>
    </dgm:pt>
    <dgm:pt modelId="{6BCAEB2B-7EE8-4A5B-9384-C9EC31A1F16E}" type="sibTrans" cxnId="{577E3199-206A-4AF6-8294-1DC9EF615F19}">
      <dgm:prSet/>
      <dgm:spPr/>
      <dgm:t>
        <a:bodyPr/>
        <a:lstStyle/>
        <a:p>
          <a:endParaRPr lang="es-ES" sz="1400"/>
        </a:p>
      </dgm:t>
    </dgm:pt>
    <dgm:pt modelId="{6549BF10-BDB7-4BE9-978B-63DC639327A9}" type="pres">
      <dgm:prSet presAssocID="{CEF87BDD-24D3-4688-9586-B8BEB7A646B8}" presName="Name0" presStyleCnt="0">
        <dgm:presLayoutVars>
          <dgm:dir/>
          <dgm:animLvl val="lvl"/>
          <dgm:resizeHandles val="exact"/>
        </dgm:presLayoutVars>
      </dgm:prSet>
      <dgm:spPr/>
    </dgm:pt>
    <dgm:pt modelId="{09AD8397-E18D-48E1-9D83-2EC96FA1ABD2}" type="pres">
      <dgm:prSet presAssocID="{FAAAC43C-FBF2-46D6-8434-75D0A602F976}" presName="Name8" presStyleCnt="0"/>
      <dgm:spPr/>
    </dgm:pt>
    <dgm:pt modelId="{702F5711-EEBF-4887-A4E9-BB99F9CD1A89}" type="pres">
      <dgm:prSet presAssocID="{FAAAC43C-FBF2-46D6-8434-75D0A602F976}" presName="level" presStyleLbl="node1" presStyleIdx="0" presStyleCnt="4" custLinFactNeighborX="5900" custLinFactNeighborY="16637">
        <dgm:presLayoutVars>
          <dgm:chMax val="1"/>
          <dgm:bulletEnabled val="1"/>
        </dgm:presLayoutVars>
      </dgm:prSet>
      <dgm:spPr/>
    </dgm:pt>
    <dgm:pt modelId="{0AC3F86B-646B-417D-B003-A1DD2819BE82}" type="pres">
      <dgm:prSet presAssocID="{FAAAC43C-FBF2-46D6-8434-75D0A602F97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32EFD92-79CB-4CF9-A96E-08800CDD97F1}" type="pres">
      <dgm:prSet presAssocID="{B4F756BA-75B3-42E3-92D7-310ED93E9D9A}" presName="Name8" presStyleCnt="0"/>
      <dgm:spPr/>
    </dgm:pt>
    <dgm:pt modelId="{209D579F-7756-4383-874C-7E3A5AC1DF95}" type="pres">
      <dgm:prSet presAssocID="{B4F756BA-75B3-42E3-92D7-310ED93E9D9A}" presName="level" presStyleLbl="node1" presStyleIdx="1" presStyleCnt="4" custScaleX="109485">
        <dgm:presLayoutVars>
          <dgm:chMax val="1"/>
          <dgm:bulletEnabled val="1"/>
        </dgm:presLayoutVars>
      </dgm:prSet>
      <dgm:spPr/>
    </dgm:pt>
    <dgm:pt modelId="{8019DAB0-616C-431B-A582-2B67078B3D23}" type="pres">
      <dgm:prSet presAssocID="{B4F756BA-75B3-42E3-92D7-310ED93E9D9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CDDA585-C1DE-4C08-803D-F01209271DFA}" type="pres">
      <dgm:prSet presAssocID="{AD9A90A6-E796-411B-82BA-39B5CA3CCDAD}" presName="Name8" presStyleCnt="0"/>
      <dgm:spPr/>
    </dgm:pt>
    <dgm:pt modelId="{E3B81AB0-C556-44E1-8E26-2B4F43586494}" type="pres">
      <dgm:prSet presAssocID="{AD9A90A6-E796-411B-82BA-39B5CA3CCDAD}" presName="level" presStyleLbl="node1" presStyleIdx="2" presStyleCnt="4" custScaleX="118840" custLinFactNeighborY="0">
        <dgm:presLayoutVars>
          <dgm:chMax val="1"/>
          <dgm:bulletEnabled val="1"/>
        </dgm:presLayoutVars>
      </dgm:prSet>
      <dgm:spPr/>
    </dgm:pt>
    <dgm:pt modelId="{F2119CE5-963C-4124-AE53-1ABBEBD99515}" type="pres">
      <dgm:prSet presAssocID="{AD9A90A6-E796-411B-82BA-39B5CA3CCDA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14FBA8-4706-43BA-A742-57A653F73CD8}" type="pres">
      <dgm:prSet presAssocID="{7D0A6224-81D7-41DB-ACC3-2E73D552608D}" presName="Name8" presStyleCnt="0"/>
      <dgm:spPr/>
    </dgm:pt>
    <dgm:pt modelId="{EFC9B7F5-0C26-4B82-B7A7-3D5EFB85E9EC}" type="pres">
      <dgm:prSet presAssocID="{7D0A6224-81D7-41DB-ACC3-2E73D552608D}" presName="level" presStyleLbl="node1" presStyleIdx="3" presStyleCnt="4" custScaleX="168213" custScaleY="88187">
        <dgm:presLayoutVars>
          <dgm:chMax val="1"/>
          <dgm:bulletEnabled val="1"/>
        </dgm:presLayoutVars>
      </dgm:prSet>
      <dgm:spPr/>
    </dgm:pt>
    <dgm:pt modelId="{81F7AFAC-CA1A-4F6B-869C-787DF1A3F442}" type="pres">
      <dgm:prSet presAssocID="{7D0A6224-81D7-41DB-ACC3-2E73D552608D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90FAEC29-7F54-4109-9D19-DFB896D048C6}" srcId="{CEF87BDD-24D3-4688-9586-B8BEB7A646B8}" destId="{B4F756BA-75B3-42E3-92D7-310ED93E9D9A}" srcOrd="1" destOrd="0" parTransId="{F8562272-E768-4762-943A-3DFACBE8D9B9}" sibTransId="{7D0E2CD0-4FAF-4B25-8D3F-225C6EC7B108}"/>
    <dgm:cxn modelId="{50B8ED2A-2C62-4F8C-98C5-957CC3419FC9}" type="presOf" srcId="{FAAAC43C-FBF2-46D6-8434-75D0A602F976}" destId="{702F5711-EEBF-4887-A4E9-BB99F9CD1A89}" srcOrd="0" destOrd="0" presId="urn:microsoft.com/office/officeart/2005/8/layout/pyramid3"/>
    <dgm:cxn modelId="{9E7D2138-ED87-473D-A187-24A20FDD133D}" type="presOf" srcId="{7D0A6224-81D7-41DB-ACC3-2E73D552608D}" destId="{EFC9B7F5-0C26-4B82-B7A7-3D5EFB85E9EC}" srcOrd="0" destOrd="0" presId="urn:microsoft.com/office/officeart/2005/8/layout/pyramid3"/>
    <dgm:cxn modelId="{9F1A3A5B-4637-41FE-B906-14FC7927B09E}" type="presOf" srcId="{B4F756BA-75B3-42E3-92D7-310ED93E9D9A}" destId="{8019DAB0-616C-431B-A582-2B67078B3D23}" srcOrd="1" destOrd="0" presId="urn:microsoft.com/office/officeart/2005/8/layout/pyramid3"/>
    <dgm:cxn modelId="{7FA3E45C-34C7-4206-8F86-F8A0750E3CB4}" type="presOf" srcId="{B4F756BA-75B3-42E3-92D7-310ED93E9D9A}" destId="{209D579F-7756-4383-874C-7E3A5AC1DF95}" srcOrd="0" destOrd="0" presId="urn:microsoft.com/office/officeart/2005/8/layout/pyramid3"/>
    <dgm:cxn modelId="{ED7E1C48-6AE2-4078-8F43-58AA3EA8BE44}" srcId="{CEF87BDD-24D3-4688-9586-B8BEB7A646B8}" destId="{AD9A90A6-E796-411B-82BA-39B5CA3CCDAD}" srcOrd="2" destOrd="0" parTransId="{85EFFE0C-1849-4D3E-A20E-EE66D4B6A5A8}" sibTransId="{B7A939B5-16C7-41BC-AFAE-EFD77700B165}"/>
    <dgm:cxn modelId="{D5B7C251-ABA6-4B7D-B57B-91CB77CEEB59}" type="presOf" srcId="{7D0A6224-81D7-41DB-ACC3-2E73D552608D}" destId="{81F7AFAC-CA1A-4F6B-869C-787DF1A3F442}" srcOrd="1" destOrd="0" presId="urn:microsoft.com/office/officeart/2005/8/layout/pyramid3"/>
    <dgm:cxn modelId="{577E3199-206A-4AF6-8294-1DC9EF615F19}" srcId="{CEF87BDD-24D3-4688-9586-B8BEB7A646B8}" destId="{7D0A6224-81D7-41DB-ACC3-2E73D552608D}" srcOrd="3" destOrd="0" parTransId="{16AFBF77-FB0E-4A37-B760-D245CC195E29}" sibTransId="{6BCAEB2B-7EE8-4A5B-9384-C9EC31A1F16E}"/>
    <dgm:cxn modelId="{6DCDE6B2-2C62-446E-BB38-53286FF7FEC5}" type="presOf" srcId="{AD9A90A6-E796-411B-82BA-39B5CA3CCDAD}" destId="{F2119CE5-963C-4124-AE53-1ABBEBD99515}" srcOrd="1" destOrd="0" presId="urn:microsoft.com/office/officeart/2005/8/layout/pyramid3"/>
    <dgm:cxn modelId="{5FFA5ABC-B8D8-4130-A266-8FE5E820A4FD}" srcId="{CEF87BDD-24D3-4688-9586-B8BEB7A646B8}" destId="{FAAAC43C-FBF2-46D6-8434-75D0A602F976}" srcOrd="0" destOrd="0" parTransId="{7470A461-2A36-47FA-B5CA-A2374CC20843}" sibTransId="{21EEA11D-CA8D-48EC-86F0-CD3BF92FBAD7}"/>
    <dgm:cxn modelId="{937870CC-710C-4C3C-B598-A8F7C91C040D}" type="presOf" srcId="{FAAAC43C-FBF2-46D6-8434-75D0A602F976}" destId="{0AC3F86B-646B-417D-B003-A1DD2819BE82}" srcOrd="1" destOrd="0" presId="urn:microsoft.com/office/officeart/2005/8/layout/pyramid3"/>
    <dgm:cxn modelId="{9B2A29D4-5148-4088-A79D-519FE38D0FC7}" type="presOf" srcId="{AD9A90A6-E796-411B-82BA-39B5CA3CCDAD}" destId="{E3B81AB0-C556-44E1-8E26-2B4F43586494}" srcOrd="0" destOrd="0" presId="urn:microsoft.com/office/officeart/2005/8/layout/pyramid3"/>
    <dgm:cxn modelId="{97EFAEE5-6EC8-4A59-873B-07518386BA59}" type="presOf" srcId="{CEF87BDD-24D3-4688-9586-B8BEB7A646B8}" destId="{6549BF10-BDB7-4BE9-978B-63DC639327A9}" srcOrd="0" destOrd="0" presId="urn:microsoft.com/office/officeart/2005/8/layout/pyramid3"/>
    <dgm:cxn modelId="{489FF701-E9AD-42EB-ABBE-42FA92C20C83}" type="presParOf" srcId="{6549BF10-BDB7-4BE9-978B-63DC639327A9}" destId="{09AD8397-E18D-48E1-9D83-2EC96FA1ABD2}" srcOrd="0" destOrd="0" presId="urn:microsoft.com/office/officeart/2005/8/layout/pyramid3"/>
    <dgm:cxn modelId="{C8ACB2AD-199A-422B-B88C-C1BC0C137DA1}" type="presParOf" srcId="{09AD8397-E18D-48E1-9D83-2EC96FA1ABD2}" destId="{702F5711-EEBF-4887-A4E9-BB99F9CD1A89}" srcOrd="0" destOrd="0" presId="urn:microsoft.com/office/officeart/2005/8/layout/pyramid3"/>
    <dgm:cxn modelId="{E07F54E9-AFD0-4460-BE0F-E894EC8523CC}" type="presParOf" srcId="{09AD8397-E18D-48E1-9D83-2EC96FA1ABD2}" destId="{0AC3F86B-646B-417D-B003-A1DD2819BE82}" srcOrd="1" destOrd="0" presId="urn:microsoft.com/office/officeart/2005/8/layout/pyramid3"/>
    <dgm:cxn modelId="{678A2B3F-C00E-439A-B6CB-1BD09F28F3DF}" type="presParOf" srcId="{6549BF10-BDB7-4BE9-978B-63DC639327A9}" destId="{632EFD92-79CB-4CF9-A96E-08800CDD97F1}" srcOrd="1" destOrd="0" presId="urn:microsoft.com/office/officeart/2005/8/layout/pyramid3"/>
    <dgm:cxn modelId="{82B13066-A457-445A-9EEE-E15C5256AAF9}" type="presParOf" srcId="{632EFD92-79CB-4CF9-A96E-08800CDD97F1}" destId="{209D579F-7756-4383-874C-7E3A5AC1DF95}" srcOrd="0" destOrd="0" presId="urn:microsoft.com/office/officeart/2005/8/layout/pyramid3"/>
    <dgm:cxn modelId="{08157BB5-F6C8-43FF-9B8D-67D214C6C652}" type="presParOf" srcId="{632EFD92-79CB-4CF9-A96E-08800CDD97F1}" destId="{8019DAB0-616C-431B-A582-2B67078B3D23}" srcOrd="1" destOrd="0" presId="urn:microsoft.com/office/officeart/2005/8/layout/pyramid3"/>
    <dgm:cxn modelId="{C0327BBB-8C48-4094-83DC-7382DE2029A4}" type="presParOf" srcId="{6549BF10-BDB7-4BE9-978B-63DC639327A9}" destId="{DCDDA585-C1DE-4C08-803D-F01209271DFA}" srcOrd="2" destOrd="0" presId="urn:microsoft.com/office/officeart/2005/8/layout/pyramid3"/>
    <dgm:cxn modelId="{D1253148-C921-432B-9A5E-00146FAC295E}" type="presParOf" srcId="{DCDDA585-C1DE-4C08-803D-F01209271DFA}" destId="{E3B81AB0-C556-44E1-8E26-2B4F43586494}" srcOrd="0" destOrd="0" presId="urn:microsoft.com/office/officeart/2005/8/layout/pyramid3"/>
    <dgm:cxn modelId="{8AB480D9-6779-4577-A691-80711EEAACB8}" type="presParOf" srcId="{DCDDA585-C1DE-4C08-803D-F01209271DFA}" destId="{F2119CE5-963C-4124-AE53-1ABBEBD99515}" srcOrd="1" destOrd="0" presId="urn:microsoft.com/office/officeart/2005/8/layout/pyramid3"/>
    <dgm:cxn modelId="{53D32AFC-4E33-4968-8CF1-7F2600A520FF}" type="presParOf" srcId="{6549BF10-BDB7-4BE9-978B-63DC639327A9}" destId="{2414FBA8-4706-43BA-A742-57A653F73CD8}" srcOrd="3" destOrd="0" presId="urn:microsoft.com/office/officeart/2005/8/layout/pyramid3"/>
    <dgm:cxn modelId="{882A8D69-FB2E-485D-93DE-B122EE19D210}" type="presParOf" srcId="{2414FBA8-4706-43BA-A742-57A653F73CD8}" destId="{EFC9B7F5-0C26-4B82-B7A7-3D5EFB85E9EC}" srcOrd="0" destOrd="0" presId="urn:microsoft.com/office/officeart/2005/8/layout/pyramid3"/>
    <dgm:cxn modelId="{F327AC33-6550-4EA2-8E09-744D56E7A525}" type="presParOf" srcId="{2414FBA8-4706-43BA-A742-57A653F73CD8}" destId="{81F7AFAC-CA1A-4F6B-869C-787DF1A3F442}" srcOrd="1" destOrd="0" presId="urn:microsoft.com/office/officeart/2005/8/layout/pyramid3"/>
  </dgm:cxnLst>
  <dgm:bg>
    <a:effectLst>
      <a:outerShdw blurRad="50800" dist="38100" dir="2700000" algn="tl" rotWithShape="0">
        <a:prstClr val="black">
          <a:alpha val="40000"/>
        </a:prstClr>
      </a:outerShdw>
    </a:effectLst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EF87BDD-24D3-4688-9586-B8BEB7A646B8}" type="doc">
      <dgm:prSet loTypeId="urn:microsoft.com/office/officeart/2005/8/layout/pyramid3" loCatId="pyramid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AR"/>
        </a:p>
      </dgm:t>
    </dgm:pt>
    <dgm:pt modelId="{FAAAC43C-FBF2-46D6-8434-75D0A602F976}">
      <dgm:prSet phldrT="[Texto]" custT="1"/>
      <dgm:spPr>
        <a:xfrm rot="10800000">
          <a:off x="0" y="0"/>
          <a:ext cx="1825619" cy="615014"/>
        </a:xfrm>
        <a:prstGeom prst="trapezoid">
          <a:avLst>
            <a:gd name="adj" fmla="val 29684"/>
          </a:avLst>
        </a:prstGeom>
        <a:solidFill>
          <a:srgbClr val="1B365D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s-ES" sz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Conocimiento Total </a:t>
          </a:r>
        </a:p>
      </dgm:t>
    </dgm:pt>
    <dgm:pt modelId="{7470A461-2A36-47FA-B5CA-A2374CC20843}" type="parTrans" cxnId="{5FFA5ABC-B8D8-4130-A266-8FE5E820A4FD}">
      <dgm:prSet/>
      <dgm:spPr/>
      <dgm:t>
        <a:bodyPr/>
        <a:lstStyle/>
        <a:p>
          <a:endParaRPr lang="es-ES" sz="1400"/>
        </a:p>
      </dgm:t>
    </dgm:pt>
    <dgm:pt modelId="{21EEA11D-CA8D-48EC-86F0-CD3BF92FBAD7}" type="sibTrans" cxnId="{5FFA5ABC-B8D8-4130-A266-8FE5E820A4FD}">
      <dgm:prSet/>
      <dgm:spPr/>
      <dgm:t>
        <a:bodyPr/>
        <a:lstStyle/>
        <a:p>
          <a:endParaRPr lang="es-ES" sz="1400"/>
        </a:p>
      </dgm:t>
    </dgm:pt>
    <dgm:pt modelId="{B4F756BA-75B3-42E3-92D7-310ED93E9D9A}">
      <dgm:prSet custT="1"/>
      <dgm:spPr>
        <a:xfrm rot="10800000">
          <a:off x="182561" y="615014"/>
          <a:ext cx="1460495" cy="615014"/>
        </a:xfrm>
        <a:prstGeom prst="trapezoid">
          <a:avLst>
            <a:gd name="adj" fmla="val 29684"/>
          </a:avLst>
        </a:prstGeom>
        <a:solidFill>
          <a:srgbClr val="30E845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 lIns="0" rIns="0"/>
        <a:lstStyle/>
        <a:p>
          <a:pPr>
            <a:buNone/>
          </a:pPr>
          <a:r>
            <a:rPr lang="es-ES" sz="12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Consideración</a:t>
          </a:r>
        </a:p>
      </dgm:t>
    </dgm:pt>
    <dgm:pt modelId="{F8562272-E768-4762-943A-3DFACBE8D9B9}" type="parTrans" cxnId="{90FAEC29-7F54-4109-9D19-DFB896D048C6}">
      <dgm:prSet/>
      <dgm:spPr/>
      <dgm:t>
        <a:bodyPr/>
        <a:lstStyle/>
        <a:p>
          <a:endParaRPr lang="es-ES" sz="1400"/>
        </a:p>
      </dgm:t>
    </dgm:pt>
    <dgm:pt modelId="{7D0E2CD0-4FAF-4B25-8D3F-225C6EC7B108}" type="sibTrans" cxnId="{90FAEC29-7F54-4109-9D19-DFB896D048C6}">
      <dgm:prSet/>
      <dgm:spPr/>
      <dgm:t>
        <a:bodyPr/>
        <a:lstStyle/>
        <a:p>
          <a:endParaRPr lang="es-ES" sz="1400"/>
        </a:p>
      </dgm:t>
    </dgm:pt>
    <dgm:pt modelId="{AD9A90A6-E796-411B-82BA-39B5CA3CCDAD}">
      <dgm:prSet custT="1"/>
      <dgm:spPr>
        <a:xfrm rot="10800000">
          <a:off x="365123" y="1230029"/>
          <a:ext cx="1095371" cy="615014"/>
        </a:xfrm>
        <a:prstGeom prst="trapezoid">
          <a:avLst>
            <a:gd name="adj" fmla="val 29684"/>
          </a:avLst>
        </a:prstGeom>
        <a:solidFill>
          <a:srgbClr val="3FE19B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 lIns="0" rIns="0"/>
        <a:lstStyle/>
        <a:p>
          <a:pPr>
            <a:buNone/>
          </a:pPr>
          <a:r>
            <a:rPr lang="es-ES" sz="12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Compro último mes</a:t>
          </a:r>
        </a:p>
      </dgm:t>
    </dgm:pt>
    <dgm:pt modelId="{85EFFE0C-1849-4D3E-A20E-EE66D4B6A5A8}" type="parTrans" cxnId="{ED7E1C48-6AE2-4078-8F43-58AA3EA8BE44}">
      <dgm:prSet/>
      <dgm:spPr/>
      <dgm:t>
        <a:bodyPr/>
        <a:lstStyle/>
        <a:p>
          <a:endParaRPr lang="es-ES" sz="1400"/>
        </a:p>
      </dgm:t>
    </dgm:pt>
    <dgm:pt modelId="{B7A939B5-16C7-41BC-AFAE-EFD77700B165}" type="sibTrans" cxnId="{ED7E1C48-6AE2-4078-8F43-58AA3EA8BE44}">
      <dgm:prSet/>
      <dgm:spPr/>
      <dgm:t>
        <a:bodyPr/>
        <a:lstStyle/>
        <a:p>
          <a:endParaRPr lang="es-ES" sz="1400"/>
        </a:p>
      </dgm:t>
    </dgm:pt>
    <dgm:pt modelId="{7D0A6224-81D7-41DB-ACC3-2E73D552608D}">
      <dgm:prSet custT="1"/>
      <dgm:spPr>
        <a:xfrm rot="10800000">
          <a:off x="547685" y="1845043"/>
          <a:ext cx="730247" cy="615014"/>
        </a:xfrm>
        <a:prstGeom prst="trapezoid">
          <a:avLst>
            <a:gd name="adj" fmla="val 29684"/>
          </a:avLst>
        </a:prstGeom>
        <a:solidFill>
          <a:srgbClr val="4DD8DB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s-ES" sz="105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Más frecuente</a:t>
          </a:r>
        </a:p>
      </dgm:t>
    </dgm:pt>
    <dgm:pt modelId="{16AFBF77-FB0E-4A37-B760-D245CC195E29}" type="parTrans" cxnId="{577E3199-206A-4AF6-8294-1DC9EF615F19}">
      <dgm:prSet/>
      <dgm:spPr/>
      <dgm:t>
        <a:bodyPr/>
        <a:lstStyle/>
        <a:p>
          <a:endParaRPr lang="es-ES" sz="1400"/>
        </a:p>
      </dgm:t>
    </dgm:pt>
    <dgm:pt modelId="{6BCAEB2B-7EE8-4A5B-9384-C9EC31A1F16E}" type="sibTrans" cxnId="{577E3199-206A-4AF6-8294-1DC9EF615F19}">
      <dgm:prSet/>
      <dgm:spPr/>
      <dgm:t>
        <a:bodyPr/>
        <a:lstStyle/>
        <a:p>
          <a:endParaRPr lang="es-ES" sz="1400"/>
        </a:p>
      </dgm:t>
    </dgm:pt>
    <dgm:pt modelId="{6549BF10-BDB7-4BE9-978B-63DC639327A9}" type="pres">
      <dgm:prSet presAssocID="{CEF87BDD-24D3-4688-9586-B8BEB7A646B8}" presName="Name0" presStyleCnt="0">
        <dgm:presLayoutVars>
          <dgm:dir/>
          <dgm:animLvl val="lvl"/>
          <dgm:resizeHandles val="exact"/>
        </dgm:presLayoutVars>
      </dgm:prSet>
      <dgm:spPr/>
    </dgm:pt>
    <dgm:pt modelId="{09AD8397-E18D-48E1-9D83-2EC96FA1ABD2}" type="pres">
      <dgm:prSet presAssocID="{FAAAC43C-FBF2-46D6-8434-75D0A602F976}" presName="Name8" presStyleCnt="0"/>
      <dgm:spPr/>
    </dgm:pt>
    <dgm:pt modelId="{702F5711-EEBF-4887-A4E9-BB99F9CD1A89}" type="pres">
      <dgm:prSet presAssocID="{FAAAC43C-FBF2-46D6-8434-75D0A602F976}" presName="level" presStyleLbl="node1" presStyleIdx="0" presStyleCnt="4" custLinFactNeighborX="5900" custLinFactNeighborY="16637">
        <dgm:presLayoutVars>
          <dgm:chMax val="1"/>
          <dgm:bulletEnabled val="1"/>
        </dgm:presLayoutVars>
      </dgm:prSet>
      <dgm:spPr/>
    </dgm:pt>
    <dgm:pt modelId="{0AC3F86B-646B-417D-B003-A1DD2819BE82}" type="pres">
      <dgm:prSet presAssocID="{FAAAC43C-FBF2-46D6-8434-75D0A602F97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32EFD92-79CB-4CF9-A96E-08800CDD97F1}" type="pres">
      <dgm:prSet presAssocID="{B4F756BA-75B3-42E3-92D7-310ED93E9D9A}" presName="Name8" presStyleCnt="0"/>
      <dgm:spPr/>
    </dgm:pt>
    <dgm:pt modelId="{209D579F-7756-4383-874C-7E3A5AC1DF95}" type="pres">
      <dgm:prSet presAssocID="{B4F756BA-75B3-42E3-92D7-310ED93E9D9A}" presName="level" presStyleLbl="node1" presStyleIdx="1" presStyleCnt="4">
        <dgm:presLayoutVars>
          <dgm:chMax val="1"/>
          <dgm:bulletEnabled val="1"/>
        </dgm:presLayoutVars>
      </dgm:prSet>
      <dgm:spPr/>
    </dgm:pt>
    <dgm:pt modelId="{8019DAB0-616C-431B-A582-2B67078B3D23}" type="pres">
      <dgm:prSet presAssocID="{B4F756BA-75B3-42E3-92D7-310ED93E9D9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CDDA585-C1DE-4C08-803D-F01209271DFA}" type="pres">
      <dgm:prSet presAssocID="{AD9A90A6-E796-411B-82BA-39B5CA3CCDAD}" presName="Name8" presStyleCnt="0"/>
      <dgm:spPr/>
    </dgm:pt>
    <dgm:pt modelId="{E3B81AB0-C556-44E1-8E26-2B4F43586494}" type="pres">
      <dgm:prSet presAssocID="{AD9A90A6-E796-411B-82BA-39B5CA3CCDAD}" presName="level" presStyleLbl="node1" presStyleIdx="2" presStyleCnt="4" custScaleX="118840" custLinFactNeighborY="0">
        <dgm:presLayoutVars>
          <dgm:chMax val="1"/>
          <dgm:bulletEnabled val="1"/>
        </dgm:presLayoutVars>
      </dgm:prSet>
      <dgm:spPr/>
    </dgm:pt>
    <dgm:pt modelId="{F2119CE5-963C-4124-AE53-1ABBEBD99515}" type="pres">
      <dgm:prSet presAssocID="{AD9A90A6-E796-411B-82BA-39B5CA3CCDA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14FBA8-4706-43BA-A742-57A653F73CD8}" type="pres">
      <dgm:prSet presAssocID="{7D0A6224-81D7-41DB-ACC3-2E73D552608D}" presName="Name8" presStyleCnt="0"/>
      <dgm:spPr/>
    </dgm:pt>
    <dgm:pt modelId="{EFC9B7F5-0C26-4B82-B7A7-3D5EFB85E9EC}" type="pres">
      <dgm:prSet presAssocID="{7D0A6224-81D7-41DB-ACC3-2E73D552608D}" presName="level" presStyleLbl="node1" presStyleIdx="3" presStyleCnt="4" custScaleX="168213" custScaleY="88187">
        <dgm:presLayoutVars>
          <dgm:chMax val="1"/>
          <dgm:bulletEnabled val="1"/>
        </dgm:presLayoutVars>
      </dgm:prSet>
      <dgm:spPr/>
    </dgm:pt>
    <dgm:pt modelId="{81F7AFAC-CA1A-4F6B-869C-787DF1A3F442}" type="pres">
      <dgm:prSet presAssocID="{7D0A6224-81D7-41DB-ACC3-2E73D552608D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90FAEC29-7F54-4109-9D19-DFB896D048C6}" srcId="{CEF87BDD-24D3-4688-9586-B8BEB7A646B8}" destId="{B4F756BA-75B3-42E3-92D7-310ED93E9D9A}" srcOrd="1" destOrd="0" parTransId="{F8562272-E768-4762-943A-3DFACBE8D9B9}" sibTransId="{7D0E2CD0-4FAF-4B25-8D3F-225C6EC7B108}"/>
    <dgm:cxn modelId="{50B8ED2A-2C62-4F8C-98C5-957CC3419FC9}" type="presOf" srcId="{FAAAC43C-FBF2-46D6-8434-75D0A602F976}" destId="{702F5711-EEBF-4887-A4E9-BB99F9CD1A89}" srcOrd="0" destOrd="0" presId="urn:microsoft.com/office/officeart/2005/8/layout/pyramid3"/>
    <dgm:cxn modelId="{9E7D2138-ED87-473D-A187-24A20FDD133D}" type="presOf" srcId="{7D0A6224-81D7-41DB-ACC3-2E73D552608D}" destId="{EFC9B7F5-0C26-4B82-B7A7-3D5EFB85E9EC}" srcOrd="0" destOrd="0" presId="urn:microsoft.com/office/officeart/2005/8/layout/pyramid3"/>
    <dgm:cxn modelId="{9F1A3A5B-4637-41FE-B906-14FC7927B09E}" type="presOf" srcId="{B4F756BA-75B3-42E3-92D7-310ED93E9D9A}" destId="{8019DAB0-616C-431B-A582-2B67078B3D23}" srcOrd="1" destOrd="0" presId="urn:microsoft.com/office/officeart/2005/8/layout/pyramid3"/>
    <dgm:cxn modelId="{7FA3E45C-34C7-4206-8F86-F8A0750E3CB4}" type="presOf" srcId="{B4F756BA-75B3-42E3-92D7-310ED93E9D9A}" destId="{209D579F-7756-4383-874C-7E3A5AC1DF95}" srcOrd="0" destOrd="0" presId="urn:microsoft.com/office/officeart/2005/8/layout/pyramid3"/>
    <dgm:cxn modelId="{ED7E1C48-6AE2-4078-8F43-58AA3EA8BE44}" srcId="{CEF87BDD-24D3-4688-9586-B8BEB7A646B8}" destId="{AD9A90A6-E796-411B-82BA-39B5CA3CCDAD}" srcOrd="2" destOrd="0" parTransId="{85EFFE0C-1849-4D3E-A20E-EE66D4B6A5A8}" sibTransId="{B7A939B5-16C7-41BC-AFAE-EFD77700B165}"/>
    <dgm:cxn modelId="{D5B7C251-ABA6-4B7D-B57B-91CB77CEEB59}" type="presOf" srcId="{7D0A6224-81D7-41DB-ACC3-2E73D552608D}" destId="{81F7AFAC-CA1A-4F6B-869C-787DF1A3F442}" srcOrd="1" destOrd="0" presId="urn:microsoft.com/office/officeart/2005/8/layout/pyramid3"/>
    <dgm:cxn modelId="{577E3199-206A-4AF6-8294-1DC9EF615F19}" srcId="{CEF87BDD-24D3-4688-9586-B8BEB7A646B8}" destId="{7D0A6224-81D7-41DB-ACC3-2E73D552608D}" srcOrd="3" destOrd="0" parTransId="{16AFBF77-FB0E-4A37-B760-D245CC195E29}" sibTransId="{6BCAEB2B-7EE8-4A5B-9384-C9EC31A1F16E}"/>
    <dgm:cxn modelId="{6DCDE6B2-2C62-446E-BB38-53286FF7FEC5}" type="presOf" srcId="{AD9A90A6-E796-411B-82BA-39B5CA3CCDAD}" destId="{F2119CE5-963C-4124-AE53-1ABBEBD99515}" srcOrd="1" destOrd="0" presId="urn:microsoft.com/office/officeart/2005/8/layout/pyramid3"/>
    <dgm:cxn modelId="{5FFA5ABC-B8D8-4130-A266-8FE5E820A4FD}" srcId="{CEF87BDD-24D3-4688-9586-B8BEB7A646B8}" destId="{FAAAC43C-FBF2-46D6-8434-75D0A602F976}" srcOrd="0" destOrd="0" parTransId="{7470A461-2A36-47FA-B5CA-A2374CC20843}" sibTransId="{21EEA11D-CA8D-48EC-86F0-CD3BF92FBAD7}"/>
    <dgm:cxn modelId="{937870CC-710C-4C3C-B598-A8F7C91C040D}" type="presOf" srcId="{FAAAC43C-FBF2-46D6-8434-75D0A602F976}" destId="{0AC3F86B-646B-417D-B003-A1DD2819BE82}" srcOrd="1" destOrd="0" presId="urn:microsoft.com/office/officeart/2005/8/layout/pyramid3"/>
    <dgm:cxn modelId="{9B2A29D4-5148-4088-A79D-519FE38D0FC7}" type="presOf" srcId="{AD9A90A6-E796-411B-82BA-39B5CA3CCDAD}" destId="{E3B81AB0-C556-44E1-8E26-2B4F43586494}" srcOrd="0" destOrd="0" presId="urn:microsoft.com/office/officeart/2005/8/layout/pyramid3"/>
    <dgm:cxn modelId="{97EFAEE5-6EC8-4A59-873B-07518386BA59}" type="presOf" srcId="{CEF87BDD-24D3-4688-9586-B8BEB7A646B8}" destId="{6549BF10-BDB7-4BE9-978B-63DC639327A9}" srcOrd="0" destOrd="0" presId="urn:microsoft.com/office/officeart/2005/8/layout/pyramid3"/>
    <dgm:cxn modelId="{489FF701-E9AD-42EB-ABBE-42FA92C20C83}" type="presParOf" srcId="{6549BF10-BDB7-4BE9-978B-63DC639327A9}" destId="{09AD8397-E18D-48E1-9D83-2EC96FA1ABD2}" srcOrd="0" destOrd="0" presId="urn:microsoft.com/office/officeart/2005/8/layout/pyramid3"/>
    <dgm:cxn modelId="{C8ACB2AD-199A-422B-B88C-C1BC0C137DA1}" type="presParOf" srcId="{09AD8397-E18D-48E1-9D83-2EC96FA1ABD2}" destId="{702F5711-EEBF-4887-A4E9-BB99F9CD1A89}" srcOrd="0" destOrd="0" presId="urn:microsoft.com/office/officeart/2005/8/layout/pyramid3"/>
    <dgm:cxn modelId="{E07F54E9-AFD0-4460-BE0F-E894EC8523CC}" type="presParOf" srcId="{09AD8397-E18D-48E1-9D83-2EC96FA1ABD2}" destId="{0AC3F86B-646B-417D-B003-A1DD2819BE82}" srcOrd="1" destOrd="0" presId="urn:microsoft.com/office/officeart/2005/8/layout/pyramid3"/>
    <dgm:cxn modelId="{678A2B3F-C00E-439A-B6CB-1BD09F28F3DF}" type="presParOf" srcId="{6549BF10-BDB7-4BE9-978B-63DC639327A9}" destId="{632EFD92-79CB-4CF9-A96E-08800CDD97F1}" srcOrd="1" destOrd="0" presId="urn:microsoft.com/office/officeart/2005/8/layout/pyramid3"/>
    <dgm:cxn modelId="{82B13066-A457-445A-9EEE-E15C5256AAF9}" type="presParOf" srcId="{632EFD92-79CB-4CF9-A96E-08800CDD97F1}" destId="{209D579F-7756-4383-874C-7E3A5AC1DF95}" srcOrd="0" destOrd="0" presId="urn:microsoft.com/office/officeart/2005/8/layout/pyramid3"/>
    <dgm:cxn modelId="{08157BB5-F6C8-43FF-9B8D-67D214C6C652}" type="presParOf" srcId="{632EFD92-79CB-4CF9-A96E-08800CDD97F1}" destId="{8019DAB0-616C-431B-A582-2B67078B3D23}" srcOrd="1" destOrd="0" presId="urn:microsoft.com/office/officeart/2005/8/layout/pyramid3"/>
    <dgm:cxn modelId="{C0327BBB-8C48-4094-83DC-7382DE2029A4}" type="presParOf" srcId="{6549BF10-BDB7-4BE9-978B-63DC639327A9}" destId="{DCDDA585-C1DE-4C08-803D-F01209271DFA}" srcOrd="2" destOrd="0" presId="urn:microsoft.com/office/officeart/2005/8/layout/pyramid3"/>
    <dgm:cxn modelId="{D1253148-C921-432B-9A5E-00146FAC295E}" type="presParOf" srcId="{DCDDA585-C1DE-4C08-803D-F01209271DFA}" destId="{E3B81AB0-C556-44E1-8E26-2B4F43586494}" srcOrd="0" destOrd="0" presId="urn:microsoft.com/office/officeart/2005/8/layout/pyramid3"/>
    <dgm:cxn modelId="{8AB480D9-6779-4577-A691-80711EEAACB8}" type="presParOf" srcId="{DCDDA585-C1DE-4C08-803D-F01209271DFA}" destId="{F2119CE5-963C-4124-AE53-1ABBEBD99515}" srcOrd="1" destOrd="0" presId="urn:microsoft.com/office/officeart/2005/8/layout/pyramid3"/>
    <dgm:cxn modelId="{53D32AFC-4E33-4968-8CF1-7F2600A520FF}" type="presParOf" srcId="{6549BF10-BDB7-4BE9-978B-63DC639327A9}" destId="{2414FBA8-4706-43BA-A742-57A653F73CD8}" srcOrd="3" destOrd="0" presId="urn:microsoft.com/office/officeart/2005/8/layout/pyramid3"/>
    <dgm:cxn modelId="{882A8D69-FB2E-485D-93DE-B122EE19D210}" type="presParOf" srcId="{2414FBA8-4706-43BA-A742-57A653F73CD8}" destId="{EFC9B7F5-0C26-4B82-B7A7-3D5EFB85E9EC}" srcOrd="0" destOrd="0" presId="urn:microsoft.com/office/officeart/2005/8/layout/pyramid3"/>
    <dgm:cxn modelId="{F327AC33-6550-4EA2-8E09-744D56E7A525}" type="presParOf" srcId="{2414FBA8-4706-43BA-A742-57A653F73CD8}" destId="{81F7AFAC-CA1A-4F6B-869C-787DF1A3F442}" srcOrd="1" destOrd="0" presId="urn:microsoft.com/office/officeart/2005/8/layout/pyramid3"/>
  </dgm:cxnLst>
  <dgm:bg>
    <a:effectLst>
      <a:outerShdw blurRad="50800" dist="38100" dir="2700000" algn="tl" rotWithShape="0">
        <a:prstClr val="black">
          <a:alpha val="40000"/>
        </a:prstClr>
      </a:outerShdw>
    </a:effectLst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EF87BDD-24D3-4688-9586-B8BEB7A646B8}" type="doc">
      <dgm:prSet loTypeId="urn:microsoft.com/office/officeart/2005/8/layout/pyramid3" loCatId="pyramid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AR"/>
        </a:p>
      </dgm:t>
    </dgm:pt>
    <dgm:pt modelId="{FAAAC43C-FBF2-46D6-8434-75D0A602F976}">
      <dgm:prSet phldrT="[Texto]" custT="1"/>
      <dgm:spPr>
        <a:xfrm rot="10800000">
          <a:off x="0" y="0"/>
          <a:ext cx="1825619" cy="615014"/>
        </a:xfrm>
        <a:prstGeom prst="trapezoid">
          <a:avLst>
            <a:gd name="adj" fmla="val 29684"/>
          </a:avLst>
        </a:prstGeom>
        <a:solidFill>
          <a:srgbClr val="1B365D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s-ES" sz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Conocimiento Total </a:t>
          </a:r>
        </a:p>
      </dgm:t>
    </dgm:pt>
    <dgm:pt modelId="{7470A461-2A36-47FA-B5CA-A2374CC20843}" type="parTrans" cxnId="{5FFA5ABC-B8D8-4130-A266-8FE5E820A4FD}">
      <dgm:prSet/>
      <dgm:spPr/>
      <dgm:t>
        <a:bodyPr/>
        <a:lstStyle/>
        <a:p>
          <a:endParaRPr lang="es-ES" sz="1400"/>
        </a:p>
      </dgm:t>
    </dgm:pt>
    <dgm:pt modelId="{21EEA11D-CA8D-48EC-86F0-CD3BF92FBAD7}" type="sibTrans" cxnId="{5FFA5ABC-B8D8-4130-A266-8FE5E820A4FD}">
      <dgm:prSet/>
      <dgm:spPr/>
      <dgm:t>
        <a:bodyPr/>
        <a:lstStyle/>
        <a:p>
          <a:endParaRPr lang="es-ES" sz="1400"/>
        </a:p>
      </dgm:t>
    </dgm:pt>
    <dgm:pt modelId="{B4F756BA-75B3-42E3-92D7-310ED93E9D9A}">
      <dgm:prSet custT="1"/>
      <dgm:spPr>
        <a:xfrm rot="10800000">
          <a:off x="182561" y="615014"/>
          <a:ext cx="1460495" cy="615014"/>
        </a:xfrm>
        <a:prstGeom prst="trapezoid">
          <a:avLst>
            <a:gd name="adj" fmla="val 29684"/>
          </a:avLst>
        </a:prstGeom>
        <a:solidFill>
          <a:srgbClr val="30E845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 lIns="0" rIns="0"/>
        <a:lstStyle/>
        <a:p>
          <a:pPr>
            <a:buNone/>
          </a:pPr>
          <a:r>
            <a:rPr lang="es-ES" sz="12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Consideración</a:t>
          </a:r>
        </a:p>
      </dgm:t>
    </dgm:pt>
    <dgm:pt modelId="{F8562272-E768-4762-943A-3DFACBE8D9B9}" type="parTrans" cxnId="{90FAEC29-7F54-4109-9D19-DFB896D048C6}">
      <dgm:prSet/>
      <dgm:spPr/>
      <dgm:t>
        <a:bodyPr/>
        <a:lstStyle/>
        <a:p>
          <a:endParaRPr lang="es-ES" sz="1400"/>
        </a:p>
      </dgm:t>
    </dgm:pt>
    <dgm:pt modelId="{7D0E2CD0-4FAF-4B25-8D3F-225C6EC7B108}" type="sibTrans" cxnId="{90FAEC29-7F54-4109-9D19-DFB896D048C6}">
      <dgm:prSet/>
      <dgm:spPr/>
      <dgm:t>
        <a:bodyPr/>
        <a:lstStyle/>
        <a:p>
          <a:endParaRPr lang="es-ES" sz="1400"/>
        </a:p>
      </dgm:t>
    </dgm:pt>
    <dgm:pt modelId="{AD9A90A6-E796-411B-82BA-39B5CA3CCDAD}">
      <dgm:prSet custT="1"/>
      <dgm:spPr>
        <a:xfrm rot="10800000">
          <a:off x="365123" y="1230029"/>
          <a:ext cx="1095371" cy="615014"/>
        </a:xfrm>
        <a:prstGeom prst="trapezoid">
          <a:avLst>
            <a:gd name="adj" fmla="val 29684"/>
          </a:avLst>
        </a:prstGeom>
        <a:solidFill>
          <a:srgbClr val="3FE19B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 lIns="0" rIns="0"/>
        <a:lstStyle/>
        <a:p>
          <a:pPr>
            <a:buNone/>
          </a:pPr>
          <a:r>
            <a:rPr lang="es-ES" sz="12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Compro último mes</a:t>
          </a:r>
        </a:p>
      </dgm:t>
    </dgm:pt>
    <dgm:pt modelId="{85EFFE0C-1849-4D3E-A20E-EE66D4B6A5A8}" type="parTrans" cxnId="{ED7E1C48-6AE2-4078-8F43-58AA3EA8BE44}">
      <dgm:prSet/>
      <dgm:spPr/>
      <dgm:t>
        <a:bodyPr/>
        <a:lstStyle/>
        <a:p>
          <a:endParaRPr lang="es-ES" sz="1400"/>
        </a:p>
      </dgm:t>
    </dgm:pt>
    <dgm:pt modelId="{B7A939B5-16C7-41BC-AFAE-EFD77700B165}" type="sibTrans" cxnId="{ED7E1C48-6AE2-4078-8F43-58AA3EA8BE44}">
      <dgm:prSet/>
      <dgm:spPr/>
      <dgm:t>
        <a:bodyPr/>
        <a:lstStyle/>
        <a:p>
          <a:endParaRPr lang="es-ES" sz="1400"/>
        </a:p>
      </dgm:t>
    </dgm:pt>
    <dgm:pt modelId="{7D0A6224-81D7-41DB-ACC3-2E73D552608D}">
      <dgm:prSet custT="1"/>
      <dgm:spPr>
        <a:xfrm rot="10800000">
          <a:off x="547685" y="1845043"/>
          <a:ext cx="730247" cy="615014"/>
        </a:xfrm>
        <a:prstGeom prst="trapezoid">
          <a:avLst>
            <a:gd name="adj" fmla="val 29684"/>
          </a:avLst>
        </a:prstGeom>
        <a:solidFill>
          <a:srgbClr val="4DD8DB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s-ES" sz="105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Más frecuente</a:t>
          </a:r>
        </a:p>
      </dgm:t>
    </dgm:pt>
    <dgm:pt modelId="{16AFBF77-FB0E-4A37-B760-D245CC195E29}" type="parTrans" cxnId="{577E3199-206A-4AF6-8294-1DC9EF615F19}">
      <dgm:prSet/>
      <dgm:spPr/>
      <dgm:t>
        <a:bodyPr/>
        <a:lstStyle/>
        <a:p>
          <a:endParaRPr lang="es-ES" sz="1400"/>
        </a:p>
      </dgm:t>
    </dgm:pt>
    <dgm:pt modelId="{6BCAEB2B-7EE8-4A5B-9384-C9EC31A1F16E}" type="sibTrans" cxnId="{577E3199-206A-4AF6-8294-1DC9EF615F19}">
      <dgm:prSet/>
      <dgm:spPr/>
      <dgm:t>
        <a:bodyPr/>
        <a:lstStyle/>
        <a:p>
          <a:endParaRPr lang="es-ES" sz="1400"/>
        </a:p>
      </dgm:t>
    </dgm:pt>
    <dgm:pt modelId="{6549BF10-BDB7-4BE9-978B-63DC639327A9}" type="pres">
      <dgm:prSet presAssocID="{CEF87BDD-24D3-4688-9586-B8BEB7A646B8}" presName="Name0" presStyleCnt="0">
        <dgm:presLayoutVars>
          <dgm:dir/>
          <dgm:animLvl val="lvl"/>
          <dgm:resizeHandles val="exact"/>
        </dgm:presLayoutVars>
      </dgm:prSet>
      <dgm:spPr/>
    </dgm:pt>
    <dgm:pt modelId="{09AD8397-E18D-48E1-9D83-2EC96FA1ABD2}" type="pres">
      <dgm:prSet presAssocID="{FAAAC43C-FBF2-46D6-8434-75D0A602F976}" presName="Name8" presStyleCnt="0"/>
      <dgm:spPr/>
    </dgm:pt>
    <dgm:pt modelId="{702F5711-EEBF-4887-A4E9-BB99F9CD1A89}" type="pres">
      <dgm:prSet presAssocID="{FAAAC43C-FBF2-46D6-8434-75D0A602F976}" presName="level" presStyleLbl="node1" presStyleIdx="0" presStyleCnt="4" custLinFactNeighborX="5900" custLinFactNeighborY="16637">
        <dgm:presLayoutVars>
          <dgm:chMax val="1"/>
          <dgm:bulletEnabled val="1"/>
        </dgm:presLayoutVars>
      </dgm:prSet>
      <dgm:spPr/>
    </dgm:pt>
    <dgm:pt modelId="{0AC3F86B-646B-417D-B003-A1DD2819BE82}" type="pres">
      <dgm:prSet presAssocID="{FAAAC43C-FBF2-46D6-8434-75D0A602F97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32EFD92-79CB-4CF9-A96E-08800CDD97F1}" type="pres">
      <dgm:prSet presAssocID="{B4F756BA-75B3-42E3-92D7-310ED93E9D9A}" presName="Name8" presStyleCnt="0"/>
      <dgm:spPr/>
    </dgm:pt>
    <dgm:pt modelId="{209D579F-7756-4383-874C-7E3A5AC1DF95}" type="pres">
      <dgm:prSet presAssocID="{B4F756BA-75B3-42E3-92D7-310ED93E9D9A}" presName="level" presStyleLbl="node1" presStyleIdx="1" presStyleCnt="4">
        <dgm:presLayoutVars>
          <dgm:chMax val="1"/>
          <dgm:bulletEnabled val="1"/>
        </dgm:presLayoutVars>
      </dgm:prSet>
      <dgm:spPr/>
    </dgm:pt>
    <dgm:pt modelId="{8019DAB0-616C-431B-A582-2B67078B3D23}" type="pres">
      <dgm:prSet presAssocID="{B4F756BA-75B3-42E3-92D7-310ED93E9D9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CDDA585-C1DE-4C08-803D-F01209271DFA}" type="pres">
      <dgm:prSet presAssocID="{AD9A90A6-E796-411B-82BA-39B5CA3CCDAD}" presName="Name8" presStyleCnt="0"/>
      <dgm:spPr/>
    </dgm:pt>
    <dgm:pt modelId="{E3B81AB0-C556-44E1-8E26-2B4F43586494}" type="pres">
      <dgm:prSet presAssocID="{AD9A90A6-E796-411B-82BA-39B5CA3CCDAD}" presName="level" presStyleLbl="node1" presStyleIdx="2" presStyleCnt="4" custScaleX="118840" custLinFactNeighborY="0">
        <dgm:presLayoutVars>
          <dgm:chMax val="1"/>
          <dgm:bulletEnabled val="1"/>
        </dgm:presLayoutVars>
      </dgm:prSet>
      <dgm:spPr/>
    </dgm:pt>
    <dgm:pt modelId="{F2119CE5-963C-4124-AE53-1ABBEBD99515}" type="pres">
      <dgm:prSet presAssocID="{AD9A90A6-E796-411B-82BA-39B5CA3CCDA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14FBA8-4706-43BA-A742-57A653F73CD8}" type="pres">
      <dgm:prSet presAssocID="{7D0A6224-81D7-41DB-ACC3-2E73D552608D}" presName="Name8" presStyleCnt="0"/>
      <dgm:spPr/>
    </dgm:pt>
    <dgm:pt modelId="{EFC9B7F5-0C26-4B82-B7A7-3D5EFB85E9EC}" type="pres">
      <dgm:prSet presAssocID="{7D0A6224-81D7-41DB-ACC3-2E73D552608D}" presName="level" presStyleLbl="node1" presStyleIdx="3" presStyleCnt="4" custScaleX="168213" custScaleY="88187">
        <dgm:presLayoutVars>
          <dgm:chMax val="1"/>
          <dgm:bulletEnabled val="1"/>
        </dgm:presLayoutVars>
      </dgm:prSet>
      <dgm:spPr/>
    </dgm:pt>
    <dgm:pt modelId="{81F7AFAC-CA1A-4F6B-869C-787DF1A3F442}" type="pres">
      <dgm:prSet presAssocID="{7D0A6224-81D7-41DB-ACC3-2E73D552608D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90FAEC29-7F54-4109-9D19-DFB896D048C6}" srcId="{CEF87BDD-24D3-4688-9586-B8BEB7A646B8}" destId="{B4F756BA-75B3-42E3-92D7-310ED93E9D9A}" srcOrd="1" destOrd="0" parTransId="{F8562272-E768-4762-943A-3DFACBE8D9B9}" sibTransId="{7D0E2CD0-4FAF-4B25-8D3F-225C6EC7B108}"/>
    <dgm:cxn modelId="{50B8ED2A-2C62-4F8C-98C5-957CC3419FC9}" type="presOf" srcId="{FAAAC43C-FBF2-46D6-8434-75D0A602F976}" destId="{702F5711-EEBF-4887-A4E9-BB99F9CD1A89}" srcOrd="0" destOrd="0" presId="urn:microsoft.com/office/officeart/2005/8/layout/pyramid3"/>
    <dgm:cxn modelId="{9E7D2138-ED87-473D-A187-24A20FDD133D}" type="presOf" srcId="{7D0A6224-81D7-41DB-ACC3-2E73D552608D}" destId="{EFC9B7F5-0C26-4B82-B7A7-3D5EFB85E9EC}" srcOrd="0" destOrd="0" presId="urn:microsoft.com/office/officeart/2005/8/layout/pyramid3"/>
    <dgm:cxn modelId="{9F1A3A5B-4637-41FE-B906-14FC7927B09E}" type="presOf" srcId="{B4F756BA-75B3-42E3-92D7-310ED93E9D9A}" destId="{8019DAB0-616C-431B-A582-2B67078B3D23}" srcOrd="1" destOrd="0" presId="urn:microsoft.com/office/officeart/2005/8/layout/pyramid3"/>
    <dgm:cxn modelId="{7FA3E45C-34C7-4206-8F86-F8A0750E3CB4}" type="presOf" srcId="{B4F756BA-75B3-42E3-92D7-310ED93E9D9A}" destId="{209D579F-7756-4383-874C-7E3A5AC1DF95}" srcOrd="0" destOrd="0" presId="urn:microsoft.com/office/officeart/2005/8/layout/pyramid3"/>
    <dgm:cxn modelId="{ED7E1C48-6AE2-4078-8F43-58AA3EA8BE44}" srcId="{CEF87BDD-24D3-4688-9586-B8BEB7A646B8}" destId="{AD9A90A6-E796-411B-82BA-39B5CA3CCDAD}" srcOrd="2" destOrd="0" parTransId="{85EFFE0C-1849-4D3E-A20E-EE66D4B6A5A8}" sibTransId="{B7A939B5-16C7-41BC-AFAE-EFD77700B165}"/>
    <dgm:cxn modelId="{D5B7C251-ABA6-4B7D-B57B-91CB77CEEB59}" type="presOf" srcId="{7D0A6224-81D7-41DB-ACC3-2E73D552608D}" destId="{81F7AFAC-CA1A-4F6B-869C-787DF1A3F442}" srcOrd="1" destOrd="0" presId="urn:microsoft.com/office/officeart/2005/8/layout/pyramid3"/>
    <dgm:cxn modelId="{577E3199-206A-4AF6-8294-1DC9EF615F19}" srcId="{CEF87BDD-24D3-4688-9586-B8BEB7A646B8}" destId="{7D0A6224-81D7-41DB-ACC3-2E73D552608D}" srcOrd="3" destOrd="0" parTransId="{16AFBF77-FB0E-4A37-B760-D245CC195E29}" sibTransId="{6BCAEB2B-7EE8-4A5B-9384-C9EC31A1F16E}"/>
    <dgm:cxn modelId="{6DCDE6B2-2C62-446E-BB38-53286FF7FEC5}" type="presOf" srcId="{AD9A90A6-E796-411B-82BA-39B5CA3CCDAD}" destId="{F2119CE5-963C-4124-AE53-1ABBEBD99515}" srcOrd="1" destOrd="0" presId="urn:microsoft.com/office/officeart/2005/8/layout/pyramid3"/>
    <dgm:cxn modelId="{5FFA5ABC-B8D8-4130-A266-8FE5E820A4FD}" srcId="{CEF87BDD-24D3-4688-9586-B8BEB7A646B8}" destId="{FAAAC43C-FBF2-46D6-8434-75D0A602F976}" srcOrd="0" destOrd="0" parTransId="{7470A461-2A36-47FA-B5CA-A2374CC20843}" sibTransId="{21EEA11D-CA8D-48EC-86F0-CD3BF92FBAD7}"/>
    <dgm:cxn modelId="{937870CC-710C-4C3C-B598-A8F7C91C040D}" type="presOf" srcId="{FAAAC43C-FBF2-46D6-8434-75D0A602F976}" destId="{0AC3F86B-646B-417D-B003-A1DD2819BE82}" srcOrd="1" destOrd="0" presId="urn:microsoft.com/office/officeart/2005/8/layout/pyramid3"/>
    <dgm:cxn modelId="{9B2A29D4-5148-4088-A79D-519FE38D0FC7}" type="presOf" srcId="{AD9A90A6-E796-411B-82BA-39B5CA3CCDAD}" destId="{E3B81AB0-C556-44E1-8E26-2B4F43586494}" srcOrd="0" destOrd="0" presId="urn:microsoft.com/office/officeart/2005/8/layout/pyramid3"/>
    <dgm:cxn modelId="{97EFAEE5-6EC8-4A59-873B-07518386BA59}" type="presOf" srcId="{CEF87BDD-24D3-4688-9586-B8BEB7A646B8}" destId="{6549BF10-BDB7-4BE9-978B-63DC639327A9}" srcOrd="0" destOrd="0" presId="urn:microsoft.com/office/officeart/2005/8/layout/pyramid3"/>
    <dgm:cxn modelId="{489FF701-E9AD-42EB-ABBE-42FA92C20C83}" type="presParOf" srcId="{6549BF10-BDB7-4BE9-978B-63DC639327A9}" destId="{09AD8397-E18D-48E1-9D83-2EC96FA1ABD2}" srcOrd="0" destOrd="0" presId="urn:microsoft.com/office/officeart/2005/8/layout/pyramid3"/>
    <dgm:cxn modelId="{C8ACB2AD-199A-422B-B88C-C1BC0C137DA1}" type="presParOf" srcId="{09AD8397-E18D-48E1-9D83-2EC96FA1ABD2}" destId="{702F5711-EEBF-4887-A4E9-BB99F9CD1A89}" srcOrd="0" destOrd="0" presId="urn:microsoft.com/office/officeart/2005/8/layout/pyramid3"/>
    <dgm:cxn modelId="{E07F54E9-AFD0-4460-BE0F-E894EC8523CC}" type="presParOf" srcId="{09AD8397-E18D-48E1-9D83-2EC96FA1ABD2}" destId="{0AC3F86B-646B-417D-B003-A1DD2819BE82}" srcOrd="1" destOrd="0" presId="urn:microsoft.com/office/officeart/2005/8/layout/pyramid3"/>
    <dgm:cxn modelId="{678A2B3F-C00E-439A-B6CB-1BD09F28F3DF}" type="presParOf" srcId="{6549BF10-BDB7-4BE9-978B-63DC639327A9}" destId="{632EFD92-79CB-4CF9-A96E-08800CDD97F1}" srcOrd="1" destOrd="0" presId="urn:microsoft.com/office/officeart/2005/8/layout/pyramid3"/>
    <dgm:cxn modelId="{82B13066-A457-445A-9EEE-E15C5256AAF9}" type="presParOf" srcId="{632EFD92-79CB-4CF9-A96E-08800CDD97F1}" destId="{209D579F-7756-4383-874C-7E3A5AC1DF95}" srcOrd="0" destOrd="0" presId="urn:microsoft.com/office/officeart/2005/8/layout/pyramid3"/>
    <dgm:cxn modelId="{08157BB5-F6C8-43FF-9B8D-67D214C6C652}" type="presParOf" srcId="{632EFD92-79CB-4CF9-A96E-08800CDD97F1}" destId="{8019DAB0-616C-431B-A582-2B67078B3D23}" srcOrd="1" destOrd="0" presId="urn:microsoft.com/office/officeart/2005/8/layout/pyramid3"/>
    <dgm:cxn modelId="{C0327BBB-8C48-4094-83DC-7382DE2029A4}" type="presParOf" srcId="{6549BF10-BDB7-4BE9-978B-63DC639327A9}" destId="{DCDDA585-C1DE-4C08-803D-F01209271DFA}" srcOrd="2" destOrd="0" presId="urn:microsoft.com/office/officeart/2005/8/layout/pyramid3"/>
    <dgm:cxn modelId="{D1253148-C921-432B-9A5E-00146FAC295E}" type="presParOf" srcId="{DCDDA585-C1DE-4C08-803D-F01209271DFA}" destId="{E3B81AB0-C556-44E1-8E26-2B4F43586494}" srcOrd="0" destOrd="0" presId="urn:microsoft.com/office/officeart/2005/8/layout/pyramid3"/>
    <dgm:cxn modelId="{8AB480D9-6779-4577-A691-80711EEAACB8}" type="presParOf" srcId="{DCDDA585-C1DE-4C08-803D-F01209271DFA}" destId="{F2119CE5-963C-4124-AE53-1ABBEBD99515}" srcOrd="1" destOrd="0" presId="urn:microsoft.com/office/officeart/2005/8/layout/pyramid3"/>
    <dgm:cxn modelId="{53D32AFC-4E33-4968-8CF1-7F2600A520FF}" type="presParOf" srcId="{6549BF10-BDB7-4BE9-978B-63DC639327A9}" destId="{2414FBA8-4706-43BA-A742-57A653F73CD8}" srcOrd="3" destOrd="0" presId="urn:microsoft.com/office/officeart/2005/8/layout/pyramid3"/>
    <dgm:cxn modelId="{882A8D69-FB2E-485D-93DE-B122EE19D210}" type="presParOf" srcId="{2414FBA8-4706-43BA-A742-57A653F73CD8}" destId="{EFC9B7F5-0C26-4B82-B7A7-3D5EFB85E9EC}" srcOrd="0" destOrd="0" presId="urn:microsoft.com/office/officeart/2005/8/layout/pyramid3"/>
    <dgm:cxn modelId="{F327AC33-6550-4EA2-8E09-744D56E7A525}" type="presParOf" srcId="{2414FBA8-4706-43BA-A742-57A653F73CD8}" destId="{81F7AFAC-CA1A-4F6B-869C-787DF1A3F442}" srcOrd="1" destOrd="0" presId="urn:microsoft.com/office/officeart/2005/8/layout/pyramid3"/>
  </dgm:cxnLst>
  <dgm:bg>
    <a:effectLst>
      <a:outerShdw blurRad="50800" dist="38100" dir="2700000" algn="tl" rotWithShape="0">
        <a:prstClr val="black">
          <a:alpha val="40000"/>
        </a:prstClr>
      </a:outerShdw>
    </a:effectLst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2F5711-EEBF-4887-A4E9-BB99F9CD1A89}">
      <dsp:nvSpPr>
        <dsp:cNvPr id="0" name=""/>
        <dsp:cNvSpPr/>
      </dsp:nvSpPr>
      <dsp:spPr>
        <a:xfrm rot="10800000">
          <a:off x="0" y="137188"/>
          <a:ext cx="2062479" cy="824598"/>
        </a:xfrm>
        <a:prstGeom prst="trapezoid">
          <a:avLst>
            <a:gd name="adj" fmla="val 29684"/>
          </a:avLst>
        </a:prstGeom>
        <a:solidFill>
          <a:srgbClr val="1B365D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Conocimiento Total </a:t>
          </a:r>
        </a:p>
      </dsp:txBody>
      <dsp:txXfrm rot="-10800000">
        <a:off x="524116" y="237560"/>
        <a:ext cx="1014248" cy="724226"/>
      </dsp:txXfrm>
    </dsp:sp>
    <dsp:sp modelId="{209D579F-7756-4383-874C-7E3A5AC1DF95}">
      <dsp:nvSpPr>
        <dsp:cNvPr id="0" name=""/>
        <dsp:cNvSpPr/>
      </dsp:nvSpPr>
      <dsp:spPr>
        <a:xfrm rot="10800000">
          <a:off x="193039" y="824598"/>
          <a:ext cx="1676400" cy="824598"/>
        </a:xfrm>
        <a:prstGeom prst="trapezoid">
          <a:avLst>
            <a:gd name="adj" fmla="val 29684"/>
          </a:avLst>
        </a:prstGeom>
        <a:solidFill>
          <a:srgbClr val="30E845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1430" rIns="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+mn-lt"/>
              <a:ea typeface="+mn-ea"/>
              <a:cs typeface="+mn-cs"/>
            </a:rPr>
            <a:t>Consideración</a:t>
          </a:r>
        </a:p>
      </dsp:txBody>
      <dsp:txXfrm rot="-10800000">
        <a:off x="649591" y="948086"/>
        <a:ext cx="763296" cy="701110"/>
      </dsp:txXfrm>
    </dsp:sp>
    <dsp:sp modelId="{E3B81AB0-C556-44E1-8E26-2B4F43586494}">
      <dsp:nvSpPr>
        <dsp:cNvPr id="0" name=""/>
        <dsp:cNvSpPr/>
      </dsp:nvSpPr>
      <dsp:spPr>
        <a:xfrm rot="10800000">
          <a:off x="437124" y="1649197"/>
          <a:ext cx="1188231" cy="824598"/>
        </a:xfrm>
        <a:prstGeom prst="trapezoid">
          <a:avLst>
            <a:gd name="adj" fmla="val 29684"/>
          </a:avLst>
        </a:prstGeom>
        <a:solidFill>
          <a:srgbClr val="3FE19B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3970" rIns="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Compro último mes</a:t>
          </a:r>
        </a:p>
      </dsp:txBody>
      <dsp:txXfrm rot="-10800000">
        <a:off x="797907" y="1812379"/>
        <a:ext cx="466664" cy="661416"/>
      </dsp:txXfrm>
    </dsp:sp>
    <dsp:sp modelId="{EFC9B7F5-0C26-4B82-B7A7-3D5EFB85E9EC}">
      <dsp:nvSpPr>
        <dsp:cNvPr id="0" name=""/>
        <dsp:cNvSpPr/>
      </dsp:nvSpPr>
      <dsp:spPr>
        <a:xfrm rot="10800000">
          <a:off x="637161" y="2473796"/>
          <a:ext cx="788157" cy="727189"/>
        </a:xfrm>
        <a:prstGeom prst="trapezoid">
          <a:avLst>
            <a:gd name="adj" fmla="val 29684"/>
          </a:avLst>
        </a:prstGeom>
        <a:solidFill>
          <a:srgbClr val="4DD8DB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50" kern="12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Más </a:t>
          </a:r>
          <a:r>
            <a:rPr lang="es-ES" sz="1000" kern="12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frecuente</a:t>
          </a:r>
          <a:endParaRPr lang="es-ES" sz="1050" kern="1200" dirty="0">
            <a:solidFill>
              <a:srgbClr val="222223">
                <a:hueOff val="0"/>
                <a:satOff val="0"/>
                <a:lumOff val="0"/>
                <a:alphaOff val="0"/>
              </a:srgbClr>
            </a:solidFill>
            <a:latin typeface="Calibri"/>
            <a:ea typeface="+mn-ea"/>
            <a:cs typeface="+mn-cs"/>
          </a:endParaRPr>
        </a:p>
      </dsp:txBody>
      <dsp:txXfrm rot="-10800000">
        <a:off x="781067" y="2606570"/>
        <a:ext cx="500345" cy="5944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2F5711-EEBF-4887-A4E9-BB99F9CD1A89}">
      <dsp:nvSpPr>
        <dsp:cNvPr id="0" name=""/>
        <dsp:cNvSpPr/>
      </dsp:nvSpPr>
      <dsp:spPr>
        <a:xfrm rot="10800000">
          <a:off x="0" y="153910"/>
          <a:ext cx="2194561" cy="925108"/>
        </a:xfrm>
        <a:prstGeom prst="trapezoid">
          <a:avLst>
            <a:gd name="adj" fmla="val 29684"/>
          </a:avLst>
        </a:prstGeom>
        <a:solidFill>
          <a:srgbClr val="1B365D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Conocimiento Total </a:t>
          </a:r>
        </a:p>
      </dsp:txBody>
      <dsp:txXfrm rot="-10800000">
        <a:off x="567121" y="272639"/>
        <a:ext cx="1060318" cy="806379"/>
      </dsp:txXfrm>
    </dsp:sp>
    <dsp:sp modelId="{209D579F-7756-4383-874C-7E3A5AC1DF95}">
      <dsp:nvSpPr>
        <dsp:cNvPr id="0" name=""/>
        <dsp:cNvSpPr/>
      </dsp:nvSpPr>
      <dsp:spPr>
        <a:xfrm rot="10800000">
          <a:off x="282668" y="925108"/>
          <a:ext cx="1629224" cy="925108"/>
        </a:xfrm>
        <a:prstGeom prst="trapezoid">
          <a:avLst>
            <a:gd name="adj" fmla="val 29684"/>
          </a:avLst>
        </a:prstGeom>
        <a:solidFill>
          <a:srgbClr val="30E845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5240" rIns="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Consideración</a:t>
          </a:r>
        </a:p>
      </dsp:txBody>
      <dsp:txXfrm rot="-10800000">
        <a:off x="750855" y="1085035"/>
        <a:ext cx="692850" cy="765181"/>
      </dsp:txXfrm>
    </dsp:sp>
    <dsp:sp modelId="{E3B81AB0-C556-44E1-8E26-2B4F43586494}">
      <dsp:nvSpPr>
        <dsp:cNvPr id="0" name=""/>
        <dsp:cNvSpPr/>
      </dsp:nvSpPr>
      <dsp:spPr>
        <a:xfrm rot="10800000">
          <a:off x="465117" y="1850216"/>
          <a:ext cx="1264325" cy="925108"/>
        </a:xfrm>
        <a:prstGeom prst="trapezoid">
          <a:avLst>
            <a:gd name="adj" fmla="val 29684"/>
          </a:avLst>
        </a:prstGeom>
        <a:solidFill>
          <a:srgbClr val="3FE19B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5240" rIns="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Compro último mes</a:t>
          </a:r>
        </a:p>
      </dsp:txBody>
      <dsp:txXfrm rot="-10800000">
        <a:off x="849005" y="2033289"/>
        <a:ext cx="496549" cy="742035"/>
      </dsp:txXfrm>
    </dsp:sp>
    <dsp:sp modelId="{EFC9B7F5-0C26-4B82-B7A7-3D5EFB85E9EC}">
      <dsp:nvSpPr>
        <dsp:cNvPr id="0" name=""/>
        <dsp:cNvSpPr/>
      </dsp:nvSpPr>
      <dsp:spPr>
        <a:xfrm rot="10800000">
          <a:off x="677965" y="2775324"/>
          <a:ext cx="838630" cy="815824"/>
        </a:xfrm>
        <a:prstGeom prst="trapezoid">
          <a:avLst>
            <a:gd name="adj" fmla="val 29684"/>
          </a:avLst>
        </a:prstGeom>
        <a:solidFill>
          <a:srgbClr val="4DD8DB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50" kern="12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Más frecuente</a:t>
          </a:r>
        </a:p>
      </dsp:txBody>
      <dsp:txXfrm rot="-10800000">
        <a:off x="839411" y="2932380"/>
        <a:ext cx="515738" cy="6587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2F5711-EEBF-4887-A4E9-BB99F9CD1A89}">
      <dsp:nvSpPr>
        <dsp:cNvPr id="0" name=""/>
        <dsp:cNvSpPr/>
      </dsp:nvSpPr>
      <dsp:spPr>
        <a:xfrm rot="10800000">
          <a:off x="0" y="153910"/>
          <a:ext cx="2194561" cy="925108"/>
        </a:xfrm>
        <a:prstGeom prst="trapezoid">
          <a:avLst>
            <a:gd name="adj" fmla="val 29684"/>
          </a:avLst>
        </a:prstGeom>
        <a:solidFill>
          <a:srgbClr val="1B365D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Conocimiento Total </a:t>
          </a:r>
        </a:p>
      </dsp:txBody>
      <dsp:txXfrm rot="-10800000">
        <a:off x="567121" y="272639"/>
        <a:ext cx="1060318" cy="806379"/>
      </dsp:txXfrm>
    </dsp:sp>
    <dsp:sp modelId="{209D579F-7756-4383-874C-7E3A5AC1DF95}">
      <dsp:nvSpPr>
        <dsp:cNvPr id="0" name=""/>
        <dsp:cNvSpPr/>
      </dsp:nvSpPr>
      <dsp:spPr>
        <a:xfrm rot="10800000">
          <a:off x="282668" y="925108"/>
          <a:ext cx="1629224" cy="925108"/>
        </a:xfrm>
        <a:prstGeom prst="trapezoid">
          <a:avLst>
            <a:gd name="adj" fmla="val 29684"/>
          </a:avLst>
        </a:prstGeom>
        <a:solidFill>
          <a:srgbClr val="30E845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5240" rIns="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Consideración</a:t>
          </a:r>
        </a:p>
      </dsp:txBody>
      <dsp:txXfrm rot="-10800000">
        <a:off x="750855" y="1085035"/>
        <a:ext cx="692850" cy="765181"/>
      </dsp:txXfrm>
    </dsp:sp>
    <dsp:sp modelId="{E3B81AB0-C556-44E1-8E26-2B4F43586494}">
      <dsp:nvSpPr>
        <dsp:cNvPr id="0" name=""/>
        <dsp:cNvSpPr/>
      </dsp:nvSpPr>
      <dsp:spPr>
        <a:xfrm rot="10800000">
          <a:off x="465117" y="1850216"/>
          <a:ext cx="1264325" cy="925108"/>
        </a:xfrm>
        <a:prstGeom prst="trapezoid">
          <a:avLst>
            <a:gd name="adj" fmla="val 29684"/>
          </a:avLst>
        </a:prstGeom>
        <a:solidFill>
          <a:srgbClr val="3FE19B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5240" rIns="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Compro último mes</a:t>
          </a:r>
        </a:p>
      </dsp:txBody>
      <dsp:txXfrm rot="-10800000">
        <a:off x="849005" y="2033289"/>
        <a:ext cx="496549" cy="742035"/>
      </dsp:txXfrm>
    </dsp:sp>
    <dsp:sp modelId="{EFC9B7F5-0C26-4B82-B7A7-3D5EFB85E9EC}">
      <dsp:nvSpPr>
        <dsp:cNvPr id="0" name=""/>
        <dsp:cNvSpPr/>
      </dsp:nvSpPr>
      <dsp:spPr>
        <a:xfrm rot="10800000">
          <a:off x="677965" y="2775324"/>
          <a:ext cx="838630" cy="815824"/>
        </a:xfrm>
        <a:prstGeom prst="trapezoid">
          <a:avLst>
            <a:gd name="adj" fmla="val 29684"/>
          </a:avLst>
        </a:prstGeom>
        <a:solidFill>
          <a:srgbClr val="4DD8DB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50" kern="12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Más frecuente</a:t>
          </a:r>
        </a:p>
      </dsp:txBody>
      <dsp:txXfrm rot="-10800000">
        <a:off x="839411" y="2932380"/>
        <a:ext cx="515738" cy="6587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6">
            <a:extLst>
              <a:ext uri="{FF2B5EF4-FFF2-40B4-BE49-F238E27FC236}">
                <a16:creationId xmlns:a16="http://schemas.microsoft.com/office/drawing/2014/main" id="{24EDE16D-8876-4EF1-8863-60C2FE4CD7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188970" y="8562234"/>
            <a:ext cx="480060" cy="3626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 b="1">
                <a:latin typeface="Barlow" panose="020B0604020202020204" pitchFamily="34" charset="0"/>
              </a:defRPr>
            </a:lvl1pPr>
          </a:lstStyle>
          <a:p>
            <a:pPr algn="ctr"/>
            <a:fld id="{3B8578AD-0529-46A5-84EB-6338160D5A7D}" type="slidenum">
              <a:rPr lang="en-GB" smtClean="0"/>
              <a:pPr algn="ctr"/>
              <a:t>‹Nº›</a:t>
            </a:fld>
            <a:endParaRPr lang="en-GB" dirty="0"/>
          </a:p>
        </p:txBody>
      </p:sp>
      <p:pic>
        <p:nvPicPr>
          <p:cNvPr id="2" name="object 9">
            <a:extLst>
              <a:ext uri="{FF2B5EF4-FFF2-40B4-BE49-F238E27FC236}">
                <a16:creationId xmlns:a16="http://schemas.microsoft.com/office/drawing/2014/main" id="{1B3F5568-0B61-BD77-DA18-CA7F7AD5FAB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0250" y="8478471"/>
            <a:ext cx="487701" cy="4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95089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49225" y="152400"/>
            <a:ext cx="6569075" cy="3695700"/>
          </a:xfrm>
          <a:prstGeom prst="rect">
            <a:avLst/>
          </a:prstGeom>
          <a:noFill/>
          <a:ln w="12700">
            <a:solidFill>
              <a:srgbClr val="878787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6" name="Espace réservé des notes 4">
            <a:extLst>
              <a:ext uri="{FF2B5EF4-FFF2-40B4-BE49-F238E27FC236}">
                <a16:creationId xmlns:a16="http://schemas.microsoft.com/office/drawing/2014/main" id="{D3C969E9-D72B-43D0-96E0-B91161682A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17501" y="4273075"/>
            <a:ext cx="6223000" cy="4025107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marL="0" lvl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GB" noProof="0" dirty="0"/>
              <a:t>Click here to add text</a:t>
            </a:r>
          </a:p>
          <a:p>
            <a:pPr marL="171450" lvl="1" indent="-17145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"/>
            </a:pPr>
            <a:r>
              <a:rPr lang="en-GB" noProof="0" dirty="0"/>
              <a:t>First level bullet</a:t>
            </a:r>
          </a:p>
          <a:p>
            <a:pPr marL="357188" lvl="2" indent="-17145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Barlow" panose="020B0502040204020203" pitchFamily="34" charset="0"/>
              <a:buChar char="-"/>
            </a:pPr>
            <a:r>
              <a:rPr lang="en-GB" noProof="0" dirty="0"/>
              <a:t>Second level bullet</a:t>
            </a:r>
          </a:p>
          <a:p>
            <a:pPr marL="628650" lvl="3" indent="-182563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Barlow" panose="020B0604020202020204" pitchFamily="34" charset="0"/>
              <a:buChar char="•"/>
            </a:pPr>
            <a:r>
              <a:rPr lang="en-GB" noProof="0" dirty="0"/>
              <a:t>Third level bullet</a:t>
            </a:r>
          </a:p>
        </p:txBody>
      </p:sp>
      <p:sp>
        <p:nvSpPr>
          <p:cNvPr id="10" name="Espace réservé du numéro de diapositive 6">
            <a:extLst>
              <a:ext uri="{FF2B5EF4-FFF2-40B4-BE49-F238E27FC236}">
                <a16:creationId xmlns:a16="http://schemas.microsoft.com/office/drawing/2014/main" id="{9CC188B7-201A-41CF-A8C8-B17F56565C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188970" y="8621402"/>
            <a:ext cx="480060" cy="3626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 b="1">
                <a:latin typeface="Barlow" panose="020B0604020202020204" pitchFamily="34" charset="0"/>
              </a:defRPr>
            </a:lvl1pPr>
          </a:lstStyle>
          <a:p>
            <a:fld id="{3B8578AD-0529-46A5-84EB-6338160D5A7D}" type="slidenum">
              <a:rPr lang="en-GB" smtClean="0"/>
              <a:pPr/>
              <a:t>‹Nº›</a:t>
            </a:fld>
            <a:endParaRPr lang="en-GB" dirty="0"/>
          </a:p>
        </p:txBody>
      </p:sp>
      <p:pic>
        <p:nvPicPr>
          <p:cNvPr id="2" name="object 9">
            <a:extLst>
              <a:ext uri="{FF2B5EF4-FFF2-40B4-BE49-F238E27FC236}">
                <a16:creationId xmlns:a16="http://schemas.microsoft.com/office/drawing/2014/main" id="{1B3F5568-0B61-BD77-DA18-CA7F7AD5FAB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28381" y="8606821"/>
            <a:ext cx="412119" cy="37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1942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n-GB" sz="1000" kern="1200" noProof="0" dirty="0" smtClean="0">
        <a:solidFill>
          <a:schemeClr val="tx1"/>
        </a:solidFill>
        <a:latin typeface="Barlow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lang="en-GB" sz="1000" kern="1200" noProof="0" dirty="0" smtClean="0">
        <a:solidFill>
          <a:schemeClr val="tx1"/>
        </a:solidFill>
        <a:latin typeface="Barlow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lang="en-GB" sz="1000" kern="1200" noProof="0" dirty="0" smtClean="0">
        <a:solidFill>
          <a:schemeClr val="tx1"/>
        </a:solidFill>
        <a:latin typeface="Barlow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lang="en-GB" sz="1000" kern="1200" noProof="0" dirty="0">
        <a:solidFill>
          <a:schemeClr val="tx1"/>
        </a:solidFill>
        <a:latin typeface="Barlow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Barlow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sz="1000" b="1" i="0" kern="1200" noProof="0" dirty="0" err="1">
                <a:solidFill>
                  <a:schemeClr val="tx1"/>
                </a:solidFill>
                <a:effectLst/>
                <a:latin typeface="Barlow" panose="020B0604020202020204" pitchFamily="34" charset="0"/>
                <a:ea typeface="+mn-ea"/>
                <a:cs typeface="+mn-cs"/>
              </a:rPr>
              <a:t>Cat_PUR_FREQ</a:t>
            </a:r>
            <a:r>
              <a:rPr lang="es-AR" sz="1000" b="1" i="0" kern="1200" noProof="0" dirty="0">
                <a:solidFill>
                  <a:schemeClr val="tx1"/>
                </a:solidFill>
                <a:effectLst/>
                <a:latin typeface="Barlow" panose="020B0604020202020204" pitchFamily="34" charset="0"/>
                <a:ea typeface="+mn-ea"/>
                <a:cs typeface="+mn-cs"/>
              </a:rPr>
              <a:t> __FREQ_AGRUP_WAVE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578AD-0529-46A5-84EB-6338160D5A7D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0562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__TMBA_WAVE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578AD-0529-46A5-84EB-6338160D5A7D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3516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__TOT_WAVE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578AD-0529-46A5-84EB-6338160D5A7D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8897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__PREFERENCE_WAVE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578AD-0529-46A5-84EB-6338160D5A7D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0918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3B71A-4A8A-526A-0207-39575319B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6F7EF16-0ADD-D98E-81B5-96C6A9806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3DA7C3B-4661-6486-2B87-86ECE4AFD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__</a:t>
            </a:r>
            <a:r>
              <a:rPr lang="es-AR" dirty="0" err="1"/>
              <a:t>Claimed_WAVE</a:t>
            </a:r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AD98C7B-E439-5B05-2148-C45981DC8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578AD-0529-46A5-84EB-6338160D5A7D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77776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  <a:p>
            <a:r>
              <a:rPr lang="es-AR" dirty="0"/>
              <a:t>__Funnel_1_6 (FUNNEL_OLA1 | FUNNEL_OLA2)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578AD-0529-46A5-84EB-6338160D5A7D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7649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6433A-0F41-D90F-9D31-B8F72C636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768F9A6-F747-9AB4-C143-7EE1E2DBFE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3CBDE0B-96B1-8DD7-D93B-65277BE953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  <a:p>
            <a:r>
              <a:rPr lang="es-AR" dirty="0"/>
              <a:t>__Funnel_7_12 (FUNNEL_OLA1 | FUNNEL_OLA2)</a:t>
            </a:r>
          </a:p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6B0F433-9AA1-9B97-11ED-D921B1F773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578AD-0529-46A5-84EB-6338160D5A7D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45770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4023C-1B76-B86C-37CF-ED37A5DA5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BE89CDF-A52B-23C4-AD99-E37574E81A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BD7360A-B5B8-2FA4-6A74-68E2A90B9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  <a:p>
            <a:r>
              <a:rPr lang="es-AR" dirty="0"/>
              <a:t>__Funnel_13_16 (FUNNEL_OLA1 | FUNNEL_OLA2)</a:t>
            </a:r>
          </a:p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C056718-7293-0365-81C8-ED16818EE4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578AD-0529-46A5-84EB-6338160D5A7D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12698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__FUNNEL_LS_WAVE_DEMOS </a:t>
            </a:r>
          </a:p>
          <a:p>
            <a:r>
              <a:rPr lang="es-AR" dirty="0"/>
              <a:t>__</a:t>
            </a:r>
            <a:r>
              <a:rPr lang="es-AR" dirty="0" err="1"/>
              <a:t>FUNNEL_Cremon_WAVE_DEMOS</a:t>
            </a:r>
            <a:r>
              <a:rPr lang="es-AR" dirty="0"/>
              <a:t> </a:t>
            </a:r>
          </a:p>
          <a:p>
            <a:r>
              <a:rPr lang="es-AR" dirty="0"/>
              <a:t>__</a:t>
            </a:r>
            <a:r>
              <a:rPr lang="es-AR" dirty="0" err="1"/>
              <a:t>FUNNEL_LaPau_WAVE_DEMOS</a:t>
            </a:r>
            <a:r>
              <a:rPr lang="es-AR" dirty="0"/>
              <a:t> </a:t>
            </a:r>
          </a:p>
          <a:p>
            <a:r>
              <a:rPr lang="es-AR" dirty="0"/>
              <a:t>__</a:t>
            </a:r>
            <a:r>
              <a:rPr lang="es-AR" dirty="0" err="1"/>
              <a:t>FUNNEL_Sancor_WAVE_DEMOS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578AD-0529-46A5-84EB-6338160D5A7D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60315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__</a:t>
            </a:r>
            <a:r>
              <a:rPr lang="es-AR" dirty="0" err="1"/>
              <a:t>FUNNEL_Pdagua_WAVE_DEMOS</a:t>
            </a:r>
            <a:endParaRPr lang="es-AR" dirty="0"/>
          </a:p>
          <a:p>
            <a:r>
              <a:rPr lang="es-AR" dirty="0"/>
              <a:t>__</a:t>
            </a:r>
            <a:r>
              <a:rPr lang="es-AR" dirty="0" err="1"/>
              <a:t>FUNNEL_Ilolay_WAVE_DEMOS</a:t>
            </a:r>
            <a:r>
              <a:rPr lang="es-AR" dirty="0"/>
              <a:t> </a:t>
            </a:r>
          </a:p>
          <a:p>
            <a:r>
              <a:rPr lang="es-AR" dirty="0"/>
              <a:t>__</a:t>
            </a:r>
            <a:r>
              <a:rPr lang="es-AR" dirty="0" err="1"/>
              <a:t>FUNNEL_Milkaut_WAVE_DEMOS</a:t>
            </a:r>
            <a:endParaRPr lang="es-AR" dirty="0"/>
          </a:p>
          <a:p>
            <a:r>
              <a:rPr lang="es-AR" dirty="0"/>
              <a:t>__FUNNEL_MP_WAVE_DEMOS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578AD-0529-46A5-84EB-6338160D5A7D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947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__BIA_LASTWAVE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578AD-0529-46A5-84EB-6338160D5A7D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34666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__BIA_LASTWAVE_INT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578AD-0529-46A5-84EB-6338160D5A7D}" type="slidenum">
              <a:rPr lang="en-GB" smtClean="0"/>
              <a:pPr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60886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__BIA_LASTWAVE_AMBA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578AD-0529-46A5-84EB-6338160D5A7D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882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18724-C1B2-1649-6D3B-6692F7330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25406D-55B6-EE8E-9960-EDF36D7839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0CAC78E-4B9A-1F0B-0D8F-769333BD8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__BIA_LS_LASTWAVE_INT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864FA1-CF6B-A71C-3871-A7F808E31C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578AD-0529-46A5-84EB-6338160D5A7D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74752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B273F-B5B6-4B51-04CE-797F66481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00D1B5F-BC3D-B6D1-49F7-06E5C05292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B66B940-56DB-ED83-A7BD-BEA7E4829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__BIA_LS_LASTWAVE_AMBA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575D987-A08E-0322-A166-C33AE9A813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578AD-0529-46A5-84EB-6338160D5A7D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10809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B1F1C-7AFA-A9E2-132E-AE9F47557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CE1C498-C915-53FD-9CA9-AEE0238679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A30B281-3E27-E69D-88E6-6F2E63203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__BIA_CREMON_LASTWAVE_AMBA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9EBB49B-BAC4-1CC8-B0E0-579E3BCE2C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578AD-0529-46A5-84EB-6338160D5A7D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46167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0266A-FC56-E699-40C4-55F82D360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1262514-FF29-BC71-1BBB-A8A2B2B87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1591417-F021-29CE-4E06-A58B1D9C83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__BIA_CREMON_LASTWAVE_INT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12CD42-84E4-A868-3A2D-2A1FF14BFF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578AD-0529-46A5-84EB-6338160D5A7D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507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60BDE-D329-86D4-E107-E9EE5762C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1807553-FE39-0E4C-2B8F-F2B283FF4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948CAF8-38C4-C757-7692-BDEB5A113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__BIA_CREMON_LASTWAVE_INT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4871029-7CF1-82CB-1DBF-CA2AD53C6A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578AD-0529-46A5-84EB-6338160D5A7D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597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024DFEA-2014-1751-E480-8A66CDCDA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1350000"/>
            <a:ext cx="6095800" cy="1610016"/>
          </a:xfrm>
        </p:spPr>
        <p:txBody>
          <a:bodyPr/>
          <a:lstStyle>
            <a:lvl1pPr>
              <a:defRPr sz="480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1C3EC48E-82FF-AD78-A375-4569D05591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800" y="3494989"/>
            <a:ext cx="6096000" cy="1274763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Optional additional information</a:t>
            </a:r>
          </a:p>
        </p:txBody>
      </p:sp>
      <p:sp>
        <p:nvSpPr>
          <p:cNvPr id="11" name="Chapter Number">
            <a:extLst>
              <a:ext uri="{FF2B5EF4-FFF2-40B4-BE49-F238E27FC236}">
                <a16:creationId xmlns:a16="http://schemas.microsoft.com/office/drawing/2014/main" id="{7066FE41-55CD-1D44-7ED7-B1E742AF1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8762" y="1032463"/>
            <a:ext cx="2600325" cy="182086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7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3" name="Triangle">
            <a:extLst>
              <a:ext uri="{FF2B5EF4-FFF2-40B4-BE49-F238E27FC236}">
                <a16:creationId xmlns:a16="http://schemas.microsoft.com/office/drawing/2014/main" id="{A47BBA45-30B2-1AE1-4D29-166B974CD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9281601" y="3947601"/>
            <a:ext cx="2910399" cy="291039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400"/>
              </a:spcAft>
            </a:pP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72396438-1F17-18D4-E6ED-2C8143857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5849681" y="6479951"/>
            <a:ext cx="492637" cy="1404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fld id="{42C674B8-9BBC-4FFF-A23E-570BB0655C41}" type="slidenum">
              <a:rPr lang="en-GB" sz="900" smtClean="0">
                <a:solidFill>
                  <a:schemeClr val="bg1"/>
                </a:solidFill>
              </a:rPr>
              <a:pPr algn="ctr" rtl="0">
                <a:lnSpc>
                  <a:spcPct val="110000"/>
                </a:lnSpc>
                <a:spcBef>
                  <a:spcPts val="400"/>
                </a:spcBef>
                <a:spcAft>
                  <a:spcPts val="400"/>
                </a:spcAft>
              </a:pPr>
              <a:t>‹Nº›</a:t>
            </a:fld>
            <a:endParaRPr lang="en-GB" sz="900" dirty="0">
              <a:solidFill>
                <a:schemeClr val="bg1"/>
              </a:solidFill>
            </a:endParaRPr>
          </a:p>
        </p:txBody>
      </p:sp>
      <p:pic>
        <p:nvPicPr>
          <p:cNvPr id="5" name="Ipsos Logo">
            <a:extLst>
              <a:ext uri="{FF2B5EF4-FFF2-40B4-BE49-F238E27FC236}">
                <a16:creationId xmlns:a16="http://schemas.microsoft.com/office/drawing/2014/main" id="{0B670EF9-49DC-A59C-6B97-BFCFA58E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611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66D97C3-1B7F-5C9F-E63F-96F1A14B6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350000"/>
            <a:ext cx="6797676" cy="715669"/>
          </a:xfrm>
        </p:spPr>
        <p:txBody>
          <a:bodyPr vert="horz" wrap="square" lIns="0" tIns="0" rIns="0" bIns="0" rtlCol="0" anchor="t">
            <a:noAutofit/>
          </a:bodyPr>
          <a:lstStyle>
            <a:lvl1pPr>
              <a:defRPr lang="en-GB" sz="4800" b="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29E5EE94-2CAC-A691-BCF2-845687798E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000" y="3494989"/>
            <a:ext cx="6096000" cy="1274763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Optional additional information</a:t>
            </a:r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92B650A8-9C21-DC86-F471-38B40FC6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3975100 h 6858000"/>
              <a:gd name="connsiteX3" fmla="*/ 9309100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3975100"/>
                </a:lnTo>
                <a:lnTo>
                  <a:pt x="9309100" y="6858000"/>
                </a:lnTo>
                <a:lnTo>
                  <a:pt x="0" y="6858000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2520000" rtlCol="0" anchor="b">
            <a:noAutofit/>
          </a:bodyPr>
          <a:lstStyle>
            <a:lvl1pPr>
              <a:defRPr lang="en-GB"/>
            </a:lvl1pPr>
          </a:lstStyle>
          <a:p>
            <a:pPr lvl="0" algn="ctr"/>
            <a:r>
              <a:rPr lang="en-GB" dirty="0"/>
              <a:t>Click icon to insert image</a:t>
            </a:r>
          </a:p>
        </p:txBody>
      </p:sp>
      <p:sp>
        <p:nvSpPr>
          <p:cNvPr id="4" name="Classification">
            <a:extLst>
              <a:ext uri="{FF2B5EF4-FFF2-40B4-BE49-F238E27FC236}">
                <a16:creationId xmlns:a16="http://schemas.microsoft.com/office/drawing/2014/main" id="{F24B9245-8C3F-D9F1-7FC8-4D3768017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40938" y="6374219"/>
            <a:ext cx="2600712" cy="246221"/>
          </a:xfrm>
          <a:prstGeom prst="rect">
            <a:avLst/>
          </a:prstGeom>
          <a:effectLst/>
        </p:spPr>
        <p:txBody>
          <a:bodyPr vert="horz" wrap="square" lIns="0" tIns="0" rIns="0" bIns="0" rtlCol="0" anchor="b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 dirty="0">
                <a:solidFill>
                  <a:schemeClr val="bg1"/>
                </a:solidFill>
                <a:effectLst/>
              </a:rPr>
              <a:t>© Ipsos | Doc Name | Month Year | Version # | Public | Internal/Client Use Only | Strictly Confidential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202AE276-86A8-A521-58F1-3F84240A5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5849681" y="6479951"/>
            <a:ext cx="492637" cy="1404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fld id="{42C674B8-9BBC-4FFF-A23E-570BB0655C41}" type="slidenum">
              <a:rPr lang="en-GB" sz="900" smtClean="0">
                <a:solidFill>
                  <a:schemeClr val="bg1">
                    <a:lumMod val="65000"/>
                  </a:schemeClr>
                </a:solidFill>
              </a:rPr>
              <a:pPr algn="ctr" rtl="0">
                <a:lnSpc>
                  <a:spcPct val="110000"/>
                </a:lnSpc>
                <a:spcBef>
                  <a:spcPts val="400"/>
                </a:spcBef>
                <a:spcAft>
                  <a:spcPts val="400"/>
                </a:spcAft>
              </a:pPr>
              <a:t>‹Nº›</a:t>
            </a:fld>
            <a:endParaRPr lang="en-GB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2" name="Ipsos Logo">
            <a:extLst>
              <a:ext uri="{FF2B5EF4-FFF2-40B4-BE49-F238E27FC236}">
                <a16:creationId xmlns:a16="http://schemas.microsoft.com/office/drawing/2014/main" id="{BEC051CE-FCDB-2EBC-A53E-B4922F048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36458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3011884-C2D5-14CD-9848-37C5CB013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64285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-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31429DE-4D63-DCEA-0E6E-B1E263115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Four column layout</a:t>
            </a:r>
            <a:endParaRPr lang="en-GB" dirty="0"/>
          </a:p>
        </p:txBody>
      </p:sp>
      <p:sp>
        <p:nvSpPr>
          <p:cNvPr id="3" name="Placeholder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0000" y="1808163"/>
            <a:ext cx="11299088" cy="3861312"/>
          </a:xfrm>
          <a:prstGeom prst="rect">
            <a:avLst/>
          </a:prstGeom>
        </p:spPr>
        <p:txBody>
          <a:bodyPr numCol="4" spcCol="288000">
            <a:noAutofit/>
          </a:bodyPr>
          <a:lstStyle>
            <a:lvl1pPr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buSzPct val="100000"/>
              <a:buFont typeface="Arial" panose="020B0604020202020204" pitchFamily="34" charset="0"/>
              <a:buChar char="•"/>
              <a:def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</p:spTree>
    <p:extLst>
      <p:ext uri="{BB962C8B-B14F-4D97-AF65-F5344CB8AC3E}">
        <p14:creationId xmlns:p14="http://schemas.microsoft.com/office/powerpoint/2010/main" val="19631247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x 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Header">
            <a:extLst>
              <a:ext uri="{FF2B5EF4-FFF2-40B4-BE49-F238E27FC236}">
                <a16:creationId xmlns:a16="http://schemas.microsoft.com/office/drawing/2014/main" id="{5245E30C-ACBC-4426-8962-C03D3DB3F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0000" y="1810984"/>
            <a:ext cx="2562696" cy="385004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buSzPct val="100000"/>
              <a:def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15" name="Placeholder 2">
            <a:extLst>
              <a:ext uri="{FF2B5EF4-FFF2-40B4-BE49-F238E27FC236}">
                <a16:creationId xmlns:a16="http://schemas.microsoft.com/office/drawing/2014/main" id="{FED60B5C-31E2-4ABE-BB94-6CC89A3FD7F2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353284" y="1810984"/>
            <a:ext cx="2562696" cy="385004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buSzPct val="100000"/>
              <a:def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17" name="Placeholder 3">
            <a:extLst>
              <a:ext uri="{FF2B5EF4-FFF2-40B4-BE49-F238E27FC236}">
                <a16:creationId xmlns:a16="http://schemas.microsoft.com/office/drawing/2014/main" id="{F0AC0C8B-24FF-433E-9C4D-B350C449B331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276263" y="1810984"/>
            <a:ext cx="2562696" cy="385004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buSzPct val="100000"/>
              <a:def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18" name="Placeholder 4">
            <a:extLst>
              <a:ext uri="{FF2B5EF4-FFF2-40B4-BE49-F238E27FC236}">
                <a16:creationId xmlns:a16="http://schemas.microsoft.com/office/drawing/2014/main" id="{2293604D-A39C-4151-970A-A0EBEBFE9FBE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9174577" y="1810984"/>
            <a:ext cx="2562696" cy="385004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buSzPct val="100000"/>
              <a:def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</p:spTree>
    <p:extLst>
      <p:ext uri="{BB962C8B-B14F-4D97-AF65-F5344CB8AC3E}">
        <p14:creationId xmlns:p14="http://schemas.microsoft.com/office/powerpoint/2010/main" val="130318617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8" orient="horz" pos="4320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nging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0E9919A9-E10C-40B2-4E9E-9822C6505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000" y="701874"/>
            <a:ext cx="5481636" cy="71566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Placeholder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64000" y="1792800"/>
            <a:ext cx="5456880" cy="4155563"/>
          </a:xfrm>
          <a:prstGeom prst="rect">
            <a:avLst/>
          </a:prstGeom>
        </p:spPr>
        <p:txBody>
          <a:bodyPr numCol="2" spcCol="288000">
            <a:noAutofit/>
          </a:bodyPr>
          <a:lstStyle>
            <a:lvl1pPr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buSzPct val="100000"/>
              <a:def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B46C10D5-25FF-ADE9-303F-74E74487A0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42912" y="0"/>
            <a:ext cx="5481637" cy="5948363"/>
          </a:xfrm>
          <a:custGeom>
            <a:avLst/>
            <a:gdLst>
              <a:gd name="connsiteX0" fmla="*/ 0 w 5481637"/>
              <a:gd name="connsiteY0" fmla="*/ 0 h 5948363"/>
              <a:gd name="connsiteX1" fmla="*/ 5481637 w 5481637"/>
              <a:gd name="connsiteY1" fmla="*/ 0 h 5948363"/>
              <a:gd name="connsiteX2" fmla="*/ 5481637 w 5481637"/>
              <a:gd name="connsiteY2" fmla="*/ 5267325 h 5948363"/>
              <a:gd name="connsiteX3" fmla="*/ 4800599 w 5481637"/>
              <a:gd name="connsiteY3" fmla="*/ 5948363 h 5948363"/>
              <a:gd name="connsiteX4" fmla="*/ 0 w 5481637"/>
              <a:gd name="connsiteY4" fmla="*/ 5948363 h 5948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1637" h="5948363">
                <a:moveTo>
                  <a:pt x="0" y="0"/>
                </a:moveTo>
                <a:lnTo>
                  <a:pt x="5481637" y="0"/>
                </a:lnTo>
                <a:lnTo>
                  <a:pt x="5481637" y="5267325"/>
                </a:lnTo>
                <a:lnTo>
                  <a:pt x="4800599" y="5948363"/>
                </a:lnTo>
                <a:lnTo>
                  <a:pt x="0" y="5948363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2520000" rtlCol="0" anchor="b">
            <a:noAutofit/>
          </a:bodyPr>
          <a:lstStyle>
            <a:lvl1pPr>
              <a:defRPr lang="en-GB"/>
            </a:lvl1pPr>
          </a:lstStyle>
          <a:p>
            <a:pPr lvl="0" algn="ctr"/>
            <a:r>
              <a:rPr lang="es-ES"/>
              <a:t>Haga clic en el icono para agregar una imagen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4044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orient="horz" pos="4320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ft half hanging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8B6D4E6-07B9-1C8D-69DD-712BC77D3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000" y="701874"/>
            <a:ext cx="5498363" cy="71566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  <p:sp>
        <p:nvSpPr>
          <p:cNvPr id="3" name="Placeholder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64000" y="1792800"/>
            <a:ext cx="5498363" cy="4155563"/>
          </a:xfrm>
          <a:prstGeom prst="rect">
            <a:avLst/>
          </a:prstGeom>
        </p:spPr>
        <p:txBody>
          <a:bodyPr numCol="2" spcCol="288000">
            <a:noAutofit/>
          </a:bodyPr>
          <a:lstStyle>
            <a:lvl1pPr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def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</p:spTree>
    <p:extLst>
      <p:ext uri="{BB962C8B-B14F-4D97-AF65-F5344CB8AC3E}">
        <p14:creationId xmlns:p14="http://schemas.microsoft.com/office/powerpoint/2010/main" val="707597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orient="horz" pos="4320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tailed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D2372C9-E215-1003-F25D-B5AE1F5689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292" y="701874"/>
            <a:ext cx="2450237" cy="7156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Layout template for detailed charts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2156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Header">
            <a:extLst>
              <a:ext uri="{FF2B5EF4-FFF2-40B4-BE49-F238E27FC236}">
                <a16:creationId xmlns:a16="http://schemas.microsoft.com/office/drawing/2014/main" id="{B80FCDC1-4ADD-40AF-8A4F-44573B125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0000" y="1808163"/>
            <a:ext cx="5456880" cy="3861312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00"/>
              </a:spcBef>
              <a:defRPr sz="14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buSzPct val="11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>
              <a:spcBef>
                <a:spcPts val="400"/>
              </a:spcBef>
              <a:defRPr sz="14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lvl="1"/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10" name="Placeholder 2">
            <a:extLst>
              <a:ext uri="{FF2B5EF4-FFF2-40B4-BE49-F238E27FC236}">
                <a16:creationId xmlns:a16="http://schemas.microsoft.com/office/drawing/2014/main" id="{58EBDB8A-A132-411F-B6B9-59DC085B79E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273992" y="1808163"/>
            <a:ext cx="5456880" cy="3861312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00"/>
              </a:spcBef>
              <a:defRPr sz="14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defRPr lang="en-GB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400"/>
              </a:spcBef>
              <a:defRPr sz="14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</p:spTree>
    <p:extLst>
      <p:ext uri="{BB962C8B-B14F-4D97-AF65-F5344CB8AC3E}">
        <p14:creationId xmlns:p14="http://schemas.microsoft.com/office/powerpoint/2010/main" val="3063252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26B43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6600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 3" hidden="1">
            <a:extLst>
              <a:ext uri="{FF2B5EF4-FFF2-40B4-BE49-F238E27FC236}">
                <a16:creationId xmlns:a16="http://schemas.microsoft.com/office/drawing/2014/main" id="{5CF9A8CD-44E6-43DE-97D8-919ABD05CE1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510364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532" imgH="530" progId="TCLayout.ActiveDocument.1">
                  <p:embed/>
                </p:oleObj>
              </mc:Choice>
              <mc:Fallback>
                <p:oleObj name="Diapositive think-cell" r:id="rId4" imgW="532" imgH="530" progId="TCLayout.ActiveDocument.1">
                  <p:embed/>
                  <p:pic>
                    <p:nvPicPr>
                      <p:cNvPr id="4" name="Objet 3" hidden="1">
                        <a:extLst>
                          <a:ext uri="{FF2B5EF4-FFF2-40B4-BE49-F238E27FC236}">
                            <a16:creationId xmlns:a16="http://schemas.microsoft.com/office/drawing/2014/main" id="{5CF9A8CD-44E6-43DE-97D8-919ABD05CE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C1DD757-038C-457E-9D36-3DDC777DAD6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GB" sz="2800" b="1" i="0" baseline="0" dirty="0">
              <a:latin typeface="Arial Black" panose="020B0A04020102020204" pitchFamily="34" charset="0"/>
              <a:ea typeface="+mj-ea"/>
              <a:cs typeface="+mj-cs"/>
              <a:sym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4786" y="1808820"/>
            <a:ext cx="7584906" cy="3868080"/>
          </a:xfrm>
        </p:spPr>
        <p:txBody>
          <a:bodyPr>
            <a:noAutofit/>
          </a:bodyPr>
          <a:lstStyle>
            <a:lvl1pPr>
              <a:spcBef>
                <a:spcPts val="1800"/>
              </a:spcBef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r>
              <a:rPr lang="en-GB" dirty="0"/>
              <a:t>Your text here</a:t>
            </a:r>
          </a:p>
          <a:p>
            <a:pPr lvl="1"/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735C07-2264-401E-9223-98C1CA429B7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4786" y="1368596"/>
            <a:ext cx="2311063" cy="353943"/>
          </a:xfrm>
          <a:noFill/>
        </p:spPr>
        <p:txBody>
          <a:bodyPr wrap="none" lIns="72000" rIns="72000" bIns="0">
            <a:sp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Subtitle of the slide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72C4E26-BE79-4277-9CB6-37B3130818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4786" y="5914632"/>
            <a:ext cx="11463417" cy="215444"/>
          </a:xfrm>
        </p:spPr>
        <p:txBody>
          <a:bodyPr wrap="square" lIns="72000" anchor="b">
            <a:spAutoFit/>
          </a:bodyPr>
          <a:lstStyle>
            <a:lvl1pPr marL="0" indent="0">
              <a:buNone/>
              <a:defRPr sz="800" b="0" i="1">
                <a:solidFill>
                  <a:schemeClr val="bg1">
                    <a:lumMod val="50000"/>
                  </a:schemeClr>
                </a:solidFill>
              </a:defRPr>
            </a:lvl1pPr>
            <a:lvl2pPr marL="133350" indent="0">
              <a:buNone/>
              <a:defRPr/>
            </a:lvl2pPr>
            <a:lvl3pPr marL="542925" indent="0">
              <a:buNone/>
              <a:defRPr/>
            </a:lvl3pPr>
            <a:lvl4pPr marL="758825" indent="0">
              <a:buNone/>
              <a:defRPr/>
            </a:lvl4pPr>
            <a:lvl5pPr marL="1033463" indent="0">
              <a:buNone/>
              <a:defRPr/>
            </a:lvl5pPr>
          </a:lstStyle>
          <a:p>
            <a:pPr lvl="0"/>
            <a:r>
              <a:rPr lang="en-GB" dirty="0"/>
              <a:t>Sources: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426E006-4F5B-402C-916F-29E383EE086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1AABEC-672F-4B68-B914-690DA978312C}" type="slidenum">
              <a:rPr lang="en-GB" smtClean="0"/>
              <a:pPr/>
              <a:t>‹Nº›</a:t>
            </a:fld>
            <a:r>
              <a:rPr lang="en-GB"/>
              <a:t> ‒ </a:t>
            </a:r>
            <a:endParaRPr lang="en-GB" dirty="0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E05915BF-F664-49DE-8489-CADDC55CA2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TITLE OF THE SLIDE</a:t>
            </a:r>
          </a:p>
        </p:txBody>
      </p:sp>
    </p:spTree>
    <p:extLst>
      <p:ext uri="{BB962C8B-B14F-4D97-AF65-F5344CB8AC3E}">
        <p14:creationId xmlns:p14="http://schemas.microsoft.com/office/powerpoint/2010/main" val="6084530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8">
          <p15:clr>
            <a:srgbClr val="F26B43"/>
          </p15:clr>
        </p15:guide>
        <p15:guide id="2" pos="7425">
          <p15:clr>
            <a:srgbClr val="F26B43"/>
          </p15:clr>
        </p15:guide>
        <p15:guide id="3" orient="horz" pos="232">
          <p15:clr>
            <a:srgbClr val="F26B43"/>
          </p15:clr>
        </p15:guide>
        <p15:guide id="5" orient="horz" pos="1136">
          <p15:clr>
            <a:srgbClr val="F26B43"/>
          </p15:clr>
        </p15:guide>
        <p15:guide id="6" orient="horz" pos="3584">
          <p15:clr>
            <a:srgbClr val="F26B43"/>
          </p15:clr>
        </p15:guide>
        <p15:guide id="7" orient="horz" pos="3906">
          <p15:clr>
            <a:srgbClr val="F26B43"/>
          </p15:clr>
        </p15:guide>
        <p15:guide id="8" orient="horz" pos="4156">
          <p15:clr>
            <a:srgbClr val="F26B43"/>
          </p15:clr>
        </p15:guide>
        <p15:guide id="9" pos="306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er">
            <a:extLst>
              <a:ext uri="{FF2B5EF4-FFF2-40B4-BE49-F238E27FC236}">
                <a16:creationId xmlns:a16="http://schemas.microsoft.com/office/drawing/2014/main" id="{451F5451-CC20-46A2-802F-F9D60C2A6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00" y="701874"/>
            <a:ext cx="11299088" cy="71566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dirty="0"/>
              <a:t>Slide title room for two lines</a:t>
            </a:r>
          </a:p>
        </p:txBody>
      </p:sp>
      <p:sp>
        <p:nvSpPr>
          <p:cNvPr id="7" name="Placeholder">
            <a:extLst>
              <a:ext uri="{FF2B5EF4-FFF2-40B4-BE49-F238E27FC236}">
                <a16:creationId xmlns:a16="http://schemas.microsoft.com/office/drawing/2014/main" id="{D7CC2174-966F-44FC-375D-7BD78365C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6002" y="1825625"/>
            <a:ext cx="11313086" cy="3843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 dirty="0"/>
          </a:p>
        </p:txBody>
      </p:sp>
      <p:sp>
        <p:nvSpPr>
          <p:cNvPr id="6" name="Classification">
            <a:extLst>
              <a:ext uri="{FF2B5EF4-FFF2-40B4-BE49-F238E27FC236}">
                <a16:creationId xmlns:a16="http://schemas.microsoft.com/office/drawing/2014/main" id="{5145A4F0-7D5B-0FE6-3F2E-55FC068D8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40938" y="6488640"/>
            <a:ext cx="4672238" cy="123111"/>
          </a:xfrm>
          <a:prstGeom prst="rect">
            <a:avLst/>
          </a:prstGeom>
          <a:effectLst/>
        </p:spPr>
        <p:txBody>
          <a:bodyPr vert="horz" wrap="square" lIns="0" tIns="0" rIns="0" bIns="0" rtlCol="0" anchor="b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 dirty="0">
                <a:solidFill>
                  <a:schemeClr val="tx1"/>
                </a:solidFill>
                <a:effectLst/>
              </a:rPr>
              <a:t>© Ipsos | Tracking </a:t>
            </a:r>
            <a:r>
              <a:rPr lang="en-GB" sz="800" dirty="0" err="1">
                <a:solidFill>
                  <a:schemeClr val="tx1"/>
                </a:solidFill>
                <a:effectLst/>
              </a:rPr>
              <a:t>Cremas</a:t>
            </a:r>
            <a:r>
              <a:rPr lang="en-GB" sz="800" dirty="0">
                <a:solidFill>
                  <a:schemeClr val="tx1"/>
                </a:solidFill>
                <a:effectLst/>
              </a:rPr>
              <a:t> de Leche 2024</a:t>
            </a:r>
          </a:p>
        </p:txBody>
      </p:sp>
      <p:sp>
        <p:nvSpPr>
          <p:cNvPr id="96" name="Slide Number">
            <a:extLst>
              <a:ext uri="{FF2B5EF4-FFF2-40B4-BE49-F238E27FC236}">
                <a16:creationId xmlns:a16="http://schemas.microsoft.com/office/drawing/2014/main" id="{A19EB2BF-21C7-DA01-6AAC-8D446BDFC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5849681" y="6479951"/>
            <a:ext cx="492637" cy="1404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fld id="{42C674B8-9BBC-4FFF-A23E-570BB0655C41}" type="slidenum">
              <a:rPr lang="en-GB" sz="900" smtClean="0"/>
              <a:pPr algn="ctr" rtl="0">
                <a:lnSpc>
                  <a:spcPct val="110000"/>
                </a:lnSpc>
                <a:spcBef>
                  <a:spcPts val="400"/>
                </a:spcBef>
                <a:spcAft>
                  <a:spcPts val="400"/>
                </a:spcAft>
              </a:pPr>
              <a:t>‹Nº›</a:t>
            </a:fld>
            <a:endParaRPr lang="en-GB" sz="900" dirty="0"/>
          </a:p>
        </p:txBody>
      </p:sp>
      <p:pic>
        <p:nvPicPr>
          <p:cNvPr id="8" name="Ipsos Logo">
            <a:extLst>
              <a:ext uri="{FF2B5EF4-FFF2-40B4-BE49-F238E27FC236}">
                <a16:creationId xmlns:a16="http://schemas.microsoft.com/office/drawing/2014/main" id="{28D1BB47-AB47-9982-F311-E64B0A6B4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839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83" r:id="rId1"/>
    <p:sldLayoutId id="2147484384" r:id="rId2"/>
    <p:sldLayoutId id="2147484385" r:id="rId3"/>
    <p:sldLayoutId id="2147484387" r:id="rId4"/>
    <p:sldLayoutId id="2147484391" r:id="rId5"/>
    <p:sldLayoutId id="2147484394" r:id="rId6"/>
    <p:sldLayoutId id="2147484397" r:id="rId7"/>
    <p:sldLayoutId id="2147484400" r:id="rId8"/>
    <p:sldLayoutId id="2147484406" r:id="rId9"/>
    <p:sldLayoutId id="2147484417" r:id="rId10"/>
    <p:sldLayoutId id="214748442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none" spc="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400"/>
        </a:spcBef>
        <a:spcAft>
          <a:spcPts val="400"/>
        </a:spcAft>
        <a:buSzPct val="100000"/>
        <a:buFont typeface="Wingdings 2" panose="05020102010507070707" pitchFamily="18" charset="2"/>
        <a:buNone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indent="-171450" algn="l" defTabSz="914400" rtl="0" eaLnBrk="1" latinLnBrk="0" hangingPunct="1">
        <a:lnSpc>
          <a:spcPct val="115000"/>
        </a:lnSpc>
        <a:spcBef>
          <a:spcPts val="400"/>
        </a:spcBef>
        <a:spcAft>
          <a:spcPts val="400"/>
        </a:spcAft>
        <a:buSzPct val="100000"/>
        <a:buFont typeface="Arial" panose="020B0604020202020204" pitchFamily="34" charset="0"/>
        <a:buChar char="•"/>
        <a:defRPr lang="en-GB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542925" indent="-173038" algn="l" defTabSz="914400" rtl="0" eaLnBrk="1" latinLnBrk="0" hangingPunct="1">
        <a:lnSpc>
          <a:spcPct val="115000"/>
        </a:lnSpc>
        <a:spcBef>
          <a:spcPts val="400"/>
        </a:spcBef>
        <a:spcAft>
          <a:spcPts val="400"/>
        </a:spcAft>
        <a:buFont typeface="Barlow" panose="020B0604020202020204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28600" algn="l" defTabSz="914400" rtl="0" eaLnBrk="1" latinLnBrk="0" hangingPunct="1">
        <a:lnSpc>
          <a:spcPct val="115000"/>
        </a:lnSpc>
        <a:spcBef>
          <a:spcPts val="400"/>
        </a:spcBef>
        <a:spcAft>
          <a:spcPts val="400"/>
        </a:spcAft>
        <a:buFont typeface="Barlow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33463" indent="0" algn="l" defTabSz="914400" rtl="0" eaLnBrk="1" latinLnBrk="0" hangingPunct="1">
        <a:lnSpc>
          <a:spcPct val="115000"/>
        </a:lnSpc>
        <a:spcBef>
          <a:spcPts val="400"/>
        </a:spcBef>
        <a:spcAft>
          <a:spcPts val="400"/>
        </a:spcAft>
        <a:buFont typeface="Barlow" panose="020B040602020203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Barlow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Barlow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Barlow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Barlow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5" pos="2509">
          <p15:clr>
            <a:srgbClr val="F26B43"/>
          </p15:clr>
        </p15:guide>
        <p15:guide id="26" pos="2698">
          <p15:clr>
            <a:srgbClr val="F26B43"/>
          </p15:clr>
        </p15:guide>
        <p15:guide id="30" pos="4930">
          <p15:clr>
            <a:srgbClr val="F26B43"/>
          </p15:clr>
        </p15:guide>
        <p15:guide id="31" pos="5126">
          <p15:clr>
            <a:srgbClr val="F26B43"/>
          </p15:clr>
        </p15:guide>
        <p15:guide id="39" orient="horz" pos="1139">
          <p15:clr>
            <a:srgbClr val="5ACBF0"/>
          </p15:clr>
        </p15:guide>
        <p15:guide id="41" pos="1905" userDrawn="1">
          <p15:clr>
            <a:srgbClr val="5ACBF0"/>
          </p15:clr>
        </p15:guide>
        <p15:guide id="42" pos="2109" userDrawn="1">
          <p15:clr>
            <a:srgbClr val="5ACBF0"/>
          </p15:clr>
        </p15:guide>
        <p15:guide id="43" pos="3942">
          <p15:clr>
            <a:srgbClr val="5ACBF0"/>
          </p15:clr>
        </p15:guide>
        <p15:guide id="45" pos="3741" userDrawn="1">
          <p15:clr>
            <a:srgbClr val="5ACBF0"/>
          </p15:clr>
        </p15:guide>
        <p15:guide id="46" pos="5568" userDrawn="1">
          <p15:clr>
            <a:srgbClr val="5ACBF0"/>
          </p15:clr>
        </p15:guide>
        <p15:guide id="47" pos="5770" userDrawn="1">
          <p15:clr>
            <a:srgbClr val="5ACBF0"/>
          </p15:clr>
        </p15:guide>
        <p15:guide id="53" orient="horz" pos="436" userDrawn="1">
          <p15:clr>
            <a:srgbClr val="9FCC3B"/>
          </p15:clr>
        </p15:guide>
        <p15:guide id="54" pos="279" userDrawn="1">
          <p15:clr>
            <a:srgbClr val="9FCC3B"/>
          </p15:clr>
        </p15:guide>
        <p15:guide id="55" pos="7401" userDrawn="1">
          <p15:clr>
            <a:srgbClr val="9FCC3B"/>
          </p15:clr>
        </p15:guide>
        <p15:guide id="56" orient="horz" pos="3747" userDrawn="1">
          <p15:clr>
            <a:srgbClr val="9FCC3B"/>
          </p15:clr>
        </p15:guide>
        <p15:guide id="57" orient="horz" pos="3884" userDrawn="1">
          <p15:clr>
            <a:srgbClr val="000000"/>
          </p15:clr>
        </p15:guide>
        <p15:guide id="58" orient="horz" pos="913" userDrawn="1">
          <p15:clr>
            <a:srgbClr val="C35EA4"/>
          </p15:clr>
        </p15:guide>
        <p15:guide id="59" orient="horz" pos="132" userDrawn="1">
          <p15:clr>
            <a:srgbClr val="000000"/>
          </p15:clr>
        </p15:guide>
        <p15:guide id="60" orient="horz" pos="3571" userDrawn="1">
          <p15:clr>
            <a:srgbClr val="5ACBF0"/>
          </p15:clr>
        </p15:guide>
        <p15:guide id="61" orient="horz" pos="4166" userDrawn="1">
          <p15:clr>
            <a:srgbClr val="000000"/>
          </p15:clr>
        </p15:guide>
        <p15:guide id="62" pos="140" userDrawn="1">
          <p15:clr>
            <a:srgbClr val="000000"/>
          </p15:clr>
        </p15:guide>
        <p15:guide id="63" pos="7537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3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11.jp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0.jpg"/><Relationship Id="rId4" Type="http://schemas.openxmlformats.org/officeDocument/2006/relationships/diagramLayout" Target="../diagrams/layout1.xml"/><Relationship Id="rId9" Type="http://schemas.openxmlformats.org/officeDocument/2006/relationships/image" Target="../media/image9.jpg"/><Relationship Id="rId14" Type="http://schemas.openxmlformats.org/officeDocument/2006/relationships/image" Target="../media/image14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13" Type="http://schemas.openxmlformats.org/officeDocument/2006/relationships/image" Target="../media/image20.jp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image" Target="../media/image1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18.jp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17.jpg"/><Relationship Id="rId4" Type="http://schemas.openxmlformats.org/officeDocument/2006/relationships/diagramLayout" Target="../diagrams/layout2.xml"/><Relationship Id="rId9" Type="http://schemas.openxmlformats.org/officeDocument/2006/relationships/image" Target="../media/image16.jpg"/><Relationship Id="rId14" Type="http://schemas.openxmlformats.org/officeDocument/2006/relationships/image" Target="../media/image21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13" Type="http://schemas.openxmlformats.org/officeDocument/2006/relationships/image" Target="../media/image27.jp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image" Target="../media/image2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25.jpg"/><Relationship Id="rId5" Type="http://schemas.openxmlformats.org/officeDocument/2006/relationships/diagramQuickStyle" Target="../diagrams/quickStyle3.xml"/><Relationship Id="rId10" Type="http://schemas.openxmlformats.org/officeDocument/2006/relationships/image" Target="../media/image24.jpg"/><Relationship Id="rId4" Type="http://schemas.openxmlformats.org/officeDocument/2006/relationships/diagramLayout" Target="../diagrams/layout3.xml"/><Relationship Id="rId9" Type="http://schemas.openxmlformats.org/officeDocument/2006/relationships/image" Target="../media/image2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jpg"/><Relationship Id="rId5" Type="http://schemas.openxmlformats.org/officeDocument/2006/relationships/image" Target="../media/image8.jpg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6.jpg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jpg"/><Relationship Id="rId5" Type="http://schemas.openxmlformats.org/officeDocument/2006/relationships/image" Target="../media/image16.jpg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FBE4761-28A9-603C-6EC1-92FA9C1515CE}"/>
              </a:ext>
            </a:extLst>
          </p:cNvPr>
          <p:cNvSpPr txBox="1">
            <a:spLocks/>
          </p:cNvSpPr>
          <p:nvPr/>
        </p:nvSpPr>
        <p:spPr>
          <a:xfrm>
            <a:off x="96336" y="136075"/>
            <a:ext cx="11426383" cy="3935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 cap="all" spc="120" baseline="0">
                <a:solidFill>
                  <a:schemeClr val="bg2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000" cap="none" dirty="0"/>
              <a:t>Un heavy consumidor basado en una frecuencia semanal de una o dos veces por semana principalmente.</a:t>
            </a:r>
          </a:p>
        </p:txBody>
      </p:sp>
      <p:sp>
        <p:nvSpPr>
          <p:cNvPr id="7" name="TitleTextScale3-1">
            <a:extLst>
              <a:ext uri="{FF2B5EF4-FFF2-40B4-BE49-F238E27FC236}">
                <a16:creationId xmlns:a16="http://schemas.microsoft.com/office/drawing/2014/main" id="{633FEA77-ECF9-EF56-6540-2D8A62F14BD8}"/>
              </a:ext>
            </a:extLst>
          </p:cNvPr>
          <p:cNvSpPr>
            <a:spLocks/>
          </p:cNvSpPr>
          <p:nvPr/>
        </p:nvSpPr>
        <p:spPr bwMode="white">
          <a:xfrm>
            <a:off x="10322296" y="6615199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dirty="0"/>
            </a:pP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 Total por ola: 300 casos</a:t>
            </a:r>
          </a:p>
        </p:txBody>
      </p:sp>
      <p:sp>
        <p:nvSpPr>
          <p:cNvPr id="9" name="TitleTextScale3-1">
            <a:extLst>
              <a:ext uri="{FF2B5EF4-FFF2-40B4-BE49-F238E27FC236}">
                <a16:creationId xmlns:a16="http://schemas.microsoft.com/office/drawing/2014/main" id="{8CE8C28C-95C6-9E0E-015D-50460624D00F}"/>
              </a:ext>
            </a:extLst>
          </p:cNvPr>
          <p:cNvSpPr>
            <a:spLocks/>
          </p:cNvSpPr>
          <p:nvPr/>
        </p:nvSpPr>
        <p:spPr bwMode="white">
          <a:xfrm>
            <a:off x="131317" y="6619480"/>
            <a:ext cx="3240360" cy="22773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PF. ¿Con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qué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frecuencia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consumís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[….]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? </a:t>
            </a:r>
          </a:p>
        </p:txBody>
      </p:sp>
      <p:sp>
        <p:nvSpPr>
          <p:cNvPr id="3" name="Titre 4">
            <a:extLst>
              <a:ext uri="{FF2B5EF4-FFF2-40B4-BE49-F238E27FC236}">
                <a16:creationId xmlns:a16="http://schemas.microsoft.com/office/drawing/2014/main" id="{9CB00F54-6223-791C-3A2A-F7B0C9CA1B1A}"/>
              </a:ext>
            </a:extLst>
          </p:cNvPr>
          <p:cNvSpPr txBox="1">
            <a:spLocks/>
          </p:cNvSpPr>
          <p:nvPr/>
        </p:nvSpPr>
        <p:spPr>
          <a:xfrm>
            <a:off x="131318" y="1311568"/>
            <a:ext cx="3723103" cy="480131"/>
          </a:xfrm>
          <a:prstGeom prst="rect">
            <a:avLst/>
          </a:prstGeom>
          <a:noFill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 cap="all" spc="120" baseline="0">
                <a:solidFill>
                  <a:schemeClr val="bg2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all" spc="120" normalizeH="0" baseline="0" noProof="0" dirty="0" err="1">
                <a:ln>
                  <a:noFill/>
                </a:ln>
                <a:solidFill>
                  <a:srgbClr val="2F469C"/>
                </a:solidFill>
                <a:effectLst/>
                <a:uLnTx/>
                <a:uFillTx/>
                <a:ea typeface="+mj-ea"/>
                <a:cs typeface="Calibri" panose="020F0502020204030204" pitchFamily="34" charset="0"/>
              </a:rPr>
              <a:t>frecuencia</a:t>
            </a:r>
            <a:r>
              <a:rPr kumimoji="0" lang="en-GB" sz="1800" b="1" i="0" u="none" strike="noStrike" kern="1200" cap="all" spc="120" normalizeH="0" baseline="0" noProof="0" dirty="0">
                <a:ln>
                  <a:noFill/>
                </a:ln>
                <a:solidFill>
                  <a:srgbClr val="2F469C"/>
                </a:solidFill>
                <a:effectLst/>
                <a:uLnTx/>
                <a:uFillTx/>
                <a:ea typeface="+mj-ea"/>
                <a:cs typeface="Calibri" panose="020F0502020204030204" pitchFamily="34" charset="0"/>
              </a:rPr>
              <a:t>- %</a:t>
            </a:r>
          </a:p>
        </p:txBody>
      </p:sp>
      <p:sp>
        <p:nvSpPr>
          <p:cNvPr id="4" name="Espace réservé du numéro de diapositive 23">
            <a:extLst>
              <a:ext uri="{FF2B5EF4-FFF2-40B4-BE49-F238E27FC236}">
                <a16:creationId xmlns:a16="http://schemas.microsoft.com/office/drawing/2014/main" id="{7D156B38-FFEE-E936-F603-F8FBF93C8579}"/>
              </a:ext>
            </a:extLst>
          </p:cNvPr>
          <p:cNvSpPr txBox="1">
            <a:spLocks/>
          </p:cNvSpPr>
          <p:nvPr/>
        </p:nvSpPr>
        <p:spPr>
          <a:xfrm>
            <a:off x="202866" y="6229538"/>
            <a:ext cx="360037" cy="37246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1AABEC-672F-4B68-B914-690DA978312C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‒ </a:t>
            </a: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0C77CE45-4A5B-E1AF-C29A-0244279C70C2}"/>
              </a:ext>
            </a:extLst>
          </p:cNvPr>
          <p:cNvGraphicFramePr>
            <a:graphicFrameLocks noGrp="1"/>
          </p:cNvGraphicFramePr>
          <p:nvPr/>
        </p:nvGraphicFramePr>
        <p:xfrm>
          <a:off x="2233061" y="6044118"/>
          <a:ext cx="265657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8287">
                  <a:extLst>
                    <a:ext uri="{9D8B030D-6E8A-4147-A177-3AD203B41FA5}">
                      <a16:colId xmlns:a16="http://schemas.microsoft.com/office/drawing/2014/main" val="3563064197"/>
                    </a:ext>
                  </a:extLst>
                </a:gridCol>
                <a:gridCol w="1328287">
                  <a:extLst>
                    <a:ext uri="{9D8B030D-6E8A-4147-A177-3AD203B41FA5}">
                      <a16:colId xmlns:a16="http://schemas.microsoft.com/office/drawing/2014/main" val="7533786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sz="1200" b="0" dirty="0">
                          <a:solidFill>
                            <a:schemeClr val="accent1"/>
                          </a:solidFill>
                        </a:rPr>
                        <a:t>Ola 1 - 2023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b="0" dirty="0">
                          <a:solidFill>
                            <a:schemeClr val="accent1"/>
                          </a:solidFill>
                        </a:rPr>
                        <a:t>Ola 2 - 2024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956951"/>
                  </a:ext>
                </a:extLst>
              </a:tr>
            </a:tbl>
          </a:graphicData>
        </a:graphic>
      </p:graphicFrame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A7C92A6F-3C32-ECCA-7C10-B1AEDCA03643}"/>
              </a:ext>
            </a:extLst>
          </p:cNvPr>
          <p:cNvGraphicFramePr>
            <a:graphicFrameLocks noGrp="1"/>
          </p:cNvGraphicFramePr>
          <p:nvPr/>
        </p:nvGraphicFramePr>
        <p:xfrm>
          <a:off x="5900285" y="5987741"/>
          <a:ext cx="181917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9588">
                  <a:extLst>
                    <a:ext uri="{9D8B030D-6E8A-4147-A177-3AD203B41FA5}">
                      <a16:colId xmlns:a16="http://schemas.microsoft.com/office/drawing/2014/main" val="3563064197"/>
                    </a:ext>
                  </a:extLst>
                </a:gridCol>
                <a:gridCol w="909588">
                  <a:extLst>
                    <a:ext uri="{9D8B030D-6E8A-4147-A177-3AD203B41FA5}">
                      <a16:colId xmlns:a16="http://schemas.microsoft.com/office/drawing/2014/main" val="7533786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sz="1200" b="0" dirty="0">
                          <a:solidFill>
                            <a:schemeClr val="accent1"/>
                          </a:solidFill>
                        </a:rPr>
                        <a:t>Ola 1 - 2023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b="0" dirty="0">
                          <a:solidFill>
                            <a:schemeClr val="accent1"/>
                          </a:solidFill>
                        </a:rPr>
                        <a:t>Ola 2 - 2024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956951"/>
                  </a:ext>
                </a:extLst>
              </a:tr>
            </a:tbl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A3464B72-3598-B1B6-7130-E1BC1FCBBD3F}"/>
              </a:ext>
            </a:extLst>
          </p:cNvPr>
          <p:cNvSpPr txBox="1"/>
          <p:nvPr/>
        </p:nvSpPr>
        <p:spPr>
          <a:xfrm>
            <a:off x="7644619" y="6602002"/>
            <a:ext cx="27972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Diferencias Significativas vs ola anterior 95% CL </a:t>
            </a:r>
            <a:endParaRPr kumimoji="0" lang="es-A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" name="Triángulo isósceles 11">
            <a:extLst>
              <a:ext uri="{FF2B5EF4-FFF2-40B4-BE49-F238E27FC236}">
                <a16:creationId xmlns:a16="http://schemas.microsoft.com/office/drawing/2014/main" id="{AC60B853-09C1-BBE1-DD61-147A865536B7}"/>
              </a:ext>
            </a:extLst>
          </p:cNvPr>
          <p:cNvSpPr/>
          <p:nvPr/>
        </p:nvSpPr>
        <p:spPr bwMode="auto">
          <a:xfrm>
            <a:off x="7400292" y="6660178"/>
            <a:ext cx="132570" cy="144000"/>
          </a:xfrm>
          <a:prstGeom prst="triangl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14" name="Triángulo isósceles 13">
            <a:extLst>
              <a:ext uri="{FF2B5EF4-FFF2-40B4-BE49-F238E27FC236}">
                <a16:creationId xmlns:a16="http://schemas.microsoft.com/office/drawing/2014/main" id="{6EF1D7E6-49F7-138F-1AC0-7BC99E759FC5}"/>
              </a:ext>
            </a:extLst>
          </p:cNvPr>
          <p:cNvSpPr/>
          <p:nvPr/>
        </p:nvSpPr>
        <p:spPr bwMode="auto">
          <a:xfrm rot="10800000">
            <a:off x="7523816" y="6663555"/>
            <a:ext cx="132570" cy="14400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D6F9E8A7-B3AC-9B42-3D6E-ED19D8452BBA}"/>
              </a:ext>
            </a:extLst>
          </p:cNvPr>
          <p:cNvSpPr/>
          <p:nvPr/>
        </p:nvSpPr>
        <p:spPr>
          <a:xfrm>
            <a:off x="5821680" y="3241040"/>
            <a:ext cx="2336800" cy="144272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endParaRPr lang="es-AR" sz="1200" dirty="0">
              <a:solidFill>
                <a:schemeClr val="tx1"/>
              </a:solidFill>
            </a:endParaRPr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68F54793-B69A-750F-B413-52175A11DA13}"/>
              </a:ext>
            </a:extLst>
          </p:cNvPr>
          <p:cNvSpPr/>
          <p:nvPr/>
        </p:nvSpPr>
        <p:spPr>
          <a:xfrm>
            <a:off x="4802679" y="3510008"/>
            <a:ext cx="630752" cy="580398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endParaRPr lang="es-AR" sz="1200" dirty="0">
              <a:solidFill>
                <a:schemeClr val="tx1"/>
              </a:solidFill>
            </a:endParaRPr>
          </a:p>
        </p:txBody>
      </p:sp>
      <p:graphicFrame>
        <p:nvGraphicFramePr>
          <p:cNvPr id="11" name="__FREQ_AGRUP_WAVE">
            <a:extLst>
              <a:ext uri="{FF2B5EF4-FFF2-40B4-BE49-F238E27FC236}">
                <a16:creationId xmlns:a16="http://schemas.microsoft.com/office/drawing/2014/main" id="{07C94707-3AAB-1EDB-621D-77B1ABCE61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9623851"/>
              </p:ext>
            </p:extLst>
          </p:nvPr>
        </p:nvGraphicFramePr>
        <p:xfrm>
          <a:off x="90892" y="1800945"/>
          <a:ext cx="4882061" cy="3981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__Cat_PUR_FREQ">
            <a:extLst>
              <a:ext uri="{FF2B5EF4-FFF2-40B4-BE49-F238E27FC236}">
                <a16:creationId xmlns:a16="http://schemas.microsoft.com/office/drawing/2014/main" id="{14598BC9-6888-AC57-3A8D-29730E144D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6256015"/>
              </p:ext>
            </p:extLst>
          </p:nvPr>
        </p:nvGraphicFramePr>
        <p:xfrm>
          <a:off x="4453147" y="1746353"/>
          <a:ext cx="7738853" cy="39832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59025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C5EC3-7DCD-7753-83FE-CCB8FDE85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83C4C47-9E9C-2ABF-2F1C-B40A73D7D0A8}"/>
              </a:ext>
            </a:extLst>
          </p:cNvPr>
          <p:cNvSpPr txBox="1"/>
          <p:nvPr/>
        </p:nvSpPr>
        <p:spPr>
          <a:xfrm>
            <a:off x="104747" y="1462967"/>
            <a:ext cx="73332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ES" sz="1600" b="1" dirty="0">
                <a:solidFill>
                  <a:schemeClr val="bg2"/>
                </a:solidFill>
              </a:rPr>
              <a:t>CONOCIMIENTO ESPONTÁNEO- PRIMERA MENCIÓN - %</a:t>
            </a:r>
          </a:p>
        </p:txBody>
      </p:sp>
      <p:sp>
        <p:nvSpPr>
          <p:cNvPr id="6" name="TitleTextScale3-1">
            <a:extLst>
              <a:ext uri="{FF2B5EF4-FFF2-40B4-BE49-F238E27FC236}">
                <a16:creationId xmlns:a16="http://schemas.microsoft.com/office/drawing/2014/main" id="{15A2CA57-53BB-D887-7E33-A1752035CD19}"/>
              </a:ext>
            </a:extLst>
          </p:cNvPr>
          <p:cNvSpPr>
            <a:spLocks/>
          </p:cNvSpPr>
          <p:nvPr/>
        </p:nvSpPr>
        <p:spPr bwMode="white">
          <a:xfrm>
            <a:off x="7752184" y="6615199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r>
              <a:rPr lang="es-ES" sz="1000" dirty="0">
                <a:solidFill>
                  <a:srgbClr val="FF0000"/>
                </a:solidFill>
              </a:rPr>
              <a:t>Se muestran marcas &gt;5%</a:t>
            </a:r>
            <a:endParaRPr sz="1000" dirty="0">
              <a:solidFill>
                <a:srgbClr val="FF0000"/>
              </a:solidFill>
            </a:endParaRPr>
          </a:p>
        </p:txBody>
      </p:sp>
      <p:sp>
        <p:nvSpPr>
          <p:cNvPr id="7" name="TitleTextScale3-1">
            <a:extLst>
              <a:ext uri="{FF2B5EF4-FFF2-40B4-BE49-F238E27FC236}">
                <a16:creationId xmlns:a16="http://schemas.microsoft.com/office/drawing/2014/main" id="{A4725298-2D78-C394-283C-077815FB1767}"/>
              </a:ext>
            </a:extLst>
          </p:cNvPr>
          <p:cNvSpPr>
            <a:spLocks/>
          </p:cNvSpPr>
          <p:nvPr/>
        </p:nvSpPr>
        <p:spPr bwMode="white">
          <a:xfrm>
            <a:off x="122808" y="6576403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r>
              <a:rPr sz="1000" dirty="0">
                <a:solidFill>
                  <a:schemeClr val="bg1">
                    <a:lumMod val="50000"/>
                  </a:schemeClr>
                </a:solidFill>
              </a:rPr>
              <a:t>Q1PM. ¿</a:t>
            </a:r>
            <a:r>
              <a:rPr sz="1000" dirty="0" err="1">
                <a:solidFill>
                  <a:schemeClr val="bg1">
                    <a:lumMod val="50000"/>
                  </a:schemeClr>
                </a:solidFill>
              </a:rPr>
              <a:t>Qué</a:t>
            </a:r>
            <a:r>
              <a:rPr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sz="1000" dirty="0" err="1">
                <a:solidFill>
                  <a:schemeClr val="bg1">
                    <a:lumMod val="50000"/>
                  </a:schemeClr>
                </a:solidFill>
              </a:rPr>
              <a:t>marcas</a:t>
            </a:r>
            <a:r>
              <a:rPr sz="1000" dirty="0">
                <a:solidFill>
                  <a:schemeClr val="bg1">
                    <a:lumMod val="50000"/>
                  </a:schemeClr>
                </a:solidFill>
              </a:rPr>
              <a:t> de</a:t>
            </a:r>
            <a:r>
              <a:rPr lang="es-ES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AR" sz="1000" dirty="0">
                <a:solidFill>
                  <a:schemeClr val="bg1">
                    <a:lumMod val="50000"/>
                  </a:schemeClr>
                </a:solidFill>
              </a:rPr>
              <a:t>[….]</a:t>
            </a:r>
            <a:r>
              <a:rPr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sz="1000" dirty="0" err="1">
                <a:solidFill>
                  <a:schemeClr val="bg1">
                    <a:lumMod val="50000"/>
                  </a:schemeClr>
                </a:solidFill>
              </a:rPr>
              <a:t>conocés</a:t>
            </a:r>
            <a:r>
              <a:rPr sz="1000" dirty="0">
                <a:solidFill>
                  <a:schemeClr val="bg1">
                    <a:lumMod val="50000"/>
                  </a:schemeClr>
                </a:solidFill>
              </a:rPr>
              <a:t>?</a:t>
            </a:r>
          </a:p>
        </p:txBody>
      </p:sp>
      <p:sp>
        <p:nvSpPr>
          <p:cNvPr id="8" name="TitleTextScale3-1">
            <a:extLst>
              <a:ext uri="{FF2B5EF4-FFF2-40B4-BE49-F238E27FC236}">
                <a16:creationId xmlns:a16="http://schemas.microsoft.com/office/drawing/2014/main" id="{625E48CF-800B-E25D-1330-F5FA34A7F164}"/>
              </a:ext>
            </a:extLst>
          </p:cNvPr>
          <p:cNvSpPr>
            <a:spLocks/>
          </p:cNvSpPr>
          <p:nvPr/>
        </p:nvSpPr>
        <p:spPr bwMode="white">
          <a:xfrm>
            <a:off x="10322296" y="6615199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dirty="0"/>
            </a:pP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 Total por ola: 300 casos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B1E7439-7DDA-D263-BEA0-CC155DA1DEF0}"/>
              </a:ext>
            </a:extLst>
          </p:cNvPr>
          <p:cNvSpPr/>
          <p:nvPr/>
        </p:nvSpPr>
        <p:spPr>
          <a:xfrm>
            <a:off x="9062720" y="979178"/>
            <a:ext cx="2941503" cy="830997"/>
          </a:xfrm>
          <a:prstGeom prst="rect">
            <a:avLst/>
          </a:prstGeom>
          <a:solidFill>
            <a:srgbClr val="4EAC8A"/>
          </a:solidFill>
        </p:spPr>
        <p:txBody>
          <a:bodyPr wrap="square" rtlCol="0">
            <a:sp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dirty="0">
                <a:solidFill>
                  <a:schemeClr val="bg1"/>
                </a:solidFill>
              </a:rPr>
              <a:t>Se mencionaron </a:t>
            </a:r>
            <a:r>
              <a:rPr lang="es-AR" sz="1600" b="1" dirty="0">
                <a:solidFill>
                  <a:schemeClr val="bg1"/>
                </a:solidFill>
              </a:rPr>
              <a:t>3 marcas </a:t>
            </a:r>
            <a:r>
              <a:rPr lang="es-AR" sz="1600" dirty="0">
                <a:solidFill>
                  <a:schemeClr val="bg1"/>
                </a:solidFill>
              </a:rPr>
              <a:t>en promedio en conocimiento espontáneo total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B3129A9-04C6-6825-A5D7-41CA4E722977}"/>
              </a:ext>
            </a:extLst>
          </p:cNvPr>
          <p:cNvSpPr txBox="1"/>
          <p:nvPr/>
        </p:nvSpPr>
        <p:spPr>
          <a:xfrm>
            <a:off x="5107057" y="6606545"/>
            <a:ext cx="27972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Diferencias Significativas vs ola anterior 95% CL </a:t>
            </a:r>
            <a:endParaRPr kumimoji="0" lang="es-A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8" name="Triángulo isósceles 17">
            <a:extLst>
              <a:ext uri="{FF2B5EF4-FFF2-40B4-BE49-F238E27FC236}">
                <a16:creationId xmlns:a16="http://schemas.microsoft.com/office/drawing/2014/main" id="{790868F6-A687-2D7D-9A69-26CF3E54E153}"/>
              </a:ext>
            </a:extLst>
          </p:cNvPr>
          <p:cNvSpPr/>
          <p:nvPr/>
        </p:nvSpPr>
        <p:spPr bwMode="auto">
          <a:xfrm>
            <a:off x="4862730" y="6664721"/>
            <a:ext cx="132570" cy="144000"/>
          </a:xfrm>
          <a:prstGeom prst="triangl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19" name="Triángulo isósceles 18">
            <a:extLst>
              <a:ext uri="{FF2B5EF4-FFF2-40B4-BE49-F238E27FC236}">
                <a16:creationId xmlns:a16="http://schemas.microsoft.com/office/drawing/2014/main" id="{EDE16C69-9D21-5B57-E699-C7DA1426E782}"/>
              </a:ext>
            </a:extLst>
          </p:cNvPr>
          <p:cNvSpPr/>
          <p:nvPr/>
        </p:nvSpPr>
        <p:spPr bwMode="auto">
          <a:xfrm rot="10800000">
            <a:off x="4986254" y="6668098"/>
            <a:ext cx="132570" cy="14400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graphicFrame>
        <p:nvGraphicFramePr>
          <p:cNvPr id="15" name="__TMBA_WAVE">
            <a:extLst>
              <a:ext uri="{FF2B5EF4-FFF2-40B4-BE49-F238E27FC236}">
                <a16:creationId xmlns:a16="http://schemas.microsoft.com/office/drawing/2014/main" id="{2338972C-7337-72BB-BE86-B5A688CA9D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6815623"/>
              </p:ext>
            </p:extLst>
          </p:nvPr>
        </p:nvGraphicFramePr>
        <p:xfrm>
          <a:off x="558800" y="1810176"/>
          <a:ext cx="10414000" cy="3591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6" name="Imagen 15" descr="Imagen que contiene firmar, dibujo, alimentos, palo&#10;&#10;Descripción generada automáticamente">
            <a:extLst>
              <a:ext uri="{FF2B5EF4-FFF2-40B4-BE49-F238E27FC236}">
                <a16:creationId xmlns:a16="http://schemas.microsoft.com/office/drawing/2014/main" id="{32557001-EB23-ECBB-2DAE-9F175B2ECF3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8801" y="4632960"/>
            <a:ext cx="1154864" cy="462811"/>
          </a:xfrm>
          <a:prstGeom prst="rect">
            <a:avLst/>
          </a:prstGeom>
        </p:spPr>
      </p:pic>
      <p:sp>
        <p:nvSpPr>
          <p:cNvPr id="17" name="Flecha: curvada hacia la izquierda 16">
            <a:extLst>
              <a:ext uri="{FF2B5EF4-FFF2-40B4-BE49-F238E27FC236}">
                <a16:creationId xmlns:a16="http://schemas.microsoft.com/office/drawing/2014/main" id="{39D804D0-2868-CC68-6548-510953247A53}"/>
              </a:ext>
            </a:extLst>
          </p:cNvPr>
          <p:cNvSpPr/>
          <p:nvPr/>
        </p:nvSpPr>
        <p:spPr>
          <a:xfrm rot="18469271">
            <a:off x="1864324" y="1988689"/>
            <a:ext cx="406668" cy="1228445"/>
          </a:xfrm>
          <a:prstGeom prst="curvedLef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endParaRPr lang="es-AR" sz="12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6D4F20-61FB-7AF5-705B-0FAA394D375F}"/>
              </a:ext>
            </a:extLst>
          </p:cNvPr>
          <p:cNvSpPr txBox="1">
            <a:spLocks/>
          </p:cNvSpPr>
          <p:nvPr/>
        </p:nvSpPr>
        <p:spPr>
          <a:xfrm>
            <a:off x="122808" y="149928"/>
            <a:ext cx="11608047" cy="4543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cap="none" spc="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s-AR" sz="2000" b="0" dirty="0"/>
              <a:t>Si bien queda evidente el liderazgo de LS y la distancia vs la competencia,  sostenerse es la primera tarea para nuestra marca </a:t>
            </a:r>
          </a:p>
        </p:txBody>
      </p:sp>
    </p:spTree>
    <p:extLst>
      <p:ext uri="{BB962C8B-B14F-4D97-AF65-F5344CB8AC3E}">
        <p14:creationId xmlns:p14="http://schemas.microsoft.com/office/powerpoint/2010/main" val="1595035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7A123AF-518F-26C7-49CB-028D12888B4C}"/>
              </a:ext>
            </a:extLst>
          </p:cNvPr>
          <p:cNvSpPr txBox="1"/>
          <p:nvPr/>
        </p:nvSpPr>
        <p:spPr>
          <a:xfrm>
            <a:off x="104747" y="1462967"/>
            <a:ext cx="73332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ES" sz="1600" b="1" dirty="0">
                <a:solidFill>
                  <a:schemeClr val="bg2"/>
                </a:solidFill>
              </a:rPr>
              <a:t>CONOCIMIENTO ESPONTÁNEO - %</a:t>
            </a:r>
          </a:p>
        </p:txBody>
      </p:sp>
      <p:sp>
        <p:nvSpPr>
          <p:cNvPr id="6" name="TitleTextScale3-1">
            <a:extLst>
              <a:ext uri="{FF2B5EF4-FFF2-40B4-BE49-F238E27FC236}">
                <a16:creationId xmlns:a16="http://schemas.microsoft.com/office/drawing/2014/main" id="{99CD1795-706C-33BB-8C08-590F24C87627}"/>
              </a:ext>
            </a:extLst>
          </p:cNvPr>
          <p:cNvSpPr>
            <a:spLocks/>
          </p:cNvSpPr>
          <p:nvPr/>
        </p:nvSpPr>
        <p:spPr bwMode="white">
          <a:xfrm>
            <a:off x="7752184" y="6615199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r>
              <a:rPr lang="es-ES" sz="1000" dirty="0">
                <a:solidFill>
                  <a:srgbClr val="FF0000"/>
                </a:solidFill>
              </a:rPr>
              <a:t>Se muestran marcas &gt;5%</a:t>
            </a:r>
            <a:endParaRPr sz="1000" dirty="0">
              <a:solidFill>
                <a:srgbClr val="FF0000"/>
              </a:solidFill>
            </a:endParaRPr>
          </a:p>
        </p:txBody>
      </p:sp>
      <p:sp>
        <p:nvSpPr>
          <p:cNvPr id="7" name="TitleTextScale3-1">
            <a:extLst>
              <a:ext uri="{FF2B5EF4-FFF2-40B4-BE49-F238E27FC236}">
                <a16:creationId xmlns:a16="http://schemas.microsoft.com/office/drawing/2014/main" id="{1075F4FE-758D-397E-4C9C-0E80AA78887D}"/>
              </a:ext>
            </a:extLst>
          </p:cNvPr>
          <p:cNvSpPr>
            <a:spLocks/>
          </p:cNvSpPr>
          <p:nvPr/>
        </p:nvSpPr>
        <p:spPr bwMode="white">
          <a:xfrm>
            <a:off x="122808" y="6576403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r>
              <a:rPr sz="1000" dirty="0">
                <a:solidFill>
                  <a:schemeClr val="bg1">
                    <a:lumMod val="50000"/>
                  </a:schemeClr>
                </a:solidFill>
              </a:rPr>
              <a:t>Q1PM. ¿</a:t>
            </a:r>
            <a:r>
              <a:rPr sz="1000" dirty="0" err="1">
                <a:solidFill>
                  <a:schemeClr val="bg1">
                    <a:lumMod val="50000"/>
                  </a:schemeClr>
                </a:solidFill>
              </a:rPr>
              <a:t>Qué</a:t>
            </a:r>
            <a:r>
              <a:rPr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sz="1000" dirty="0" err="1">
                <a:solidFill>
                  <a:schemeClr val="bg1">
                    <a:lumMod val="50000"/>
                  </a:schemeClr>
                </a:solidFill>
              </a:rPr>
              <a:t>marcas</a:t>
            </a:r>
            <a:r>
              <a:rPr sz="1000" dirty="0">
                <a:solidFill>
                  <a:schemeClr val="bg1">
                    <a:lumMod val="50000"/>
                  </a:schemeClr>
                </a:solidFill>
              </a:rPr>
              <a:t> de</a:t>
            </a:r>
            <a:r>
              <a:rPr lang="es-ES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AR" sz="1000" dirty="0">
                <a:solidFill>
                  <a:schemeClr val="bg1">
                    <a:lumMod val="50000"/>
                  </a:schemeClr>
                </a:solidFill>
              </a:rPr>
              <a:t>[….]</a:t>
            </a:r>
            <a:r>
              <a:rPr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sz="1000" dirty="0" err="1">
                <a:solidFill>
                  <a:schemeClr val="bg1">
                    <a:lumMod val="50000"/>
                  </a:schemeClr>
                </a:solidFill>
              </a:rPr>
              <a:t>conocés</a:t>
            </a:r>
            <a:r>
              <a:rPr sz="1000" dirty="0">
                <a:solidFill>
                  <a:schemeClr val="bg1">
                    <a:lumMod val="50000"/>
                  </a:schemeClr>
                </a:solidFill>
              </a:rPr>
              <a:t>?</a:t>
            </a:r>
          </a:p>
        </p:txBody>
      </p:sp>
      <p:sp>
        <p:nvSpPr>
          <p:cNvPr id="8" name="TitleTextScale3-1">
            <a:extLst>
              <a:ext uri="{FF2B5EF4-FFF2-40B4-BE49-F238E27FC236}">
                <a16:creationId xmlns:a16="http://schemas.microsoft.com/office/drawing/2014/main" id="{8BF85D88-5A12-B68B-8AFD-30484D6B8F75}"/>
              </a:ext>
            </a:extLst>
          </p:cNvPr>
          <p:cNvSpPr>
            <a:spLocks/>
          </p:cNvSpPr>
          <p:nvPr/>
        </p:nvSpPr>
        <p:spPr bwMode="white">
          <a:xfrm>
            <a:off x="10322296" y="6615199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dirty="0"/>
            </a:pP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 Total por ola: 300 casos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E086EC9-86BD-EA04-9FB9-930E5234DB42}"/>
              </a:ext>
            </a:extLst>
          </p:cNvPr>
          <p:cNvSpPr/>
          <p:nvPr/>
        </p:nvSpPr>
        <p:spPr>
          <a:xfrm>
            <a:off x="9062720" y="979178"/>
            <a:ext cx="2941503" cy="830997"/>
          </a:xfrm>
          <a:prstGeom prst="rect">
            <a:avLst/>
          </a:prstGeom>
          <a:solidFill>
            <a:srgbClr val="4EAC8A"/>
          </a:solidFill>
        </p:spPr>
        <p:txBody>
          <a:bodyPr wrap="square" rtlCol="0">
            <a:sp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dirty="0">
                <a:solidFill>
                  <a:schemeClr val="bg1"/>
                </a:solidFill>
              </a:rPr>
              <a:t>Se mencionaron </a:t>
            </a:r>
            <a:r>
              <a:rPr lang="es-AR" sz="1600" b="1" dirty="0">
                <a:solidFill>
                  <a:schemeClr val="bg1"/>
                </a:solidFill>
              </a:rPr>
              <a:t>3 marcas </a:t>
            </a:r>
            <a:r>
              <a:rPr lang="es-AR" sz="1600" dirty="0">
                <a:solidFill>
                  <a:schemeClr val="bg1"/>
                </a:solidFill>
              </a:rPr>
              <a:t>en promedio en conocimiento espontáneo total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FAF8686-C3C0-B2FD-BF3A-6DD966B3554E}"/>
              </a:ext>
            </a:extLst>
          </p:cNvPr>
          <p:cNvSpPr txBox="1"/>
          <p:nvPr/>
        </p:nvSpPr>
        <p:spPr>
          <a:xfrm>
            <a:off x="5107057" y="6606545"/>
            <a:ext cx="27972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Diferencias Significativas vs ola anterior 95% CL </a:t>
            </a:r>
            <a:endParaRPr kumimoji="0" lang="es-A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8" name="Triángulo isósceles 17">
            <a:extLst>
              <a:ext uri="{FF2B5EF4-FFF2-40B4-BE49-F238E27FC236}">
                <a16:creationId xmlns:a16="http://schemas.microsoft.com/office/drawing/2014/main" id="{32A4F008-3169-B068-58F1-A088A529949C}"/>
              </a:ext>
            </a:extLst>
          </p:cNvPr>
          <p:cNvSpPr/>
          <p:nvPr/>
        </p:nvSpPr>
        <p:spPr bwMode="auto">
          <a:xfrm>
            <a:off x="4862730" y="6664721"/>
            <a:ext cx="132570" cy="144000"/>
          </a:xfrm>
          <a:prstGeom prst="triangl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19" name="Triángulo isósceles 18">
            <a:extLst>
              <a:ext uri="{FF2B5EF4-FFF2-40B4-BE49-F238E27FC236}">
                <a16:creationId xmlns:a16="http://schemas.microsoft.com/office/drawing/2014/main" id="{81EADA23-8D0E-D4A5-DFCC-A3EDC4966D33}"/>
              </a:ext>
            </a:extLst>
          </p:cNvPr>
          <p:cNvSpPr/>
          <p:nvPr/>
        </p:nvSpPr>
        <p:spPr bwMode="auto">
          <a:xfrm rot="10800000">
            <a:off x="4986254" y="6668098"/>
            <a:ext cx="132570" cy="14400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graphicFrame>
        <p:nvGraphicFramePr>
          <p:cNvPr id="15" name="__TOT_WAVE">
            <a:extLst>
              <a:ext uri="{FF2B5EF4-FFF2-40B4-BE49-F238E27FC236}">
                <a16:creationId xmlns:a16="http://schemas.microsoft.com/office/drawing/2014/main" id="{33811E77-8B2E-E5B4-0311-68A95C4DD9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0124501"/>
              </p:ext>
            </p:extLst>
          </p:nvPr>
        </p:nvGraphicFramePr>
        <p:xfrm>
          <a:off x="558800" y="1810176"/>
          <a:ext cx="10414000" cy="3591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6" name="Imagen 15" descr="Imagen que contiene firmar, dibujo, alimentos, palo&#10;&#10;Descripción generada automáticamente">
            <a:extLst>
              <a:ext uri="{FF2B5EF4-FFF2-40B4-BE49-F238E27FC236}">
                <a16:creationId xmlns:a16="http://schemas.microsoft.com/office/drawing/2014/main" id="{00A27C47-FECF-A0A5-50C9-F525C827D17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8801" y="4632960"/>
            <a:ext cx="1154864" cy="462811"/>
          </a:xfrm>
          <a:prstGeom prst="rect">
            <a:avLst/>
          </a:prstGeom>
        </p:spPr>
      </p:pic>
      <p:sp>
        <p:nvSpPr>
          <p:cNvPr id="17" name="Flecha: curvada hacia la izquierda 16">
            <a:extLst>
              <a:ext uri="{FF2B5EF4-FFF2-40B4-BE49-F238E27FC236}">
                <a16:creationId xmlns:a16="http://schemas.microsoft.com/office/drawing/2014/main" id="{2B512474-A30F-16B1-7695-8460CB79FFEF}"/>
              </a:ext>
            </a:extLst>
          </p:cNvPr>
          <p:cNvSpPr/>
          <p:nvPr/>
        </p:nvSpPr>
        <p:spPr>
          <a:xfrm rot="18469271">
            <a:off x="1864324" y="1988689"/>
            <a:ext cx="406668" cy="1228445"/>
          </a:xfrm>
          <a:prstGeom prst="curvedLef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endParaRPr lang="es-AR" sz="12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B08894-F1BE-0D29-7CC9-9B6F9DD06832}"/>
              </a:ext>
            </a:extLst>
          </p:cNvPr>
          <p:cNvSpPr txBox="1">
            <a:spLocks/>
          </p:cNvSpPr>
          <p:nvPr/>
        </p:nvSpPr>
        <p:spPr>
          <a:xfrm>
            <a:off x="122808" y="149928"/>
            <a:ext cx="11608047" cy="4543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cap="none" spc="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s-AR" sz="2000" b="0" dirty="0"/>
              <a:t>Si bien queda evidente el liderazgo de LS y la distancia vs la competencia,  sostenerse es la primera tarea para nuestra marca </a:t>
            </a:r>
          </a:p>
        </p:txBody>
      </p:sp>
    </p:spTree>
    <p:extLst>
      <p:ext uri="{BB962C8B-B14F-4D97-AF65-F5344CB8AC3E}">
        <p14:creationId xmlns:p14="http://schemas.microsoft.com/office/powerpoint/2010/main" val="1475903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TextScale3-1"/>
          <p:cNvSpPr>
            <a:spLocks/>
          </p:cNvSpPr>
          <p:nvPr/>
        </p:nvSpPr>
        <p:spPr bwMode="white">
          <a:xfrm>
            <a:off x="118162" y="6620818"/>
            <a:ext cx="7837264" cy="20171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r>
              <a:rPr lang="es-AR" sz="1000" dirty="0">
                <a:solidFill>
                  <a:schemeClr val="bg1">
                    <a:lumMod val="50000"/>
                  </a:schemeClr>
                </a:solidFill>
              </a:rPr>
              <a:t>PREFERENCE. </a:t>
            </a:r>
            <a:r>
              <a:rPr lang="es-MX" sz="1000" dirty="0">
                <a:solidFill>
                  <a:schemeClr val="bg1">
                    <a:lumMod val="50000"/>
                  </a:schemeClr>
                </a:solidFill>
              </a:rPr>
              <a:t>¿Y cuál de estas marcas de […] es las que preferís? Sólo </a:t>
            </a:r>
            <a:r>
              <a:rPr lang="es-MX" sz="1000" dirty="0" err="1">
                <a:solidFill>
                  <a:schemeClr val="bg1">
                    <a:lumMod val="50000"/>
                  </a:schemeClr>
                </a:solidFill>
              </a:rPr>
              <a:t>debés</a:t>
            </a:r>
            <a:r>
              <a:rPr lang="es-MX" sz="1000" dirty="0">
                <a:solidFill>
                  <a:schemeClr val="bg1">
                    <a:lumMod val="50000"/>
                  </a:schemeClr>
                </a:solidFill>
              </a:rPr>
              <a:t> seleccionar una.</a:t>
            </a:r>
            <a:endParaRPr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F127BCF-7B74-9C1C-5577-3F1D26A183BC}"/>
              </a:ext>
            </a:extLst>
          </p:cNvPr>
          <p:cNvSpPr txBox="1"/>
          <p:nvPr/>
        </p:nvSpPr>
        <p:spPr>
          <a:xfrm>
            <a:off x="118162" y="1179840"/>
            <a:ext cx="24907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s-AR" b="1" dirty="0"/>
              <a:t>PREFERENCIA - %</a:t>
            </a:r>
          </a:p>
        </p:txBody>
      </p:sp>
      <p:sp>
        <p:nvSpPr>
          <p:cNvPr id="5" name="Espace réservé du numéro de diapositive 23">
            <a:extLst>
              <a:ext uri="{FF2B5EF4-FFF2-40B4-BE49-F238E27FC236}">
                <a16:creationId xmlns:a16="http://schemas.microsoft.com/office/drawing/2014/main" id="{7F8FE47C-C9F1-0A07-16B0-1E8AFBBBAC02}"/>
              </a:ext>
            </a:extLst>
          </p:cNvPr>
          <p:cNvSpPr txBox="1">
            <a:spLocks/>
          </p:cNvSpPr>
          <p:nvPr/>
        </p:nvSpPr>
        <p:spPr>
          <a:xfrm>
            <a:off x="202866" y="6229538"/>
            <a:ext cx="360037" cy="37246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1AABEC-672F-4B68-B914-690DA978312C}" type="slidenum">
              <a:rPr lang="en-GB" sz="1100" smtClean="0"/>
              <a:pPr/>
              <a:t>4</a:t>
            </a:fld>
            <a:r>
              <a:rPr lang="en-GB" sz="1100"/>
              <a:t> ‒ </a:t>
            </a:r>
            <a:endParaRPr lang="en-GB" sz="1100" dirty="0"/>
          </a:p>
        </p:txBody>
      </p:sp>
      <p:sp>
        <p:nvSpPr>
          <p:cNvPr id="10" name="TitleTextScale3-1">
            <a:extLst>
              <a:ext uri="{FF2B5EF4-FFF2-40B4-BE49-F238E27FC236}">
                <a16:creationId xmlns:a16="http://schemas.microsoft.com/office/drawing/2014/main" id="{40309E91-C3EA-50BE-BCDA-04BF9C38D26A}"/>
              </a:ext>
            </a:extLst>
          </p:cNvPr>
          <p:cNvSpPr>
            <a:spLocks/>
          </p:cNvSpPr>
          <p:nvPr/>
        </p:nvSpPr>
        <p:spPr bwMode="white">
          <a:xfrm>
            <a:off x="10109572" y="6607128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r>
              <a:rPr lang="es-MX" sz="1000" dirty="0">
                <a:solidFill>
                  <a:schemeClr val="bg1">
                    <a:lumMod val="50000"/>
                  </a:schemeClr>
                </a:solidFill>
              </a:rPr>
              <a:t>Base Total por  ola: 300 casos</a:t>
            </a:r>
          </a:p>
        </p:txBody>
      </p:sp>
      <p:graphicFrame>
        <p:nvGraphicFramePr>
          <p:cNvPr id="11" name="__PREFERENCE_WAVE">
            <a:extLst>
              <a:ext uri="{FF2B5EF4-FFF2-40B4-BE49-F238E27FC236}">
                <a16:creationId xmlns:a16="http://schemas.microsoft.com/office/drawing/2014/main" id="{5B9DB54E-25EE-44B7-4532-A9CD0037BB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4664022"/>
              </p:ext>
            </p:extLst>
          </p:nvPr>
        </p:nvGraphicFramePr>
        <p:xfrm>
          <a:off x="1415133" y="1599299"/>
          <a:ext cx="9146309" cy="30963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itre 4">
            <a:extLst>
              <a:ext uri="{FF2B5EF4-FFF2-40B4-BE49-F238E27FC236}">
                <a16:creationId xmlns:a16="http://schemas.microsoft.com/office/drawing/2014/main" id="{9EE8E7B6-3D40-C712-E951-6FBD46909E28}"/>
              </a:ext>
            </a:extLst>
          </p:cNvPr>
          <p:cNvSpPr txBox="1">
            <a:spLocks/>
          </p:cNvSpPr>
          <p:nvPr/>
        </p:nvSpPr>
        <p:spPr>
          <a:xfrm>
            <a:off x="118162" y="136326"/>
            <a:ext cx="11294822" cy="84357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 cap="all" spc="120" baseline="0">
                <a:solidFill>
                  <a:schemeClr val="bg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s-AR" sz="2000" b="1" dirty="0">
                <a:solidFill>
                  <a:schemeClr val="tx1"/>
                </a:solidFill>
              </a:rPr>
              <a:t>LS</a:t>
            </a:r>
            <a:r>
              <a:rPr lang="es-AR" sz="2000" dirty="0">
                <a:solidFill>
                  <a:schemeClr val="tx1"/>
                </a:solidFill>
              </a:rPr>
              <a:t> </a:t>
            </a:r>
            <a:r>
              <a:rPr lang="es-AR" sz="2000" cap="none" dirty="0">
                <a:solidFill>
                  <a:schemeClr val="tx1"/>
                </a:solidFill>
              </a:rPr>
              <a:t>continúa siendo la marca preferida, doblando los valores del resto de las marcas</a:t>
            </a:r>
          </a:p>
          <a:p>
            <a:endParaRPr lang="es-AR" sz="2000" dirty="0">
              <a:solidFill>
                <a:schemeClr val="tx1"/>
              </a:solidFill>
            </a:endParaRPr>
          </a:p>
        </p:txBody>
      </p:sp>
      <p:sp>
        <p:nvSpPr>
          <p:cNvPr id="8" name="TitleTextScale3-1">
            <a:extLst>
              <a:ext uri="{FF2B5EF4-FFF2-40B4-BE49-F238E27FC236}">
                <a16:creationId xmlns:a16="http://schemas.microsoft.com/office/drawing/2014/main" id="{F3FDF1B8-5D04-56F5-1505-5917B5C4F98C}"/>
              </a:ext>
            </a:extLst>
          </p:cNvPr>
          <p:cNvSpPr>
            <a:spLocks/>
          </p:cNvSpPr>
          <p:nvPr/>
        </p:nvSpPr>
        <p:spPr bwMode="white">
          <a:xfrm>
            <a:off x="399051" y="5967928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r>
              <a:rPr lang="es-ES" sz="1000" dirty="0">
                <a:solidFill>
                  <a:srgbClr val="FF0000"/>
                </a:solidFill>
              </a:rPr>
              <a:t>Se muestran marcas &gt;5%</a:t>
            </a:r>
            <a:endParaRPr sz="1000" dirty="0">
              <a:solidFill>
                <a:srgbClr val="FF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F3BF265-D63F-0D31-C25C-3A8241D86C70}"/>
              </a:ext>
            </a:extLst>
          </p:cNvPr>
          <p:cNvSpPr txBox="1"/>
          <p:nvPr/>
        </p:nvSpPr>
        <p:spPr>
          <a:xfrm>
            <a:off x="7028399" y="6576309"/>
            <a:ext cx="27972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Diferencias Significativas vs ola anterior 95% CL </a:t>
            </a:r>
            <a:endParaRPr kumimoji="0" lang="es-A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Triángulo isósceles 5">
            <a:extLst>
              <a:ext uri="{FF2B5EF4-FFF2-40B4-BE49-F238E27FC236}">
                <a16:creationId xmlns:a16="http://schemas.microsoft.com/office/drawing/2014/main" id="{622711C3-8D69-8451-7F21-877F4005EB27}"/>
              </a:ext>
            </a:extLst>
          </p:cNvPr>
          <p:cNvSpPr/>
          <p:nvPr/>
        </p:nvSpPr>
        <p:spPr bwMode="auto">
          <a:xfrm>
            <a:off x="6784072" y="6634485"/>
            <a:ext cx="132570" cy="144000"/>
          </a:xfrm>
          <a:prstGeom prst="triangl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B7216CF5-2235-700F-CCC7-64E6591F626E}"/>
              </a:ext>
            </a:extLst>
          </p:cNvPr>
          <p:cNvSpPr/>
          <p:nvPr/>
        </p:nvSpPr>
        <p:spPr bwMode="auto">
          <a:xfrm rot="10800000">
            <a:off x="6907596" y="6637862"/>
            <a:ext cx="132570" cy="14400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pic>
        <p:nvPicPr>
          <p:cNvPr id="24" name="Imagen 23" descr="Imagen que contiene firmar, dibujo, alimentos, palo&#10;&#10;Descripción generada automáticamente">
            <a:extLst>
              <a:ext uri="{FF2B5EF4-FFF2-40B4-BE49-F238E27FC236}">
                <a16:creationId xmlns:a16="http://schemas.microsoft.com/office/drawing/2014/main" id="{02077A09-2CC9-7D3E-CF06-1562920CB0F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82366" y="4257585"/>
            <a:ext cx="1198226" cy="480188"/>
          </a:xfrm>
          <a:prstGeom prst="rect">
            <a:avLst/>
          </a:prstGeom>
        </p:spPr>
      </p:pic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1DC63FD-5112-1A84-AA4F-1B5D0D8D3084}"/>
              </a:ext>
            </a:extLst>
          </p:cNvPr>
          <p:cNvCxnSpPr/>
          <p:nvPr/>
        </p:nvCxnSpPr>
        <p:spPr>
          <a:xfrm flipV="1">
            <a:off x="2147777" y="2052084"/>
            <a:ext cx="669851" cy="287079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525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5FEB7-AE05-35A6-2763-23CDD9B0F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TextScale3-1">
            <a:extLst>
              <a:ext uri="{FF2B5EF4-FFF2-40B4-BE49-F238E27FC236}">
                <a16:creationId xmlns:a16="http://schemas.microsoft.com/office/drawing/2014/main" id="{17AB1531-DE00-C1A4-546E-A009628573E8}"/>
              </a:ext>
            </a:extLst>
          </p:cNvPr>
          <p:cNvSpPr>
            <a:spLocks/>
          </p:cNvSpPr>
          <p:nvPr/>
        </p:nvSpPr>
        <p:spPr bwMode="white">
          <a:xfrm>
            <a:off x="118162" y="6620818"/>
            <a:ext cx="7837264" cy="20171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r>
              <a:rPr lang="es-AR" sz="1000" dirty="0">
                <a:solidFill>
                  <a:schemeClr val="bg1">
                    <a:lumMod val="50000"/>
                  </a:schemeClr>
                </a:solidFill>
              </a:rPr>
              <a:t>PREFERENCE. </a:t>
            </a:r>
            <a:r>
              <a:rPr lang="es-MX" sz="1000" dirty="0">
                <a:solidFill>
                  <a:schemeClr val="bg1">
                    <a:lumMod val="50000"/>
                  </a:schemeClr>
                </a:solidFill>
              </a:rPr>
              <a:t>¿Y cuál de estas marcas de […] es las que preferís? Sólo </a:t>
            </a:r>
            <a:r>
              <a:rPr lang="es-MX" sz="1000" dirty="0" err="1">
                <a:solidFill>
                  <a:schemeClr val="bg1">
                    <a:lumMod val="50000"/>
                  </a:schemeClr>
                </a:solidFill>
              </a:rPr>
              <a:t>debés</a:t>
            </a:r>
            <a:r>
              <a:rPr lang="es-MX" sz="1000" dirty="0">
                <a:solidFill>
                  <a:schemeClr val="bg1">
                    <a:lumMod val="50000"/>
                  </a:schemeClr>
                </a:solidFill>
              </a:rPr>
              <a:t> seleccionar una.</a:t>
            </a:r>
            <a:endParaRPr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ACF5C9C-3F8B-C848-DB1B-5CBB3DBAE05D}"/>
              </a:ext>
            </a:extLst>
          </p:cNvPr>
          <p:cNvSpPr txBox="1"/>
          <p:nvPr/>
        </p:nvSpPr>
        <p:spPr>
          <a:xfrm>
            <a:off x="118162" y="1284427"/>
            <a:ext cx="31674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s-AR" b="1" dirty="0"/>
              <a:t>RECUERDO PUBLICITARIO - %</a:t>
            </a:r>
          </a:p>
        </p:txBody>
      </p:sp>
      <p:sp>
        <p:nvSpPr>
          <p:cNvPr id="5" name="Espace réservé du numéro de diapositive 23">
            <a:extLst>
              <a:ext uri="{FF2B5EF4-FFF2-40B4-BE49-F238E27FC236}">
                <a16:creationId xmlns:a16="http://schemas.microsoft.com/office/drawing/2014/main" id="{B0FDF039-AF06-F30A-10A3-0416A679E33C}"/>
              </a:ext>
            </a:extLst>
          </p:cNvPr>
          <p:cNvSpPr txBox="1">
            <a:spLocks/>
          </p:cNvSpPr>
          <p:nvPr/>
        </p:nvSpPr>
        <p:spPr>
          <a:xfrm>
            <a:off x="202866" y="6229538"/>
            <a:ext cx="360037" cy="37246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1AABEC-672F-4B68-B914-690DA978312C}" type="slidenum">
              <a:rPr lang="en-GB" sz="1100" smtClean="0"/>
              <a:pPr/>
              <a:t>5</a:t>
            </a:fld>
            <a:r>
              <a:rPr lang="en-GB" sz="1100"/>
              <a:t> ‒ </a:t>
            </a:r>
            <a:endParaRPr lang="en-GB" sz="1100" dirty="0"/>
          </a:p>
        </p:txBody>
      </p:sp>
      <p:sp>
        <p:nvSpPr>
          <p:cNvPr id="10" name="TitleTextScale3-1">
            <a:extLst>
              <a:ext uri="{FF2B5EF4-FFF2-40B4-BE49-F238E27FC236}">
                <a16:creationId xmlns:a16="http://schemas.microsoft.com/office/drawing/2014/main" id="{22CEA540-77F2-642E-581F-D9FEB3C10D97}"/>
              </a:ext>
            </a:extLst>
          </p:cNvPr>
          <p:cNvSpPr>
            <a:spLocks/>
          </p:cNvSpPr>
          <p:nvPr/>
        </p:nvSpPr>
        <p:spPr bwMode="white">
          <a:xfrm>
            <a:off x="10109572" y="6607128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r>
              <a:rPr lang="es-MX" sz="1000" dirty="0">
                <a:solidFill>
                  <a:schemeClr val="bg1">
                    <a:lumMod val="50000"/>
                  </a:schemeClr>
                </a:solidFill>
              </a:rPr>
              <a:t>Base Total por  ola: 300 casos</a:t>
            </a:r>
          </a:p>
        </p:txBody>
      </p:sp>
      <p:graphicFrame>
        <p:nvGraphicFramePr>
          <p:cNvPr id="11" name="__Claimed_WAVE">
            <a:extLst>
              <a:ext uri="{FF2B5EF4-FFF2-40B4-BE49-F238E27FC236}">
                <a16:creationId xmlns:a16="http://schemas.microsoft.com/office/drawing/2014/main" id="{3C0F81EC-66FD-43B7-97D4-4264B00F7E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7406808"/>
              </p:ext>
            </p:extLst>
          </p:nvPr>
        </p:nvGraphicFramePr>
        <p:xfrm>
          <a:off x="1415133" y="1599299"/>
          <a:ext cx="9146309" cy="30963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itre 4">
            <a:extLst>
              <a:ext uri="{FF2B5EF4-FFF2-40B4-BE49-F238E27FC236}">
                <a16:creationId xmlns:a16="http://schemas.microsoft.com/office/drawing/2014/main" id="{A8ED9425-6E58-0DF0-3D01-B50F772B49C6}"/>
              </a:ext>
            </a:extLst>
          </p:cNvPr>
          <p:cNvSpPr txBox="1">
            <a:spLocks/>
          </p:cNvSpPr>
          <p:nvPr/>
        </p:nvSpPr>
        <p:spPr>
          <a:xfrm>
            <a:off x="118162" y="136326"/>
            <a:ext cx="11294822" cy="84357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 cap="all" spc="120" baseline="0">
                <a:solidFill>
                  <a:schemeClr val="bg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s-AR" sz="2000" b="1" dirty="0">
                <a:solidFill>
                  <a:schemeClr val="tx1"/>
                </a:solidFill>
              </a:rPr>
              <a:t>LS</a:t>
            </a:r>
            <a:r>
              <a:rPr lang="es-AR" sz="2000" dirty="0">
                <a:solidFill>
                  <a:schemeClr val="tx1"/>
                </a:solidFill>
              </a:rPr>
              <a:t> </a:t>
            </a:r>
            <a:r>
              <a:rPr lang="es-AR" sz="2000" cap="none" dirty="0">
                <a:solidFill>
                  <a:schemeClr val="tx1"/>
                </a:solidFill>
              </a:rPr>
              <a:t>continúa siendo la marca preferida, doblando los valores del resto de las marcas</a:t>
            </a:r>
          </a:p>
          <a:p>
            <a:endParaRPr lang="es-AR" sz="2000" dirty="0">
              <a:solidFill>
                <a:schemeClr val="tx1"/>
              </a:solidFill>
            </a:endParaRPr>
          </a:p>
        </p:txBody>
      </p:sp>
      <p:sp>
        <p:nvSpPr>
          <p:cNvPr id="8" name="TitleTextScale3-1">
            <a:extLst>
              <a:ext uri="{FF2B5EF4-FFF2-40B4-BE49-F238E27FC236}">
                <a16:creationId xmlns:a16="http://schemas.microsoft.com/office/drawing/2014/main" id="{B9E9817C-2C30-B151-9FE9-BC69F673D87D}"/>
              </a:ext>
            </a:extLst>
          </p:cNvPr>
          <p:cNvSpPr>
            <a:spLocks/>
          </p:cNvSpPr>
          <p:nvPr/>
        </p:nvSpPr>
        <p:spPr bwMode="white">
          <a:xfrm>
            <a:off x="399051" y="5967928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r>
              <a:rPr lang="es-ES" sz="1000" dirty="0">
                <a:solidFill>
                  <a:srgbClr val="FF0000"/>
                </a:solidFill>
              </a:rPr>
              <a:t>Se muestran marcas &gt;5%</a:t>
            </a:r>
            <a:endParaRPr sz="1000" dirty="0">
              <a:solidFill>
                <a:srgbClr val="FF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A7F21F5-4D24-36C0-880E-3F6361143E66}"/>
              </a:ext>
            </a:extLst>
          </p:cNvPr>
          <p:cNvSpPr txBox="1"/>
          <p:nvPr/>
        </p:nvSpPr>
        <p:spPr>
          <a:xfrm>
            <a:off x="7028399" y="6576309"/>
            <a:ext cx="27972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Diferencias Significativas vs ola anterior 95% CL </a:t>
            </a:r>
            <a:endParaRPr kumimoji="0" lang="es-A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Triángulo isósceles 5">
            <a:extLst>
              <a:ext uri="{FF2B5EF4-FFF2-40B4-BE49-F238E27FC236}">
                <a16:creationId xmlns:a16="http://schemas.microsoft.com/office/drawing/2014/main" id="{15A8205D-ED54-AD27-527C-9FCC2DD9E8DE}"/>
              </a:ext>
            </a:extLst>
          </p:cNvPr>
          <p:cNvSpPr/>
          <p:nvPr/>
        </p:nvSpPr>
        <p:spPr bwMode="auto">
          <a:xfrm>
            <a:off x="6784072" y="6634485"/>
            <a:ext cx="132570" cy="144000"/>
          </a:xfrm>
          <a:prstGeom prst="triangl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AF7543EB-DB46-9F1D-73CE-8F93E1C2218A}"/>
              </a:ext>
            </a:extLst>
          </p:cNvPr>
          <p:cNvSpPr/>
          <p:nvPr/>
        </p:nvSpPr>
        <p:spPr bwMode="auto">
          <a:xfrm rot="10800000">
            <a:off x="6907596" y="6637862"/>
            <a:ext cx="132570" cy="14400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pic>
        <p:nvPicPr>
          <p:cNvPr id="24" name="Imagen 23" descr="Imagen que contiene firmar, dibujo, alimentos, palo&#10;&#10;Descripción generada automáticamente">
            <a:extLst>
              <a:ext uri="{FF2B5EF4-FFF2-40B4-BE49-F238E27FC236}">
                <a16:creationId xmlns:a16="http://schemas.microsoft.com/office/drawing/2014/main" id="{420C6DFD-B072-4995-5FCE-70D5A9001C1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82366" y="4257585"/>
            <a:ext cx="1198226" cy="480188"/>
          </a:xfrm>
          <a:prstGeom prst="rect">
            <a:avLst/>
          </a:prstGeom>
        </p:spPr>
      </p:pic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4E458811-3FFE-AED0-6A7C-62ADC94C3E6D}"/>
              </a:ext>
            </a:extLst>
          </p:cNvPr>
          <p:cNvCxnSpPr/>
          <p:nvPr/>
        </p:nvCxnSpPr>
        <p:spPr>
          <a:xfrm flipV="1">
            <a:off x="2147777" y="2052084"/>
            <a:ext cx="669851" cy="287079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639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FE2411F-1BC9-BDDA-7A49-A3C84C2BBEA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2F469C">
                    <a:lumMod val="75000"/>
                  </a:srgbClr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 </a:t>
            </a:r>
          </a:p>
        </p:txBody>
      </p:sp>
      <p:graphicFrame>
        <p:nvGraphicFramePr>
          <p:cNvPr id="126" name="Diagrama 125">
            <a:extLst>
              <a:ext uri="{FF2B5EF4-FFF2-40B4-BE49-F238E27FC236}">
                <a16:creationId xmlns:a16="http://schemas.microsoft.com/office/drawing/2014/main" id="{B52E1279-02CA-9E5F-CD80-BF647DAA56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8086421"/>
              </p:ext>
            </p:extLst>
          </p:nvPr>
        </p:nvGraphicFramePr>
        <p:xfrm>
          <a:off x="1" y="2377440"/>
          <a:ext cx="2062480" cy="32009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33" name="Grupo 132">
            <a:extLst>
              <a:ext uri="{FF2B5EF4-FFF2-40B4-BE49-F238E27FC236}">
                <a16:creationId xmlns:a16="http://schemas.microsoft.com/office/drawing/2014/main" id="{D4830CE4-B09B-4A56-D930-33144517A42B}"/>
              </a:ext>
            </a:extLst>
          </p:cNvPr>
          <p:cNvGrpSpPr/>
          <p:nvPr/>
        </p:nvGrpSpPr>
        <p:grpSpPr>
          <a:xfrm>
            <a:off x="5798521" y="5993494"/>
            <a:ext cx="1668056" cy="523220"/>
            <a:chOff x="-401334" y="5431762"/>
            <a:chExt cx="2428240" cy="1145017"/>
          </a:xfrm>
        </p:grpSpPr>
        <p:sp>
          <p:nvSpPr>
            <p:cNvPr id="134" name="CuadroTexto 133">
              <a:extLst>
                <a:ext uri="{FF2B5EF4-FFF2-40B4-BE49-F238E27FC236}">
                  <a16:creationId xmlns:a16="http://schemas.microsoft.com/office/drawing/2014/main" id="{68E06E4E-8534-B8E5-8413-8A2681E04028}"/>
                </a:ext>
              </a:extLst>
            </p:cNvPr>
            <p:cNvSpPr txBox="1"/>
            <p:nvPr/>
          </p:nvSpPr>
          <p:spPr>
            <a:xfrm>
              <a:off x="-401334" y="5431762"/>
              <a:ext cx="2382450" cy="11450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8151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A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Arial" charset="0"/>
                </a:rPr>
                <a:t>Índice de conversión</a:t>
              </a:r>
            </a:p>
          </p:txBody>
        </p:sp>
        <p:sp>
          <p:nvSpPr>
            <p:cNvPr id="135" name="Freeform 13">
              <a:extLst>
                <a:ext uri="{FF2B5EF4-FFF2-40B4-BE49-F238E27FC236}">
                  <a16:creationId xmlns:a16="http://schemas.microsoft.com/office/drawing/2014/main" id="{E2361BAE-976B-5FCB-3DC6-6F54112092B7}"/>
                </a:ext>
              </a:extLst>
            </p:cNvPr>
            <p:cNvSpPr>
              <a:spLocks/>
            </p:cNvSpPr>
            <p:nvPr/>
          </p:nvSpPr>
          <p:spPr bwMode="auto">
            <a:xfrm rot="644251">
              <a:off x="1935326" y="5771463"/>
              <a:ext cx="91580" cy="185478"/>
            </a:xfrm>
            <a:custGeom>
              <a:avLst/>
              <a:gdLst>
                <a:gd name="T0" fmla="*/ 2147483647 w 576"/>
                <a:gd name="T1" fmla="*/ 2147483647 h 576"/>
                <a:gd name="T2" fmla="*/ 2147483647 w 576"/>
                <a:gd name="T3" fmla="*/ 2147483647 h 576"/>
                <a:gd name="T4" fmla="*/ 0 w 576"/>
                <a:gd name="T5" fmla="*/ 0 h 576"/>
                <a:gd name="T6" fmla="*/ 0 60000 65536"/>
                <a:gd name="T7" fmla="*/ 0 60000 65536"/>
                <a:gd name="T8" fmla="*/ 0 60000 65536"/>
                <a:gd name="T9" fmla="*/ 0 w 576"/>
                <a:gd name="T10" fmla="*/ 0 h 576"/>
                <a:gd name="T11" fmla="*/ 576 w 576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576">
                  <a:moveTo>
                    <a:pt x="288" y="576"/>
                  </a:moveTo>
                  <a:cubicBezTo>
                    <a:pt x="432" y="480"/>
                    <a:pt x="576" y="384"/>
                    <a:pt x="528" y="288"/>
                  </a:cubicBezTo>
                  <a:cubicBezTo>
                    <a:pt x="480" y="192"/>
                    <a:pt x="240" y="96"/>
                    <a:pt x="0" y="0"/>
                  </a:cubicBezTo>
                </a:path>
              </a:pathLst>
            </a:custGeom>
            <a:noFill/>
            <a:ln w="12700">
              <a:solidFill>
                <a:sysClr val="window" lastClr="FFFFFF">
                  <a:lumMod val="50000"/>
                </a:sysClr>
              </a:solidFill>
              <a:round/>
              <a:headEnd/>
              <a:tailEnd type="triangle" w="med" len="med"/>
            </a:ln>
          </p:spPr>
          <p:txBody>
            <a:bodyPr lIns="0" tIns="0" rIns="0" bIns="0"/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9pPr>
            </a:lstStyle>
            <a:p>
              <a:pPr marL="0" marR="0" lvl="0" indent="0" algn="l" defTabSz="31098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AR" sz="1200" b="1" i="0" u="none" strike="noStrike" kern="1200" cap="none" spc="0" normalizeH="0" baseline="0" noProof="0" dirty="0">
                <a:ln>
                  <a:noFill/>
                </a:ln>
                <a:solidFill>
                  <a:srgbClr val="616365"/>
                </a:solidFill>
                <a:effectLst/>
                <a:uLnTx/>
                <a:uFillTx/>
                <a:latin typeface="Calibri"/>
                <a:ea typeface="MS PGothic" pitchFamily="34" charset="-128"/>
                <a:cs typeface="+mn-cs"/>
              </a:endParaRPr>
            </a:p>
          </p:txBody>
        </p:sp>
      </p:grpSp>
      <p:sp>
        <p:nvSpPr>
          <p:cNvPr id="200" name="Freeform 13">
            <a:extLst>
              <a:ext uri="{FF2B5EF4-FFF2-40B4-BE49-F238E27FC236}">
                <a16:creationId xmlns:a16="http://schemas.microsoft.com/office/drawing/2014/main" id="{93E872C4-5F7B-9A2E-6AB1-5C74AA7303FE}"/>
              </a:ext>
            </a:extLst>
          </p:cNvPr>
          <p:cNvSpPr>
            <a:spLocks/>
          </p:cNvSpPr>
          <p:nvPr/>
        </p:nvSpPr>
        <p:spPr bwMode="auto">
          <a:xfrm rot="644251">
            <a:off x="11842454" y="4795113"/>
            <a:ext cx="164451" cy="361923"/>
          </a:xfrm>
          <a:custGeom>
            <a:avLst/>
            <a:gdLst>
              <a:gd name="T0" fmla="*/ 2147483647 w 576"/>
              <a:gd name="T1" fmla="*/ 2147483647 h 576"/>
              <a:gd name="T2" fmla="*/ 2147483647 w 576"/>
              <a:gd name="T3" fmla="*/ 2147483647 h 576"/>
              <a:gd name="T4" fmla="*/ 0 w 576"/>
              <a:gd name="T5" fmla="*/ 0 h 576"/>
              <a:gd name="T6" fmla="*/ 0 60000 65536"/>
              <a:gd name="T7" fmla="*/ 0 60000 65536"/>
              <a:gd name="T8" fmla="*/ 0 60000 65536"/>
              <a:gd name="T9" fmla="*/ 0 w 576"/>
              <a:gd name="T10" fmla="*/ 0 h 576"/>
              <a:gd name="T11" fmla="*/ 576 w 576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576">
                <a:moveTo>
                  <a:pt x="288" y="576"/>
                </a:moveTo>
                <a:cubicBezTo>
                  <a:pt x="432" y="480"/>
                  <a:pt x="576" y="384"/>
                  <a:pt x="528" y="288"/>
                </a:cubicBezTo>
                <a:cubicBezTo>
                  <a:pt x="480" y="192"/>
                  <a:pt x="240" y="96"/>
                  <a:pt x="0" y="0"/>
                </a:cubicBezTo>
              </a:path>
            </a:pathLst>
          </a:custGeom>
          <a:noFill/>
          <a:ln w="3810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  <p:txBody>
          <a:bodyPr lIns="0" tIns="0" rIns="0" bIns="0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3109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AR" sz="952" b="1" i="0" u="none" strike="noStrike" kern="1200" cap="none" spc="0" normalizeH="0" baseline="0" noProof="0">
              <a:ln>
                <a:noFill/>
              </a:ln>
              <a:solidFill>
                <a:srgbClr val="616365"/>
              </a:solidFill>
              <a:effectLst/>
              <a:uLnTx/>
              <a:uFillTx/>
              <a:latin typeface="Calibri"/>
              <a:ea typeface="MS PGothic" pitchFamily="34" charset="-128"/>
              <a:cs typeface="+mn-cs"/>
            </a:endParaRPr>
          </a:p>
        </p:txBody>
      </p:sp>
      <p:sp>
        <p:nvSpPr>
          <p:cNvPr id="201" name="Freeform 13">
            <a:extLst>
              <a:ext uri="{FF2B5EF4-FFF2-40B4-BE49-F238E27FC236}">
                <a16:creationId xmlns:a16="http://schemas.microsoft.com/office/drawing/2014/main" id="{13254307-ED8D-B5CE-76EB-DF5B8CA100BE}"/>
              </a:ext>
            </a:extLst>
          </p:cNvPr>
          <p:cNvSpPr>
            <a:spLocks/>
          </p:cNvSpPr>
          <p:nvPr/>
        </p:nvSpPr>
        <p:spPr bwMode="auto">
          <a:xfrm rot="644251">
            <a:off x="11813830" y="3870339"/>
            <a:ext cx="164451" cy="361923"/>
          </a:xfrm>
          <a:custGeom>
            <a:avLst/>
            <a:gdLst>
              <a:gd name="T0" fmla="*/ 2147483647 w 576"/>
              <a:gd name="T1" fmla="*/ 2147483647 h 576"/>
              <a:gd name="T2" fmla="*/ 2147483647 w 576"/>
              <a:gd name="T3" fmla="*/ 2147483647 h 576"/>
              <a:gd name="T4" fmla="*/ 0 w 576"/>
              <a:gd name="T5" fmla="*/ 0 h 576"/>
              <a:gd name="T6" fmla="*/ 0 60000 65536"/>
              <a:gd name="T7" fmla="*/ 0 60000 65536"/>
              <a:gd name="T8" fmla="*/ 0 60000 65536"/>
              <a:gd name="T9" fmla="*/ 0 w 576"/>
              <a:gd name="T10" fmla="*/ 0 h 576"/>
              <a:gd name="T11" fmla="*/ 576 w 576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576">
                <a:moveTo>
                  <a:pt x="288" y="576"/>
                </a:moveTo>
                <a:cubicBezTo>
                  <a:pt x="432" y="480"/>
                  <a:pt x="576" y="384"/>
                  <a:pt x="528" y="288"/>
                </a:cubicBezTo>
                <a:cubicBezTo>
                  <a:pt x="480" y="192"/>
                  <a:pt x="240" y="96"/>
                  <a:pt x="0" y="0"/>
                </a:cubicBezTo>
              </a:path>
            </a:pathLst>
          </a:custGeom>
          <a:noFill/>
          <a:ln w="3810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  <p:txBody>
          <a:bodyPr lIns="0" tIns="0" rIns="0" bIns="0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3109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AR" sz="952" b="1" i="0" u="none" strike="noStrike" kern="1200" cap="none" spc="0" normalizeH="0" baseline="0" noProof="0">
              <a:ln>
                <a:noFill/>
              </a:ln>
              <a:solidFill>
                <a:srgbClr val="616365"/>
              </a:solidFill>
              <a:effectLst/>
              <a:uLnTx/>
              <a:uFillTx/>
              <a:latin typeface="Calibri"/>
              <a:ea typeface="MS PGothic" pitchFamily="34" charset="-128"/>
              <a:cs typeface="+mn-cs"/>
            </a:endParaRPr>
          </a:p>
        </p:txBody>
      </p:sp>
      <p:sp>
        <p:nvSpPr>
          <p:cNvPr id="202" name="Freeform 13">
            <a:extLst>
              <a:ext uri="{FF2B5EF4-FFF2-40B4-BE49-F238E27FC236}">
                <a16:creationId xmlns:a16="http://schemas.microsoft.com/office/drawing/2014/main" id="{89164C23-F7B3-816D-CE62-C6AEE40C0D65}"/>
              </a:ext>
            </a:extLst>
          </p:cNvPr>
          <p:cNvSpPr>
            <a:spLocks/>
          </p:cNvSpPr>
          <p:nvPr/>
        </p:nvSpPr>
        <p:spPr bwMode="auto">
          <a:xfrm rot="644251">
            <a:off x="11813829" y="2998453"/>
            <a:ext cx="164451" cy="361923"/>
          </a:xfrm>
          <a:custGeom>
            <a:avLst/>
            <a:gdLst>
              <a:gd name="T0" fmla="*/ 2147483647 w 576"/>
              <a:gd name="T1" fmla="*/ 2147483647 h 576"/>
              <a:gd name="T2" fmla="*/ 2147483647 w 576"/>
              <a:gd name="T3" fmla="*/ 2147483647 h 576"/>
              <a:gd name="T4" fmla="*/ 0 w 576"/>
              <a:gd name="T5" fmla="*/ 0 h 576"/>
              <a:gd name="T6" fmla="*/ 0 60000 65536"/>
              <a:gd name="T7" fmla="*/ 0 60000 65536"/>
              <a:gd name="T8" fmla="*/ 0 60000 65536"/>
              <a:gd name="T9" fmla="*/ 0 w 576"/>
              <a:gd name="T10" fmla="*/ 0 h 576"/>
              <a:gd name="T11" fmla="*/ 576 w 576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576">
                <a:moveTo>
                  <a:pt x="288" y="576"/>
                </a:moveTo>
                <a:cubicBezTo>
                  <a:pt x="432" y="480"/>
                  <a:pt x="576" y="384"/>
                  <a:pt x="528" y="288"/>
                </a:cubicBezTo>
                <a:cubicBezTo>
                  <a:pt x="480" y="192"/>
                  <a:pt x="240" y="96"/>
                  <a:pt x="0" y="0"/>
                </a:cubicBezTo>
              </a:path>
            </a:pathLst>
          </a:custGeom>
          <a:noFill/>
          <a:ln w="3810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  <p:txBody>
          <a:bodyPr lIns="0" tIns="0" rIns="0" bIns="0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3109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AR" sz="952" b="1" i="0" u="none" strike="noStrike" kern="1200" cap="none" spc="0" normalizeH="0" baseline="0" noProof="0">
              <a:ln>
                <a:noFill/>
              </a:ln>
              <a:solidFill>
                <a:srgbClr val="616365"/>
              </a:solidFill>
              <a:effectLst/>
              <a:uLnTx/>
              <a:uFillTx/>
              <a:latin typeface="Calibri"/>
              <a:ea typeface="MS PGothic" pitchFamily="34" charset="-128"/>
              <a:cs typeface="+mn-cs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9848398-6B07-0F10-A332-5A5BC03E0E3B}"/>
              </a:ext>
            </a:extLst>
          </p:cNvPr>
          <p:cNvSpPr txBox="1"/>
          <p:nvPr/>
        </p:nvSpPr>
        <p:spPr>
          <a:xfrm>
            <a:off x="149039" y="2038886"/>
            <a:ext cx="16188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2F469C"/>
                </a:solidFill>
                <a:effectLst/>
                <a:uLnTx/>
                <a:uFillTx/>
                <a:ea typeface="+mn-ea"/>
                <a:cs typeface="+mn-cs"/>
              </a:rPr>
              <a:t>En %</a:t>
            </a:r>
          </a:p>
        </p:txBody>
      </p:sp>
      <p:sp>
        <p:nvSpPr>
          <p:cNvPr id="2" name="TitleTextScale3-1">
            <a:extLst>
              <a:ext uri="{FF2B5EF4-FFF2-40B4-BE49-F238E27FC236}">
                <a16:creationId xmlns:a16="http://schemas.microsoft.com/office/drawing/2014/main" id="{E104282C-6D2D-32DF-1467-B769392DB000}"/>
              </a:ext>
            </a:extLst>
          </p:cNvPr>
          <p:cNvSpPr>
            <a:spLocks/>
          </p:cNvSpPr>
          <p:nvPr/>
        </p:nvSpPr>
        <p:spPr bwMode="white">
          <a:xfrm>
            <a:off x="9174681" y="6629660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dirty="0"/>
            </a:pP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 Total por ola: 300 casos</a:t>
            </a:r>
          </a:p>
        </p:txBody>
      </p:sp>
      <p:sp>
        <p:nvSpPr>
          <p:cNvPr id="17" name="Título 5">
            <a:extLst>
              <a:ext uri="{FF2B5EF4-FFF2-40B4-BE49-F238E27FC236}">
                <a16:creationId xmlns:a16="http://schemas.microsoft.com/office/drawing/2014/main" id="{4EBD42C5-75DE-BC17-C48A-066ABA44A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76" y="96385"/>
            <a:ext cx="11798703" cy="895630"/>
          </a:xfrm>
        </p:spPr>
        <p:txBody>
          <a:bodyPr/>
          <a:lstStyle/>
          <a:p>
            <a:r>
              <a:rPr lang="es-MX" sz="2000" b="0" dirty="0"/>
              <a:t>Tras consolidar su notoriedad, </a:t>
            </a:r>
            <a:r>
              <a:rPr lang="es-MX" sz="2000" dirty="0"/>
              <a:t>LS</a:t>
            </a:r>
            <a:r>
              <a:rPr lang="es-MX" sz="2000" b="0" dirty="0"/>
              <a:t> enfrenta el reto de fortalecer la lealtad en una categoría con alta consideración, donde los consumidores podrían cambiar de marca con facilidad.</a:t>
            </a:r>
            <a:br>
              <a:rPr lang="es-AR" sz="1800" b="0" dirty="0"/>
            </a:br>
            <a:endParaRPr lang="es-AR" sz="1800" b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79E69E6-363A-B3CB-E3AE-E89F0A94DD7E}"/>
              </a:ext>
            </a:extLst>
          </p:cNvPr>
          <p:cNvSpPr txBox="1"/>
          <p:nvPr/>
        </p:nvSpPr>
        <p:spPr>
          <a:xfrm>
            <a:off x="7644619" y="6602002"/>
            <a:ext cx="27972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Diferencias Significativas vs ola anterior 95% CL </a:t>
            </a:r>
            <a:endParaRPr kumimoji="0" lang="es-A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2B6E375E-3372-CF3E-AF11-14771FC04E4C}"/>
              </a:ext>
            </a:extLst>
          </p:cNvPr>
          <p:cNvSpPr/>
          <p:nvPr/>
        </p:nvSpPr>
        <p:spPr bwMode="auto">
          <a:xfrm>
            <a:off x="7400292" y="6660178"/>
            <a:ext cx="132570" cy="144000"/>
          </a:xfrm>
          <a:prstGeom prst="triangl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11" name="Triángulo isósceles 10">
            <a:extLst>
              <a:ext uri="{FF2B5EF4-FFF2-40B4-BE49-F238E27FC236}">
                <a16:creationId xmlns:a16="http://schemas.microsoft.com/office/drawing/2014/main" id="{3415E822-4A39-31CE-D3D5-176CB47E5B94}"/>
              </a:ext>
            </a:extLst>
          </p:cNvPr>
          <p:cNvSpPr/>
          <p:nvPr/>
        </p:nvSpPr>
        <p:spPr bwMode="auto">
          <a:xfrm rot="10800000">
            <a:off x="7523816" y="6663555"/>
            <a:ext cx="132570" cy="14400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E2BB35C-C1D7-0A05-0EE7-C3BACB66F1F7}"/>
              </a:ext>
            </a:extLst>
          </p:cNvPr>
          <p:cNvSpPr txBox="1"/>
          <p:nvPr/>
        </p:nvSpPr>
        <p:spPr>
          <a:xfrm>
            <a:off x="8015136" y="5763028"/>
            <a:ext cx="326775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0" i="1" dirty="0" err="1"/>
              <a:t>Tregar</a:t>
            </a:r>
            <a:r>
              <a:rPr lang="es-AR" sz="1400" b="0" i="1" dirty="0"/>
              <a:t> y Tonadita logran buena tasa de conversión a compra, pero desde una base menor</a:t>
            </a:r>
            <a:endParaRPr lang="es-AR" sz="1400" i="1" dirty="0"/>
          </a:p>
        </p:txBody>
      </p:sp>
      <p:graphicFrame>
        <p:nvGraphicFramePr>
          <p:cNvPr id="4" name="__Funnel_1_7">
            <a:extLst>
              <a:ext uri="{FF2B5EF4-FFF2-40B4-BE49-F238E27FC236}">
                <a16:creationId xmlns:a16="http://schemas.microsoft.com/office/drawing/2014/main" id="{94508F61-BB51-7A4A-EB6D-4383A037F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070224"/>
              </p:ext>
            </p:extLst>
          </p:nvPr>
        </p:nvGraphicFramePr>
        <p:xfrm>
          <a:off x="2379131" y="2339625"/>
          <a:ext cx="9067800" cy="3105072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19613243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129046236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81047847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3110547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74238008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8970315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483788328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15655828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655981716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1715797506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50372758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1821556409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110304687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100677182"/>
                    </a:ext>
                  </a:extLst>
                </a:gridCol>
              </a:tblGrid>
              <a:tr h="28884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2932008"/>
                  </a:ext>
                </a:extLst>
              </a:tr>
              <a:tr h="48742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291523"/>
                  </a:ext>
                </a:extLst>
              </a:tr>
              <a:tr h="28884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74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81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046064"/>
                  </a:ext>
                </a:extLst>
              </a:tr>
              <a:tr h="48742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  <a:endParaRPr lang="es-AR" sz="1800" b="1" i="0" u="none" strike="noStrike" dirty="0">
                        <a:solidFill>
                          <a:srgbClr val="FF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AR" sz="18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55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AR" sz="18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906886"/>
                  </a:ext>
                </a:extLst>
              </a:tr>
              <a:tr h="28884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73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74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74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748200"/>
                  </a:ext>
                </a:extLst>
              </a:tr>
              <a:tr h="48742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52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31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30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295500"/>
                  </a:ext>
                </a:extLst>
              </a:tr>
              <a:tr h="28884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615298"/>
                  </a:ext>
                </a:extLst>
              </a:tr>
              <a:tr h="48742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  <a:endParaRPr lang="es-AR" sz="1800" b="1" i="0" u="none" strike="noStrike" dirty="0">
                        <a:solidFill>
                          <a:srgbClr val="FF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  <a:endParaRPr lang="es-AR" sz="1800" b="1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349"/>
                  </a:ext>
                </a:extLst>
              </a:tr>
            </a:tbl>
          </a:graphicData>
        </a:graphic>
      </p:graphicFrame>
      <p:pic>
        <p:nvPicPr>
          <p:cNvPr id="8" name="__fun_01">
            <a:extLst>
              <a:ext uri="{FF2B5EF4-FFF2-40B4-BE49-F238E27FC236}">
                <a16:creationId xmlns:a16="http://schemas.microsoft.com/office/drawing/2014/main" id="{34315E8B-E81D-6207-1435-C28C3CAA87AF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2519077" y="1346845"/>
            <a:ext cx="838200" cy="914400"/>
          </a:xfrm>
          <a:prstGeom prst="rect">
            <a:avLst/>
          </a:prstGeom>
        </p:spPr>
      </p:pic>
      <p:pic>
        <p:nvPicPr>
          <p:cNvPr id="13" name="__fun_02">
            <a:extLst>
              <a:ext uri="{FF2B5EF4-FFF2-40B4-BE49-F238E27FC236}">
                <a16:creationId xmlns:a16="http://schemas.microsoft.com/office/drawing/2014/main" id="{0383765E-8769-CA43-0E0C-79F5CDBC32E3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3899907" y="1351469"/>
            <a:ext cx="838200" cy="914400"/>
          </a:xfrm>
          <a:prstGeom prst="rect">
            <a:avLst/>
          </a:prstGeom>
        </p:spPr>
      </p:pic>
      <p:pic>
        <p:nvPicPr>
          <p:cNvPr id="18" name="__fun_03">
            <a:extLst>
              <a:ext uri="{FF2B5EF4-FFF2-40B4-BE49-F238E27FC236}">
                <a16:creationId xmlns:a16="http://schemas.microsoft.com/office/drawing/2014/main" id="{02B554F8-E0DE-5ED7-A73C-C196850A4BED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5183763" y="1360701"/>
            <a:ext cx="838200" cy="914400"/>
          </a:xfrm>
          <a:prstGeom prst="rect">
            <a:avLst/>
          </a:prstGeom>
        </p:spPr>
      </p:pic>
      <p:pic>
        <p:nvPicPr>
          <p:cNvPr id="20" name="__fun_04">
            <a:extLst>
              <a:ext uri="{FF2B5EF4-FFF2-40B4-BE49-F238E27FC236}">
                <a16:creationId xmlns:a16="http://schemas.microsoft.com/office/drawing/2014/main" id="{8DAE2496-FAEB-6DD7-0D52-BC56C58E0443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6564593" y="1365325"/>
            <a:ext cx="838200" cy="914400"/>
          </a:xfrm>
          <a:prstGeom prst="rect">
            <a:avLst/>
          </a:prstGeom>
        </p:spPr>
      </p:pic>
      <p:pic>
        <p:nvPicPr>
          <p:cNvPr id="24" name="__fun_05">
            <a:extLst>
              <a:ext uri="{FF2B5EF4-FFF2-40B4-BE49-F238E27FC236}">
                <a16:creationId xmlns:a16="http://schemas.microsoft.com/office/drawing/2014/main" id="{F7AF5525-DB49-0FEC-E656-E38A1D0988B3}"/>
              </a:ext>
            </a:extLst>
          </p:cNvPr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7700680" y="1374565"/>
            <a:ext cx="838200" cy="914400"/>
          </a:xfrm>
          <a:prstGeom prst="rect">
            <a:avLst/>
          </a:prstGeom>
        </p:spPr>
      </p:pic>
      <p:pic>
        <p:nvPicPr>
          <p:cNvPr id="27" name="__fun_06">
            <a:extLst>
              <a:ext uri="{FF2B5EF4-FFF2-40B4-BE49-F238E27FC236}">
                <a16:creationId xmlns:a16="http://schemas.microsoft.com/office/drawing/2014/main" id="{4429C542-A03E-59F4-9B87-F973A5DA1864}"/>
              </a:ext>
            </a:extLst>
          </p:cNvPr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8984536" y="1383797"/>
            <a:ext cx="838200" cy="914400"/>
          </a:xfrm>
          <a:prstGeom prst="rect">
            <a:avLst/>
          </a:prstGeom>
        </p:spPr>
      </p:pic>
      <p:pic>
        <p:nvPicPr>
          <p:cNvPr id="30" name="__fun_07">
            <a:extLst>
              <a:ext uri="{FF2B5EF4-FFF2-40B4-BE49-F238E27FC236}">
                <a16:creationId xmlns:a16="http://schemas.microsoft.com/office/drawing/2014/main" id="{F1834C49-DACF-B90A-8875-5A791F0353DC}"/>
              </a:ext>
            </a:extLst>
          </p:cNvPr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10365366" y="1388421"/>
            <a:ext cx="838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325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63090-B42F-907D-171D-41842D01C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D425D16-7062-1BDC-AB31-45909F1B133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 dirty="0">
              <a:ln>
                <a:noFill/>
              </a:ln>
              <a:solidFill>
                <a:srgbClr val="2F469C">
                  <a:lumMod val="75000"/>
                </a:srgbClr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C5722545-BB4F-9DF6-0830-C1566874C7F0}"/>
              </a:ext>
            </a:extLst>
          </p:cNvPr>
          <p:cNvGrpSpPr/>
          <p:nvPr/>
        </p:nvGrpSpPr>
        <p:grpSpPr>
          <a:xfrm>
            <a:off x="10902220" y="5493109"/>
            <a:ext cx="1061500" cy="560272"/>
            <a:chOff x="3765666" y="4907510"/>
            <a:chExt cx="1134973" cy="738664"/>
          </a:xfrm>
        </p:grpSpPr>
        <p:sp>
          <p:nvSpPr>
            <p:cNvPr id="134" name="CuadroTexto 133">
              <a:extLst>
                <a:ext uri="{FF2B5EF4-FFF2-40B4-BE49-F238E27FC236}">
                  <a16:creationId xmlns:a16="http://schemas.microsoft.com/office/drawing/2014/main" id="{56FDC5FF-AE92-27A4-0AD2-4ACAD733347A}"/>
                </a:ext>
              </a:extLst>
            </p:cNvPr>
            <p:cNvSpPr txBox="1"/>
            <p:nvPr/>
          </p:nvSpPr>
          <p:spPr>
            <a:xfrm>
              <a:off x="3765666" y="4907510"/>
              <a:ext cx="113497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8151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A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Arial" charset="0"/>
                </a:rPr>
                <a:t>Índice de conversión</a:t>
              </a:r>
            </a:p>
          </p:txBody>
        </p:sp>
        <p:sp>
          <p:nvSpPr>
            <p:cNvPr id="135" name="Freeform 13">
              <a:extLst>
                <a:ext uri="{FF2B5EF4-FFF2-40B4-BE49-F238E27FC236}">
                  <a16:creationId xmlns:a16="http://schemas.microsoft.com/office/drawing/2014/main" id="{19F03D05-7D3E-F4EA-66CA-4A3CE9AF258D}"/>
                </a:ext>
              </a:extLst>
            </p:cNvPr>
            <p:cNvSpPr>
              <a:spLocks/>
            </p:cNvSpPr>
            <p:nvPr/>
          </p:nvSpPr>
          <p:spPr bwMode="auto">
            <a:xfrm rot="644251">
              <a:off x="3921963" y="4911118"/>
              <a:ext cx="91580" cy="185479"/>
            </a:xfrm>
            <a:custGeom>
              <a:avLst/>
              <a:gdLst>
                <a:gd name="T0" fmla="*/ 2147483647 w 576"/>
                <a:gd name="T1" fmla="*/ 2147483647 h 576"/>
                <a:gd name="T2" fmla="*/ 2147483647 w 576"/>
                <a:gd name="T3" fmla="*/ 2147483647 h 576"/>
                <a:gd name="T4" fmla="*/ 0 w 576"/>
                <a:gd name="T5" fmla="*/ 0 h 576"/>
                <a:gd name="T6" fmla="*/ 0 60000 65536"/>
                <a:gd name="T7" fmla="*/ 0 60000 65536"/>
                <a:gd name="T8" fmla="*/ 0 60000 65536"/>
                <a:gd name="T9" fmla="*/ 0 w 576"/>
                <a:gd name="T10" fmla="*/ 0 h 576"/>
                <a:gd name="T11" fmla="*/ 576 w 576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576">
                  <a:moveTo>
                    <a:pt x="288" y="576"/>
                  </a:moveTo>
                  <a:cubicBezTo>
                    <a:pt x="432" y="480"/>
                    <a:pt x="576" y="384"/>
                    <a:pt x="528" y="288"/>
                  </a:cubicBezTo>
                  <a:cubicBezTo>
                    <a:pt x="480" y="192"/>
                    <a:pt x="240" y="96"/>
                    <a:pt x="0" y="0"/>
                  </a:cubicBezTo>
                </a:path>
              </a:pathLst>
            </a:custGeom>
            <a:noFill/>
            <a:ln w="12700">
              <a:solidFill>
                <a:sysClr val="window" lastClr="FFFFFF">
                  <a:lumMod val="50000"/>
                </a:sysClr>
              </a:solidFill>
              <a:round/>
              <a:headEnd/>
              <a:tailEnd type="triangle" w="med" len="med"/>
            </a:ln>
          </p:spPr>
          <p:txBody>
            <a:bodyPr lIns="0" tIns="0" rIns="0" bIns="0"/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9pPr>
            </a:lstStyle>
            <a:p>
              <a:pPr marL="0" marR="0" lvl="0" indent="0" algn="l" defTabSz="31098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AR" sz="1200" b="1" i="0" u="none" strike="noStrike" kern="1200" cap="none" spc="0" normalizeH="0" baseline="0" noProof="0" dirty="0">
                <a:ln>
                  <a:noFill/>
                </a:ln>
                <a:solidFill>
                  <a:srgbClr val="616365"/>
                </a:solidFill>
                <a:effectLst/>
                <a:uLnTx/>
                <a:uFillTx/>
                <a:latin typeface="Calibri"/>
                <a:ea typeface="MS PGothic" pitchFamily="34" charset="-128"/>
                <a:cs typeface="+mn-cs"/>
              </a:endParaRPr>
            </a:p>
          </p:txBody>
        </p:sp>
      </p:grpSp>
      <p:sp>
        <p:nvSpPr>
          <p:cNvPr id="2" name="TitleTextScale3-1">
            <a:extLst>
              <a:ext uri="{FF2B5EF4-FFF2-40B4-BE49-F238E27FC236}">
                <a16:creationId xmlns:a16="http://schemas.microsoft.com/office/drawing/2014/main" id="{AEE662C2-7D09-CE4E-410B-2CC1AFD2C9B4}"/>
              </a:ext>
            </a:extLst>
          </p:cNvPr>
          <p:cNvSpPr>
            <a:spLocks/>
          </p:cNvSpPr>
          <p:nvPr/>
        </p:nvSpPr>
        <p:spPr bwMode="white">
          <a:xfrm>
            <a:off x="9096667" y="6604935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dirty="0"/>
            </a:pP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 Total por ola: 300 casos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DE22AF6-7272-076D-A5B4-97A9B4FF3517}"/>
              </a:ext>
            </a:extLst>
          </p:cNvPr>
          <p:cNvSpPr txBox="1"/>
          <p:nvPr/>
        </p:nvSpPr>
        <p:spPr>
          <a:xfrm>
            <a:off x="7644619" y="6602002"/>
            <a:ext cx="27972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Diferencias Significativas vs ola anterior 95% CL </a:t>
            </a:r>
            <a:endParaRPr kumimoji="0" lang="es-A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4B8019A5-5E39-8609-1C0B-D91E050EB18A}"/>
              </a:ext>
            </a:extLst>
          </p:cNvPr>
          <p:cNvSpPr/>
          <p:nvPr/>
        </p:nvSpPr>
        <p:spPr bwMode="auto">
          <a:xfrm>
            <a:off x="7400292" y="6660178"/>
            <a:ext cx="132570" cy="144000"/>
          </a:xfrm>
          <a:prstGeom prst="triangl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8" name="Triángulo isósceles 7">
            <a:extLst>
              <a:ext uri="{FF2B5EF4-FFF2-40B4-BE49-F238E27FC236}">
                <a16:creationId xmlns:a16="http://schemas.microsoft.com/office/drawing/2014/main" id="{F681FA18-823E-89FB-7FC9-2D4D7E883427}"/>
              </a:ext>
            </a:extLst>
          </p:cNvPr>
          <p:cNvSpPr/>
          <p:nvPr/>
        </p:nvSpPr>
        <p:spPr bwMode="auto">
          <a:xfrm rot="10800000">
            <a:off x="7523816" y="6663555"/>
            <a:ext cx="132570" cy="14400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13" name="Título 5">
            <a:extLst>
              <a:ext uri="{FF2B5EF4-FFF2-40B4-BE49-F238E27FC236}">
                <a16:creationId xmlns:a16="http://schemas.microsoft.com/office/drawing/2014/main" id="{238EA740-1916-15DA-46A7-67EF2E721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1827" y="1036351"/>
            <a:ext cx="4808659" cy="560272"/>
          </a:xfrm>
        </p:spPr>
        <p:txBody>
          <a:bodyPr/>
          <a:lstStyle/>
          <a:p>
            <a:r>
              <a:rPr lang="es-AR" sz="1600" b="0" i="1" dirty="0" err="1"/>
              <a:t>Lechelita</a:t>
            </a:r>
            <a:r>
              <a:rPr lang="es-AR" sz="1600" b="0" i="1" dirty="0"/>
              <a:t> pierde consideradores mientras que La </a:t>
            </a:r>
            <a:r>
              <a:rPr lang="es-AR" sz="1600" b="0" i="1" dirty="0" err="1"/>
              <a:t>Suipachense</a:t>
            </a:r>
            <a:r>
              <a:rPr lang="es-AR" sz="1600" b="0" i="1" dirty="0"/>
              <a:t> lo hace desde compra UM.</a:t>
            </a:r>
            <a:r>
              <a:rPr lang="es-AR" sz="1400" b="0" i="1" dirty="0"/>
              <a:t> </a:t>
            </a:r>
          </a:p>
        </p:txBody>
      </p:sp>
      <p:graphicFrame>
        <p:nvGraphicFramePr>
          <p:cNvPr id="15" name="Diagrama 14">
            <a:extLst>
              <a:ext uri="{FF2B5EF4-FFF2-40B4-BE49-F238E27FC236}">
                <a16:creationId xmlns:a16="http://schemas.microsoft.com/office/drawing/2014/main" id="{276CA430-B424-74EB-9AB7-CE8695BC605E}"/>
              </a:ext>
            </a:extLst>
          </p:cNvPr>
          <p:cNvGraphicFramePr/>
          <p:nvPr/>
        </p:nvGraphicFramePr>
        <p:xfrm>
          <a:off x="0" y="2204720"/>
          <a:ext cx="2194561" cy="3591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9" name="CuadroTexto 18">
            <a:extLst>
              <a:ext uri="{FF2B5EF4-FFF2-40B4-BE49-F238E27FC236}">
                <a16:creationId xmlns:a16="http://schemas.microsoft.com/office/drawing/2014/main" id="{A77F0DE4-D60B-C075-ADE5-9C2724422856}"/>
              </a:ext>
            </a:extLst>
          </p:cNvPr>
          <p:cNvSpPr txBox="1"/>
          <p:nvPr/>
        </p:nvSpPr>
        <p:spPr>
          <a:xfrm>
            <a:off x="244257" y="1306701"/>
            <a:ext cx="25451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2F469C"/>
                </a:solidFill>
                <a:effectLst/>
                <a:uLnTx/>
                <a:uFillTx/>
                <a:ea typeface="+mn-ea"/>
                <a:cs typeface="+mn-cs"/>
              </a:rPr>
              <a:t>En %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09F35702-3EF1-16A2-26A4-B8B59F71B6A9}"/>
              </a:ext>
            </a:extLst>
          </p:cNvPr>
          <p:cNvSpPr txBox="1">
            <a:spLocks/>
          </p:cNvSpPr>
          <p:nvPr/>
        </p:nvSpPr>
        <p:spPr>
          <a:xfrm>
            <a:off x="166190" y="108388"/>
            <a:ext cx="11557724" cy="54234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cap="none" spc="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s-AR" sz="2000" b="0" dirty="0"/>
              <a:t>Estas  marcas tienen una baja tasa de conversión a consideración y aún tienen oportunidad de mejorar conocimiento </a:t>
            </a:r>
          </a:p>
        </p:txBody>
      </p:sp>
      <p:graphicFrame>
        <p:nvGraphicFramePr>
          <p:cNvPr id="9" name="__Funnel_8_14">
            <a:extLst>
              <a:ext uri="{FF2B5EF4-FFF2-40B4-BE49-F238E27FC236}">
                <a16:creationId xmlns:a16="http://schemas.microsoft.com/office/drawing/2014/main" id="{C405F3A0-7F96-E28A-3A5B-E77AD9157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898097"/>
              </p:ext>
            </p:extLst>
          </p:nvPr>
        </p:nvGraphicFramePr>
        <p:xfrm>
          <a:off x="2379131" y="2339625"/>
          <a:ext cx="9067800" cy="3105072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19613243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129046236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81047847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3110547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74238008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8970315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483788328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15655828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655981716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1715797506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50372758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1821556409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110304687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100677182"/>
                    </a:ext>
                  </a:extLst>
                </a:gridCol>
              </a:tblGrid>
              <a:tr h="28884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2932008"/>
                  </a:ext>
                </a:extLst>
              </a:tr>
              <a:tr h="48742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74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88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81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84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85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76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73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66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291523"/>
                  </a:ext>
                </a:extLst>
              </a:tr>
              <a:tr h="28884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71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046064"/>
                  </a:ext>
                </a:extLst>
              </a:tr>
              <a:tr h="48742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53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46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AR" sz="18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49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36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35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AR" sz="18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26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906886"/>
                  </a:ext>
                </a:extLst>
              </a:tr>
              <a:tr h="28884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76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91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87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748200"/>
                  </a:ext>
                </a:extLst>
              </a:tr>
              <a:tr h="48742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15</a:t>
                      </a:r>
                      <a:endParaRPr lang="es-AR" sz="1800" b="1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295500"/>
                  </a:ext>
                </a:extLst>
              </a:tr>
              <a:tr h="28884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615298"/>
                  </a:ext>
                </a:extLst>
              </a:tr>
              <a:tr h="48742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  <a:endParaRPr lang="es-AR" sz="1800" b="1" i="0" u="none" strike="noStrike" dirty="0">
                        <a:solidFill>
                          <a:srgbClr val="FF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  <a:endParaRPr lang="es-AR" sz="1800" b="1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349"/>
                  </a:ext>
                </a:extLst>
              </a:tr>
            </a:tbl>
          </a:graphicData>
        </a:graphic>
      </p:graphicFrame>
      <p:pic>
        <p:nvPicPr>
          <p:cNvPr id="14" name="__fun_09" descr="Imagen en blanco y negro de una persona&#10;&#10;El contenido generado por IA puede ser incorrecto.">
            <a:extLst>
              <a:ext uri="{FF2B5EF4-FFF2-40B4-BE49-F238E27FC236}">
                <a16:creationId xmlns:a16="http://schemas.microsoft.com/office/drawing/2014/main" id="{B8241831-C81B-0ABE-192F-AA42763DA2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9907" y="1351469"/>
            <a:ext cx="838200" cy="914400"/>
          </a:xfrm>
          <a:prstGeom prst="rect">
            <a:avLst/>
          </a:prstGeom>
        </p:spPr>
      </p:pic>
      <p:pic>
        <p:nvPicPr>
          <p:cNvPr id="10" name="__fun_08">
            <a:extLst>
              <a:ext uri="{FF2B5EF4-FFF2-40B4-BE49-F238E27FC236}">
                <a16:creationId xmlns:a16="http://schemas.microsoft.com/office/drawing/2014/main" id="{062C4EBE-DFB2-C949-662A-CBDF4715FEE9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2519077" y="1346845"/>
            <a:ext cx="838200" cy="914400"/>
          </a:xfrm>
          <a:prstGeom prst="rect">
            <a:avLst/>
          </a:prstGeom>
        </p:spPr>
      </p:pic>
      <p:pic>
        <p:nvPicPr>
          <p:cNvPr id="16" name="__fun_10">
            <a:extLst>
              <a:ext uri="{FF2B5EF4-FFF2-40B4-BE49-F238E27FC236}">
                <a16:creationId xmlns:a16="http://schemas.microsoft.com/office/drawing/2014/main" id="{0D31B7AE-70B9-6CED-6D4D-01BC91FAE7D6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5183763" y="1360701"/>
            <a:ext cx="838200" cy="914400"/>
          </a:xfrm>
          <a:prstGeom prst="rect">
            <a:avLst/>
          </a:prstGeom>
        </p:spPr>
      </p:pic>
      <p:pic>
        <p:nvPicPr>
          <p:cNvPr id="20" name="__fun_11">
            <a:extLst>
              <a:ext uri="{FF2B5EF4-FFF2-40B4-BE49-F238E27FC236}">
                <a16:creationId xmlns:a16="http://schemas.microsoft.com/office/drawing/2014/main" id="{8CDD1229-3B33-726A-626C-0EF56B2F9989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6564593" y="1365325"/>
            <a:ext cx="838200" cy="914400"/>
          </a:xfrm>
          <a:prstGeom prst="rect">
            <a:avLst/>
          </a:prstGeom>
        </p:spPr>
      </p:pic>
      <p:pic>
        <p:nvPicPr>
          <p:cNvPr id="24" name="__fun_12">
            <a:extLst>
              <a:ext uri="{FF2B5EF4-FFF2-40B4-BE49-F238E27FC236}">
                <a16:creationId xmlns:a16="http://schemas.microsoft.com/office/drawing/2014/main" id="{522BE838-15FF-018F-0052-8E72398282E6}"/>
              </a:ext>
            </a:extLst>
          </p:cNvPr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7700680" y="1374565"/>
            <a:ext cx="838200" cy="914400"/>
          </a:xfrm>
          <a:prstGeom prst="rect">
            <a:avLst/>
          </a:prstGeom>
        </p:spPr>
      </p:pic>
      <p:pic>
        <p:nvPicPr>
          <p:cNvPr id="27" name="__fun_13">
            <a:extLst>
              <a:ext uri="{FF2B5EF4-FFF2-40B4-BE49-F238E27FC236}">
                <a16:creationId xmlns:a16="http://schemas.microsoft.com/office/drawing/2014/main" id="{01E15A32-9E16-A957-E3AF-36E63149AC7D}"/>
              </a:ext>
            </a:extLst>
          </p:cNvPr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8984536" y="1383797"/>
            <a:ext cx="838200" cy="914400"/>
          </a:xfrm>
          <a:prstGeom prst="rect">
            <a:avLst/>
          </a:prstGeom>
        </p:spPr>
      </p:pic>
      <p:pic>
        <p:nvPicPr>
          <p:cNvPr id="30" name="__fun_14">
            <a:extLst>
              <a:ext uri="{FF2B5EF4-FFF2-40B4-BE49-F238E27FC236}">
                <a16:creationId xmlns:a16="http://schemas.microsoft.com/office/drawing/2014/main" id="{AFA7BC41-2D67-1CC3-E564-A9E50A1252A4}"/>
              </a:ext>
            </a:extLst>
          </p:cNvPr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10365366" y="1388421"/>
            <a:ext cx="838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350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DF455-9D58-6833-B26B-C27A5A34A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3C494B9-335B-5CA5-F696-6B88BC8580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 dirty="0">
              <a:ln>
                <a:noFill/>
              </a:ln>
              <a:solidFill>
                <a:srgbClr val="2F469C">
                  <a:lumMod val="75000"/>
                </a:srgbClr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C8BFF646-87E6-E805-7EF2-57D4659F00F5}"/>
              </a:ext>
            </a:extLst>
          </p:cNvPr>
          <p:cNvGrpSpPr/>
          <p:nvPr/>
        </p:nvGrpSpPr>
        <p:grpSpPr>
          <a:xfrm>
            <a:off x="10902220" y="5493109"/>
            <a:ext cx="1061500" cy="560272"/>
            <a:chOff x="3765666" y="4907510"/>
            <a:chExt cx="1134973" cy="738664"/>
          </a:xfrm>
        </p:grpSpPr>
        <p:sp>
          <p:nvSpPr>
            <p:cNvPr id="134" name="CuadroTexto 133">
              <a:extLst>
                <a:ext uri="{FF2B5EF4-FFF2-40B4-BE49-F238E27FC236}">
                  <a16:creationId xmlns:a16="http://schemas.microsoft.com/office/drawing/2014/main" id="{54B7A54D-0CBE-EFDA-5724-6FB1E66D2D82}"/>
                </a:ext>
              </a:extLst>
            </p:cNvPr>
            <p:cNvSpPr txBox="1"/>
            <p:nvPr/>
          </p:nvSpPr>
          <p:spPr>
            <a:xfrm>
              <a:off x="3765666" y="4907510"/>
              <a:ext cx="113497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8151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A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Arial" charset="0"/>
                </a:rPr>
                <a:t>Índice de conversión</a:t>
              </a:r>
            </a:p>
          </p:txBody>
        </p:sp>
        <p:sp>
          <p:nvSpPr>
            <p:cNvPr id="135" name="Freeform 13">
              <a:extLst>
                <a:ext uri="{FF2B5EF4-FFF2-40B4-BE49-F238E27FC236}">
                  <a16:creationId xmlns:a16="http://schemas.microsoft.com/office/drawing/2014/main" id="{25C925A9-70E6-882C-851C-C177B6BE51C2}"/>
                </a:ext>
              </a:extLst>
            </p:cNvPr>
            <p:cNvSpPr>
              <a:spLocks/>
            </p:cNvSpPr>
            <p:nvPr/>
          </p:nvSpPr>
          <p:spPr bwMode="auto">
            <a:xfrm rot="644251">
              <a:off x="3921963" y="4911118"/>
              <a:ext cx="91580" cy="185479"/>
            </a:xfrm>
            <a:custGeom>
              <a:avLst/>
              <a:gdLst>
                <a:gd name="T0" fmla="*/ 2147483647 w 576"/>
                <a:gd name="T1" fmla="*/ 2147483647 h 576"/>
                <a:gd name="T2" fmla="*/ 2147483647 w 576"/>
                <a:gd name="T3" fmla="*/ 2147483647 h 576"/>
                <a:gd name="T4" fmla="*/ 0 w 576"/>
                <a:gd name="T5" fmla="*/ 0 h 576"/>
                <a:gd name="T6" fmla="*/ 0 60000 65536"/>
                <a:gd name="T7" fmla="*/ 0 60000 65536"/>
                <a:gd name="T8" fmla="*/ 0 60000 65536"/>
                <a:gd name="T9" fmla="*/ 0 w 576"/>
                <a:gd name="T10" fmla="*/ 0 h 576"/>
                <a:gd name="T11" fmla="*/ 576 w 576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576">
                  <a:moveTo>
                    <a:pt x="288" y="576"/>
                  </a:moveTo>
                  <a:cubicBezTo>
                    <a:pt x="432" y="480"/>
                    <a:pt x="576" y="384"/>
                    <a:pt x="528" y="288"/>
                  </a:cubicBezTo>
                  <a:cubicBezTo>
                    <a:pt x="480" y="192"/>
                    <a:pt x="240" y="96"/>
                    <a:pt x="0" y="0"/>
                  </a:cubicBezTo>
                </a:path>
              </a:pathLst>
            </a:custGeom>
            <a:noFill/>
            <a:ln w="12700">
              <a:solidFill>
                <a:sysClr val="window" lastClr="FFFFFF">
                  <a:lumMod val="50000"/>
                </a:sysClr>
              </a:solidFill>
              <a:round/>
              <a:headEnd/>
              <a:tailEnd type="triangle" w="med" len="med"/>
            </a:ln>
          </p:spPr>
          <p:txBody>
            <a:bodyPr lIns="0" tIns="0" rIns="0" bIns="0"/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9pPr>
            </a:lstStyle>
            <a:p>
              <a:pPr marL="0" marR="0" lvl="0" indent="0" algn="l" defTabSz="31098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AR" sz="1200" b="1" i="0" u="none" strike="noStrike" kern="1200" cap="none" spc="0" normalizeH="0" baseline="0" noProof="0" dirty="0">
                <a:ln>
                  <a:noFill/>
                </a:ln>
                <a:solidFill>
                  <a:srgbClr val="616365"/>
                </a:solidFill>
                <a:effectLst/>
                <a:uLnTx/>
                <a:uFillTx/>
                <a:latin typeface="Calibri"/>
                <a:ea typeface="MS PGothic" pitchFamily="34" charset="-128"/>
                <a:cs typeface="+mn-cs"/>
              </a:endParaRPr>
            </a:p>
          </p:txBody>
        </p:sp>
      </p:grpSp>
      <p:sp>
        <p:nvSpPr>
          <p:cNvPr id="2" name="TitleTextScale3-1">
            <a:extLst>
              <a:ext uri="{FF2B5EF4-FFF2-40B4-BE49-F238E27FC236}">
                <a16:creationId xmlns:a16="http://schemas.microsoft.com/office/drawing/2014/main" id="{EB80363D-5961-9EA0-5A00-A5F62327FD01}"/>
              </a:ext>
            </a:extLst>
          </p:cNvPr>
          <p:cNvSpPr>
            <a:spLocks/>
          </p:cNvSpPr>
          <p:nvPr/>
        </p:nvSpPr>
        <p:spPr bwMode="white">
          <a:xfrm>
            <a:off x="9096667" y="6604935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dirty="0"/>
            </a:pP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 Total por ola: 300 casos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FC411CF-5488-DC9F-D789-EE908CD94F64}"/>
              </a:ext>
            </a:extLst>
          </p:cNvPr>
          <p:cNvSpPr txBox="1"/>
          <p:nvPr/>
        </p:nvSpPr>
        <p:spPr>
          <a:xfrm>
            <a:off x="7644619" y="6602002"/>
            <a:ext cx="27972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Diferencias Significativas vs ola anterior 95% CL </a:t>
            </a:r>
            <a:endParaRPr kumimoji="0" lang="es-A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0B45AE88-C3FE-97F4-5B30-0CDCC19B8C45}"/>
              </a:ext>
            </a:extLst>
          </p:cNvPr>
          <p:cNvSpPr/>
          <p:nvPr/>
        </p:nvSpPr>
        <p:spPr bwMode="auto">
          <a:xfrm>
            <a:off x="7400292" y="6660178"/>
            <a:ext cx="132570" cy="144000"/>
          </a:xfrm>
          <a:prstGeom prst="triangl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8" name="Triángulo isósceles 7">
            <a:extLst>
              <a:ext uri="{FF2B5EF4-FFF2-40B4-BE49-F238E27FC236}">
                <a16:creationId xmlns:a16="http://schemas.microsoft.com/office/drawing/2014/main" id="{96F5A3D2-46FE-BA6B-0AA3-DD0EBA70F9DC}"/>
              </a:ext>
            </a:extLst>
          </p:cNvPr>
          <p:cNvSpPr/>
          <p:nvPr/>
        </p:nvSpPr>
        <p:spPr bwMode="auto">
          <a:xfrm rot="10800000">
            <a:off x="7523816" y="6663555"/>
            <a:ext cx="132570" cy="14400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13" name="Título 5">
            <a:extLst>
              <a:ext uri="{FF2B5EF4-FFF2-40B4-BE49-F238E27FC236}">
                <a16:creationId xmlns:a16="http://schemas.microsoft.com/office/drawing/2014/main" id="{63D01D88-93E2-1AA6-D722-625F84F5B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1827" y="1036351"/>
            <a:ext cx="4808659" cy="560272"/>
          </a:xfrm>
        </p:spPr>
        <p:txBody>
          <a:bodyPr/>
          <a:lstStyle/>
          <a:p>
            <a:r>
              <a:rPr lang="es-AR" sz="1600" b="0" i="1" dirty="0" err="1"/>
              <a:t>Lechelita</a:t>
            </a:r>
            <a:r>
              <a:rPr lang="es-AR" sz="1600" b="0" i="1" dirty="0"/>
              <a:t> pierde consideradores mientras que La </a:t>
            </a:r>
            <a:r>
              <a:rPr lang="es-AR" sz="1600" b="0" i="1" dirty="0" err="1"/>
              <a:t>Suipachense</a:t>
            </a:r>
            <a:r>
              <a:rPr lang="es-AR" sz="1600" b="0" i="1" dirty="0"/>
              <a:t> lo hace desde compra UM.</a:t>
            </a:r>
            <a:r>
              <a:rPr lang="es-AR" sz="1400" b="0" i="1" dirty="0"/>
              <a:t> </a:t>
            </a:r>
          </a:p>
        </p:txBody>
      </p:sp>
      <p:graphicFrame>
        <p:nvGraphicFramePr>
          <p:cNvPr id="15" name="Diagrama 14">
            <a:extLst>
              <a:ext uri="{FF2B5EF4-FFF2-40B4-BE49-F238E27FC236}">
                <a16:creationId xmlns:a16="http://schemas.microsoft.com/office/drawing/2014/main" id="{0A553812-7D1D-BB4E-769E-655AC3B95E66}"/>
              </a:ext>
            </a:extLst>
          </p:cNvPr>
          <p:cNvGraphicFramePr/>
          <p:nvPr/>
        </p:nvGraphicFramePr>
        <p:xfrm>
          <a:off x="0" y="2204720"/>
          <a:ext cx="2194561" cy="3591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9" name="CuadroTexto 18">
            <a:extLst>
              <a:ext uri="{FF2B5EF4-FFF2-40B4-BE49-F238E27FC236}">
                <a16:creationId xmlns:a16="http://schemas.microsoft.com/office/drawing/2014/main" id="{9A002194-D716-DA4B-322A-4EE3EACBF646}"/>
              </a:ext>
            </a:extLst>
          </p:cNvPr>
          <p:cNvSpPr txBox="1"/>
          <p:nvPr/>
        </p:nvSpPr>
        <p:spPr>
          <a:xfrm>
            <a:off x="244257" y="1306701"/>
            <a:ext cx="25451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2F469C"/>
                </a:solidFill>
                <a:effectLst/>
                <a:uLnTx/>
                <a:uFillTx/>
                <a:ea typeface="+mn-ea"/>
                <a:cs typeface="+mn-cs"/>
              </a:rPr>
              <a:t>En %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8A9E936A-C608-4EA5-8910-620D9FCFC225}"/>
              </a:ext>
            </a:extLst>
          </p:cNvPr>
          <p:cNvSpPr txBox="1">
            <a:spLocks/>
          </p:cNvSpPr>
          <p:nvPr/>
        </p:nvSpPr>
        <p:spPr>
          <a:xfrm>
            <a:off x="166190" y="108388"/>
            <a:ext cx="11557724" cy="54234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cap="none" spc="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s-AR" sz="2000" b="0" dirty="0"/>
              <a:t>Estas  marcas tienen una baja tasa de conversión a consideración y aún tienen oportunidad de mejorar conocimiento </a:t>
            </a:r>
          </a:p>
        </p:txBody>
      </p:sp>
      <p:graphicFrame>
        <p:nvGraphicFramePr>
          <p:cNvPr id="3" name="__Funnel_15_20">
            <a:extLst>
              <a:ext uri="{FF2B5EF4-FFF2-40B4-BE49-F238E27FC236}">
                <a16:creationId xmlns:a16="http://schemas.microsoft.com/office/drawing/2014/main" id="{559E6255-78DC-2014-C9C8-43037AE0C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249370"/>
              </p:ext>
            </p:extLst>
          </p:nvPr>
        </p:nvGraphicFramePr>
        <p:xfrm>
          <a:off x="2379131" y="2339625"/>
          <a:ext cx="7772400" cy="3105072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19613243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129046236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81047847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3110547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74238008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8970315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483788328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15655828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655981716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1715797506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50372758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1821556409"/>
                    </a:ext>
                  </a:extLst>
                </a:gridCol>
              </a:tblGrid>
              <a:tr h="28884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2932008"/>
                  </a:ext>
                </a:extLst>
              </a:tr>
              <a:tr h="48742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39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s-AR" sz="1800" b="1" i="0" u="none" strike="noStrike">
                        <a:solidFill>
                          <a:srgbClr val="FFFFFF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291523"/>
                  </a:ext>
                </a:extLst>
              </a:tr>
              <a:tr h="28884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s-AR" sz="1100" b="0" i="0" u="none" strike="noStrike">
                        <a:solidFill>
                          <a:srgbClr val="80808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046064"/>
                  </a:ext>
                </a:extLst>
              </a:tr>
              <a:tr h="48742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AR" sz="18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AR" sz="18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s-AR" sz="1800" b="1" i="0" u="none" strike="noStrike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906886"/>
                  </a:ext>
                </a:extLst>
              </a:tr>
              <a:tr h="28884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s-AR" sz="1100" b="0" i="0" u="none" strike="noStrike">
                        <a:solidFill>
                          <a:srgbClr val="80808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748200"/>
                  </a:ext>
                </a:extLst>
              </a:tr>
              <a:tr h="48742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  <a:endParaRPr lang="es-AR" sz="1800" b="1" i="0" u="none" strike="noStrike" dirty="0">
                        <a:solidFill>
                          <a:srgbClr val="00B05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s-AR" sz="1800" b="1" i="0" u="none" strike="noStrike">
                        <a:solidFill>
                          <a:srgbClr val="00B05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295500"/>
                  </a:ext>
                </a:extLst>
              </a:tr>
              <a:tr h="28884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s-AR" sz="1100" b="0" i="0" u="none" strike="noStrike">
                        <a:solidFill>
                          <a:srgbClr val="80808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615298"/>
                  </a:ext>
                </a:extLst>
              </a:tr>
              <a:tr h="48742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0</a:t>
                      </a:r>
                      <a:endParaRPr lang="es-AR" sz="1800" b="1" i="0" u="none" strike="noStrike" dirty="0">
                        <a:solidFill>
                          <a:srgbClr val="FF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s-AR" sz="1800" b="1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349"/>
                  </a:ext>
                </a:extLst>
              </a:tr>
            </a:tbl>
          </a:graphicData>
        </a:graphic>
      </p:graphicFrame>
      <p:pic>
        <p:nvPicPr>
          <p:cNvPr id="11" name="__fun_15">
            <a:extLst>
              <a:ext uri="{FF2B5EF4-FFF2-40B4-BE49-F238E27FC236}">
                <a16:creationId xmlns:a16="http://schemas.microsoft.com/office/drawing/2014/main" id="{7ED4EC6E-9E56-1404-B2FC-02B95455BDF4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2519077" y="1346845"/>
            <a:ext cx="838200" cy="914400"/>
          </a:xfrm>
          <a:prstGeom prst="rect">
            <a:avLst/>
          </a:prstGeom>
        </p:spPr>
      </p:pic>
      <p:pic>
        <p:nvPicPr>
          <p:cNvPr id="16" name="__fun_16">
            <a:extLst>
              <a:ext uri="{FF2B5EF4-FFF2-40B4-BE49-F238E27FC236}">
                <a16:creationId xmlns:a16="http://schemas.microsoft.com/office/drawing/2014/main" id="{1CF6AEE6-5764-93B1-FA7C-8827D7495B60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3899907" y="1351469"/>
            <a:ext cx="838200" cy="914400"/>
          </a:xfrm>
          <a:prstGeom prst="rect">
            <a:avLst/>
          </a:prstGeom>
        </p:spPr>
      </p:pic>
      <p:pic>
        <p:nvPicPr>
          <p:cNvPr id="20" name="__fun_17">
            <a:extLst>
              <a:ext uri="{FF2B5EF4-FFF2-40B4-BE49-F238E27FC236}">
                <a16:creationId xmlns:a16="http://schemas.microsoft.com/office/drawing/2014/main" id="{71E9FD54-C6F0-DD5E-7F5F-773D2F224017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5183763" y="1360701"/>
            <a:ext cx="838200" cy="914400"/>
          </a:xfrm>
          <a:prstGeom prst="rect">
            <a:avLst/>
          </a:prstGeom>
        </p:spPr>
      </p:pic>
      <p:pic>
        <p:nvPicPr>
          <p:cNvPr id="23" name="__fun_18">
            <a:extLst>
              <a:ext uri="{FF2B5EF4-FFF2-40B4-BE49-F238E27FC236}">
                <a16:creationId xmlns:a16="http://schemas.microsoft.com/office/drawing/2014/main" id="{A9077692-50B9-7126-3D1C-85508EFCD46C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6564593" y="1365325"/>
            <a:ext cx="838200" cy="914400"/>
          </a:xfrm>
          <a:prstGeom prst="rect">
            <a:avLst/>
          </a:prstGeom>
        </p:spPr>
      </p:pic>
      <p:pic>
        <p:nvPicPr>
          <p:cNvPr id="26" name="__fun_19">
            <a:extLst>
              <a:ext uri="{FF2B5EF4-FFF2-40B4-BE49-F238E27FC236}">
                <a16:creationId xmlns:a16="http://schemas.microsoft.com/office/drawing/2014/main" id="{C54C26FF-7B97-B6AE-076D-E053CBFA5F86}"/>
              </a:ext>
            </a:extLst>
          </p:cNvPr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7700680" y="1374565"/>
            <a:ext cx="838200" cy="914400"/>
          </a:xfrm>
          <a:prstGeom prst="rect">
            <a:avLst/>
          </a:prstGeom>
        </p:spPr>
      </p:pic>
      <p:pic>
        <p:nvPicPr>
          <p:cNvPr id="29" name="__fun_20">
            <a:extLst>
              <a:ext uri="{FF2B5EF4-FFF2-40B4-BE49-F238E27FC236}">
                <a16:creationId xmlns:a16="http://schemas.microsoft.com/office/drawing/2014/main" id="{7E7BE868-BF3F-8684-33E2-2A8797EE1724}"/>
              </a:ext>
            </a:extLst>
          </p:cNvPr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8984536" y="1383797"/>
            <a:ext cx="838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147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FE2411F-1BC9-BDDA-7A49-A3C84C2BBEA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2F469C">
                    <a:lumMod val="75000"/>
                  </a:srgbClr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   </a:t>
            </a:r>
          </a:p>
        </p:txBody>
      </p:sp>
      <p:sp>
        <p:nvSpPr>
          <p:cNvPr id="2" name="TitleTextScale3-1">
            <a:extLst>
              <a:ext uri="{FF2B5EF4-FFF2-40B4-BE49-F238E27FC236}">
                <a16:creationId xmlns:a16="http://schemas.microsoft.com/office/drawing/2014/main" id="{E104282C-6D2D-32DF-1467-B769392DB000}"/>
              </a:ext>
            </a:extLst>
          </p:cNvPr>
          <p:cNvSpPr>
            <a:spLocks/>
          </p:cNvSpPr>
          <p:nvPr/>
        </p:nvSpPr>
        <p:spPr bwMode="white">
          <a:xfrm>
            <a:off x="9096667" y="6604935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dirty="0"/>
            </a:pP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 Total por ola: 300 casos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C33F811-999A-8C1C-35A7-F54CE0B81126}"/>
              </a:ext>
            </a:extLst>
          </p:cNvPr>
          <p:cNvSpPr txBox="1"/>
          <p:nvPr/>
        </p:nvSpPr>
        <p:spPr>
          <a:xfrm>
            <a:off x="7644619" y="6602002"/>
            <a:ext cx="27972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Diferencias Significativas vs ola anterior 95% CL </a:t>
            </a:r>
            <a:endParaRPr kumimoji="0" lang="es-A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17953003-C03D-C16E-CE6C-CEAED0832BFC}"/>
              </a:ext>
            </a:extLst>
          </p:cNvPr>
          <p:cNvSpPr/>
          <p:nvPr/>
        </p:nvSpPr>
        <p:spPr bwMode="auto">
          <a:xfrm>
            <a:off x="7400292" y="6660178"/>
            <a:ext cx="132570" cy="144000"/>
          </a:xfrm>
          <a:prstGeom prst="triangl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8" name="Triángulo isósceles 7">
            <a:extLst>
              <a:ext uri="{FF2B5EF4-FFF2-40B4-BE49-F238E27FC236}">
                <a16:creationId xmlns:a16="http://schemas.microsoft.com/office/drawing/2014/main" id="{FF1EEE36-C4A0-CCAE-3C38-BADD5AB4BC7D}"/>
              </a:ext>
            </a:extLst>
          </p:cNvPr>
          <p:cNvSpPr/>
          <p:nvPr/>
        </p:nvSpPr>
        <p:spPr bwMode="auto">
          <a:xfrm rot="10800000">
            <a:off x="7523816" y="6663555"/>
            <a:ext cx="132570" cy="14400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13" name="Título 5">
            <a:extLst>
              <a:ext uri="{FF2B5EF4-FFF2-40B4-BE49-F238E27FC236}">
                <a16:creationId xmlns:a16="http://schemas.microsoft.com/office/drawing/2014/main" id="{1F019B85-FA49-4C57-77F9-57349778F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56" y="137159"/>
            <a:ext cx="11569700" cy="895630"/>
          </a:xfrm>
        </p:spPr>
        <p:txBody>
          <a:bodyPr/>
          <a:lstStyle/>
          <a:p>
            <a:r>
              <a:rPr lang="es-AR" sz="2000" dirty="0"/>
              <a:t>LS</a:t>
            </a:r>
            <a:r>
              <a:rPr lang="es-AR" sz="2000" b="0" dirty="0"/>
              <a:t> mejora su vínculo principalmente desde </a:t>
            </a:r>
            <a:r>
              <a:rPr lang="es-AR" sz="2000" dirty="0"/>
              <a:t>consideración</a:t>
            </a:r>
            <a:r>
              <a:rPr lang="es-AR" sz="2000" b="0" dirty="0"/>
              <a:t> significativamente en los rangos etarios de </a:t>
            </a:r>
            <a:r>
              <a:rPr lang="es-AR" sz="2000" dirty="0"/>
              <a:t>35 a 49 </a:t>
            </a:r>
            <a:r>
              <a:rPr lang="es-AR" sz="2000" b="0" dirty="0"/>
              <a:t>años, pero también logra buena tendencia en el NSE Medio y a nivel </a:t>
            </a:r>
            <a:r>
              <a:rPr lang="es-AR" sz="2000" b="0" dirty="0" err="1"/>
              <a:t>region</a:t>
            </a:r>
            <a:r>
              <a:rPr lang="es-AR" sz="2000" b="0" dirty="0"/>
              <a:t>. </a:t>
            </a:r>
            <a:br>
              <a:rPr lang="es-AR" sz="2000" b="0" dirty="0"/>
            </a:br>
            <a:r>
              <a:rPr lang="es-AR" sz="2000" b="0" dirty="0"/>
              <a:t>La competencia pierde atractivo. </a:t>
            </a:r>
            <a:r>
              <a:rPr lang="es-AR" sz="2000" dirty="0" err="1"/>
              <a:t>Sancor</a:t>
            </a:r>
            <a:r>
              <a:rPr lang="es-AR" sz="2000" b="0" dirty="0"/>
              <a:t>, cae la lealtad en </a:t>
            </a:r>
            <a:r>
              <a:rPr lang="es-AR" sz="2000" dirty="0"/>
              <a:t>AMBA</a:t>
            </a:r>
            <a:r>
              <a:rPr lang="es-AR" sz="2000" b="0" dirty="0"/>
              <a:t> y se debilita en 35-49años y en los extremos de los NSE. </a:t>
            </a:r>
            <a:r>
              <a:rPr lang="es-AR" sz="2000" dirty="0" err="1"/>
              <a:t>Ilolay</a:t>
            </a:r>
            <a:r>
              <a:rPr lang="es-AR" sz="2000" b="0" dirty="0"/>
              <a:t> también con tendencia de caída en los niveles medios altos</a:t>
            </a:r>
            <a:endParaRPr lang="es-AR" sz="1800" b="0" dirty="0"/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8D99C74E-C4E3-8E89-B5E7-9A11601C4B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951424"/>
              </p:ext>
            </p:extLst>
          </p:nvPr>
        </p:nvGraphicFramePr>
        <p:xfrm>
          <a:off x="601871" y="1409652"/>
          <a:ext cx="10312409" cy="566420"/>
        </p:xfrm>
        <a:graphic>
          <a:graphicData uri="http://schemas.openxmlformats.org/drawingml/2006/table">
            <a:tbl>
              <a:tblPr/>
              <a:tblGrid>
                <a:gridCol w="1962569">
                  <a:extLst>
                    <a:ext uri="{9D8B030D-6E8A-4147-A177-3AD203B41FA5}">
                      <a16:colId xmlns:a16="http://schemas.microsoft.com/office/drawing/2014/main" val="2181408045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563685968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4010631983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603561894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162733261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155904033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770722327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335591709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378328082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264944631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1697433986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1526169148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01775247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4219204474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10517835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140115575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946209596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497635374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78290347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20-34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35-49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50-70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ABC1/C2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C3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D1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Amba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Interior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73469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769063"/>
                  </a:ext>
                </a:extLst>
              </a:tr>
            </a:tbl>
          </a:graphicData>
        </a:graphic>
      </p:graphicFrame>
      <p:pic>
        <p:nvPicPr>
          <p:cNvPr id="10" name="Picture 2">
            <a:extLst>
              <a:ext uri="{FF2B5EF4-FFF2-40B4-BE49-F238E27FC236}">
                <a16:creationId xmlns:a16="http://schemas.microsoft.com/office/drawing/2014/main" id="{EB5FB64F-2633-C08C-F8C8-B05ADDB06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3657" y="1394697"/>
            <a:ext cx="1307381" cy="669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__FUNNEL_Cremon_WAVE_DEMOS">
            <a:extLst>
              <a:ext uri="{FF2B5EF4-FFF2-40B4-BE49-F238E27FC236}">
                <a16:creationId xmlns:a16="http://schemas.microsoft.com/office/drawing/2014/main" id="{CF1AF8C6-9EE2-9F2F-958F-A3B3489570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268176"/>
              </p:ext>
            </p:extLst>
          </p:nvPr>
        </p:nvGraphicFramePr>
        <p:xfrm>
          <a:off x="609894" y="2507024"/>
          <a:ext cx="10312408" cy="1228768"/>
        </p:xfrm>
        <a:graphic>
          <a:graphicData uri="http://schemas.openxmlformats.org/drawingml/2006/table">
            <a:tbl>
              <a:tblPr/>
              <a:tblGrid>
                <a:gridCol w="1962568">
                  <a:extLst>
                    <a:ext uri="{9D8B030D-6E8A-4147-A177-3AD203B41FA5}">
                      <a16:colId xmlns:a16="http://schemas.microsoft.com/office/drawing/2014/main" val="261892667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17290670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104031611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93648311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705669026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460329413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88468122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137710207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4142908299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458276489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956102942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857707019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278821844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40938873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42996812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1019017582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729884498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632601608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445958431"/>
                    </a:ext>
                  </a:extLst>
                </a:gridCol>
              </a:tblGrid>
              <a:tr h="3071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5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7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9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15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16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17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479078"/>
                  </a:ext>
                </a:extLst>
              </a:tr>
              <a:tr h="3071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NombreColumna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039672"/>
                  </a:ext>
                </a:extLst>
              </a:tr>
              <a:tr h="20479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CONSIDER</a:t>
                      </a:r>
                      <a:endParaRPr lang="es-AR" sz="800" b="1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61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61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58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5970263"/>
                  </a:ext>
                </a:extLst>
              </a:tr>
              <a:tr h="20479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ULTIMO MES</a:t>
                      </a:r>
                      <a:endParaRPr lang="es-AR" sz="800" b="1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40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38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770549"/>
                  </a:ext>
                </a:extLst>
              </a:tr>
              <a:tr h="20479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Mas Frecuente</a:t>
                      </a:r>
                      <a:endParaRPr lang="es-AR" sz="800" b="1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9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12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11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9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10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11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9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9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006923"/>
                  </a:ext>
                </a:extLst>
              </a:tr>
            </a:tbl>
          </a:graphicData>
        </a:graphic>
      </p:graphicFrame>
      <p:graphicFrame>
        <p:nvGraphicFramePr>
          <p:cNvPr id="14" name="__FUNNEL_LaPau_WAVE_DEMOS">
            <a:extLst>
              <a:ext uri="{FF2B5EF4-FFF2-40B4-BE49-F238E27FC236}">
                <a16:creationId xmlns:a16="http://schemas.microsoft.com/office/drawing/2014/main" id="{F4B1F3A7-30BD-FCBA-1A3A-B78B22789D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100624"/>
              </p:ext>
            </p:extLst>
          </p:nvPr>
        </p:nvGraphicFramePr>
        <p:xfrm>
          <a:off x="617918" y="3553195"/>
          <a:ext cx="10312408" cy="1228768"/>
        </p:xfrm>
        <a:graphic>
          <a:graphicData uri="http://schemas.openxmlformats.org/drawingml/2006/table">
            <a:tbl>
              <a:tblPr/>
              <a:tblGrid>
                <a:gridCol w="1962568">
                  <a:extLst>
                    <a:ext uri="{9D8B030D-6E8A-4147-A177-3AD203B41FA5}">
                      <a16:colId xmlns:a16="http://schemas.microsoft.com/office/drawing/2014/main" val="261892667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17290670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104031611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93648311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705669026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460329413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88468122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137710207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4142908299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458276489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956102942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857707019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278821844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40938873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42996812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1019017582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729884498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632601608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445958431"/>
                    </a:ext>
                  </a:extLst>
                </a:gridCol>
              </a:tblGrid>
              <a:tr h="3071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5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7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9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15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16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17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479078"/>
                  </a:ext>
                </a:extLst>
              </a:tr>
              <a:tr h="3071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NombreColumna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039672"/>
                  </a:ext>
                </a:extLst>
              </a:tr>
              <a:tr h="20479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CONSIDER</a:t>
                      </a:r>
                      <a:endParaRPr lang="es-AR" sz="800" b="1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73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70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84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5970263"/>
                  </a:ext>
                </a:extLst>
              </a:tr>
              <a:tr h="20479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ULTIMO MES</a:t>
                      </a:r>
                      <a:endParaRPr lang="es-AR" sz="800" b="1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53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52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770549"/>
                  </a:ext>
                </a:extLst>
              </a:tr>
              <a:tr h="20479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Mas Frecuente</a:t>
                      </a:r>
                      <a:endParaRPr lang="es-AR" sz="800" b="1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16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19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10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17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19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14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20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27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14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29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22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12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11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21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16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006923"/>
                  </a:ext>
                </a:extLst>
              </a:tr>
            </a:tbl>
          </a:graphicData>
        </a:graphic>
      </p:graphicFrame>
      <p:graphicFrame>
        <p:nvGraphicFramePr>
          <p:cNvPr id="15" name="__FUNNEL_Sancor_WAVE_DEMOS">
            <a:extLst>
              <a:ext uri="{FF2B5EF4-FFF2-40B4-BE49-F238E27FC236}">
                <a16:creationId xmlns:a16="http://schemas.microsoft.com/office/drawing/2014/main" id="{A9BDCDEA-C8DD-6CDC-8E4F-AA550488F1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483789"/>
              </p:ext>
            </p:extLst>
          </p:nvPr>
        </p:nvGraphicFramePr>
        <p:xfrm>
          <a:off x="619064" y="4654375"/>
          <a:ext cx="10312408" cy="1228768"/>
        </p:xfrm>
        <a:graphic>
          <a:graphicData uri="http://schemas.openxmlformats.org/drawingml/2006/table">
            <a:tbl>
              <a:tblPr/>
              <a:tblGrid>
                <a:gridCol w="1962568">
                  <a:extLst>
                    <a:ext uri="{9D8B030D-6E8A-4147-A177-3AD203B41FA5}">
                      <a16:colId xmlns:a16="http://schemas.microsoft.com/office/drawing/2014/main" val="261892667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17290670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104031611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93648311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705669026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460329413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88468122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137710207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4142908299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458276489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956102942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857707019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278821844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40938873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42996812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1019017582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729884498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632601608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445958431"/>
                    </a:ext>
                  </a:extLst>
                </a:gridCol>
              </a:tblGrid>
              <a:tr h="3071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5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7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9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15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16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17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479078"/>
                  </a:ext>
                </a:extLst>
              </a:tr>
              <a:tr h="3071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NombreColumna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039672"/>
                  </a:ext>
                </a:extLst>
              </a:tr>
              <a:tr h="20479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CONSIDER</a:t>
                      </a:r>
                      <a:endParaRPr lang="es-AR" sz="800" b="1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70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68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5970263"/>
                  </a:ext>
                </a:extLst>
              </a:tr>
              <a:tr h="20479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ULTIMO MES</a:t>
                      </a:r>
                      <a:endParaRPr lang="es-AR" sz="800" b="1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45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35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32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770549"/>
                  </a:ext>
                </a:extLst>
              </a:tr>
              <a:tr h="20479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Mas Frecuente</a:t>
                      </a:r>
                      <a:endParaRPr lang="es-AR" sz="800" b="1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9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10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9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006923"/>
                  </a:ext>
                </a:extLst>
              </a:tr>
            </a:tbl>
          </a:graphicData>
        </a:graphic>
      </p:graphicFrame>
      <p:graphicFrame>
        <p:nvGraphicFramePr>
          <p:cNvPr id="9" name="__FUNNEL_LS_WAVE_DEMOS">
            <a:extLst>
              <a:ext uri="{FF2B5EF4-FFF2-40B4-BE49-F238E27FC236}">
                <a16:creationId xmlns:a16="http://schemas.microsoft.com/office/drawing/2014/main" id="{D132AB9A-BE18-E1A5-8826-132896DC22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783872"/>
              </p:ext>
            </p:extLst>
          </p:nvPr>
        </p:nvGraphicFramePr>
        <p:xfrm>
          <a:off x="608746" y="1453973"/>
          <a:ext cx="10312408" cy="1228768"/>
        </p:xfrm>
        <a:graphic>
          <a:graphicData uri="http://schemas.openxmlformats.org/drawingml/2006/table">
            <a:tbl>
              <a:tblPr/>
              <a:tblGrid>
                <a:gridCol w="1962568">
                  <a:extLst>
                    <a:ext uri="{9D8B030D-6E8A-4147-A177-3AD203B41FA5}">
                      <a16:colId xmlns:a16="http://schemas.microsoft.com/office/drawing/2014/main" val="261892667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17290670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104031611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93648311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705669026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460329413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88468122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137710207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4142908299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458276489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956102942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857707019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278821844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40938873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42996812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1019017582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729884498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632601608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445958431"/>
                    </a:ext>
                  </a:extLst>
                </a:gridCol>
              </a:tblGrid>
              <a:tr h="3071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5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7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9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15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16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17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479078"/>
                  </a:ext>
                </a:extLst>
              </a:tr>
              <a:tr h="3071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NombreColumna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039672"/>
                  </a:ext>
                </a:extLst>
              </a:tr>
              <a:tr h="20479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CONSIDER</a:t>
                      </a:r>
                      <a:endParaRPr lang="es-AR" sz="800" b="1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86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82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5970263"/>
                  </a:ext>
                </a:extLst>
              </a:tr>
              <a:tr h="20479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ULTIMO MES</a:t>
                      </a:r>
                      <a:endParaRPr lang="es-AR" sz="800" b="1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58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59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770549"/>
                  </a:ext>
                </a:extLst>
              </a:tr>
              <a:tr h="20479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Mas Frecuente</a:t>
                      </a:r>
                      <a:endParaRPr lang="es-AR" sz="800" b="1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13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19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24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12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16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17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12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14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12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24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15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14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22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17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15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006923"/>
                  </a:ext>
                </a:extLst>
              </a:tr>
            </a:tbl>
          </a:graphicData>
        </a:graphic>
      </p:graphicFrame>
      <p:pic>
        <p:nvPicPr>
          <p:cNvPr id="6" name="Imagen 5" descr="Logotipo&#10;&#10;El contenido generado por IA puede ser incorrecto.">
            <a:extLst>
              <a:ext uri="{FF2B5EF4-FFF2-40B4-BE49-F238E27FC236}">
                <a16:creationId xmlns:a16="http://schemas.microsoft.com/office/drawing/2014/main" id="{9D7CDFF8-54E8-9986-D2BD-040A4FAD7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221" y="2705728"/>
            <a:ext cx="1307381" cy="393401"/>
          </a:xfrm>
          <a:prstGeom prst="rect">
            <a:avLst/>
          </a:prstGeom>
        </p:spPr>
      </p:pic>
      <p:pic>
        <p:nvPicPr>
          <p:cNvPr id="17" name="Imagen 16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EA897C8E-DB8A-18D6-5DFE-0AD540997A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629" y="3650762"/>
            <a:ext cx="635620" cy="635620"/>
          </a:xfrm>
          <a:prstGeom prst="rect">
            <a:avLst/>
          </a:prstGeom>
        </p:spPr>
      </p:pic>
      <p:pic>
        <p:nvPicPr>
          <p:cNvPr id="19" name="Imagen 18" descr="Icono&#10;&#10;El contenido generado por IA puede ser incorrecto.">
            <a:extLst>
              <a:ext uri="{FF2B5EF4-FFF2-40B4-BE49-F238E27FC236}">
                <a16:creationId xmlns:a16="http://schemas.microsoft.com/office/drawing/2014/main" id="{F3D8B9CB-E612-C3FB-434F-50AE141709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1717" y="4781963"/>
            <a:ext cx="751444" cy="53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140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__FUNNEL_Pdagua_WAVE_DEMOS">
            <a:extLst>
              <a:ext uri="{FF2B5EF4-FFF2-40B4-BE49-F238E27FC236}">
                <a16:creationId xmlns:a16="http://schemas.microsoft.com/office/drawing/2014/main" id="{CE15382C-377D-27D2-C590-B129403D7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208619"/>
              </p:ext>
            </p:extLst>
          </p:nvPr>
        </p:nvGraphicFramePr>
        <p:xfrm>
          <a:off x="608746" y="1453973"/>
          <a:ext cx="10312408" cy="1228768"/>
        </p:xfrm>
        <a:graphic>
          <a:graphicData uri="http://schemas.openxmlformats.org/drawingml/2006/table">
            <a:tbl>
              <a:tblPr/>
              <a:tblGrid>
                <a:gridCol w="1962568">
                  <a:extLst>
                    <a:ext uri="{9D8B030D-6E8A-4147-A177-3AD203B41FA5}">
                      <a16:colId xmlns:a16="http://schemas.microsoft.com/office/drawing/2014/main" val="261892667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17290670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104031611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93648311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705669026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460329413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88468122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137710207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4142908299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458276489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956102942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857707019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278821844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40938873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42996812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1019017582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729884498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632601608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445958431"/>
                    </a:ext>
                  </a:extLst>
                </a:gridCol>
              </a:tblGrid>
              <a:tr h="3071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5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7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9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15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16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17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479078"/>
                  </a:ext>
                </a:extLst>
              </a:tr>
              <a:tr h="3071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NombreColumna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039672"/>
                  </a:ext>
                </a:extLst>
              </a:tr>
              <a:tr h="20479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CONSIDER</a:t>
                      </a:r>
                      <a:endParaRPr lang="es-AR" sz="800" b="1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50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56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51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5970263"/>
                  </a:ext>
                </a:extLst>
              </a:tr>
              <a:tr h="20479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ULTIMO MES</a:t>
                      </a:r>
                      <a:endParaRPr lang="es-AR" sz="800" b="1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38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36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770549"/>
                  </a:ext>
                </a:extLst>
              </a:tr>
              <a:tr h="20479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Mas Frecuente</a:t>
                      </a:r>
                      <a:endParaRPr lang="es-AR" sz="800" b="1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20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19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25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23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17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12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17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17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14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17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20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27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26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28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13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14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006923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258D4AC9-A525-B437-2A87-9BEE32DC92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584410"/>
              </p:ext>
            </p:extLst>
          </p:nvPr>
        </p:nvGraphicFramePr>
        <p:xfrm>
          <a:off x="601871" y="1409652"/>
          <a:ext cx="10312409" cy="566420"/>
        </p:xfrm>
        <a:graphic>
          <a:graphicData uri="http://schemas.openxmlformats.org/drawingml/2006/table">
            <a:tbl>
              <a:tblPr/>
              <a:tblGrid>
                <a:gridCol w="1962569">
                  <a:extLst>
                    <a:ext uri="{9D8B030D-6E8A-4147-A177-3AD203B41FA5}">
                      <a16:colId xmlns:a16="http://schemas.microsoft.com/office/drawing/2014/main" val="2181408045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563685968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4010631983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603561894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162733261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155904033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770722327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335591709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378328082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264944631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1697433986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1526169148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01775247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4219204474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10517835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140115575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946209596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497635374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78290347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20-34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35-49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50-70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ABC1/C2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C3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D1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Amba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Interior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73469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769063"/>
                  </a:ext>
                </a:extLst>
              </a:tr>
            </a:tbl>
          </a:graphicData>
        </a:graphic>
      </p:graphicFrame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FE2411F-1BC9-BDDA-7A49-A3C84C2BBEA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2F469C">
                    <a:lumMod val="75000"/>
                  </a:srgbClr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   </a:t>
            </a:r>
          </a:p>
        </p:txBody>
      </p:sp>
      <p:sp>
        <p:nvSpPr>
          <p:cNvPr id="2" name="TitleTextScale3-1">
            <a:extLst>
              <a:ext uri="{FF2B5EF4-FFF2-40B4-BE49-F238E27FC236}">
                <a16:creationId xmlns:a16="http://schemas.microsoft.com/office/drawing/2014/main" id="{E104282C-6D2D-32DF-1467-B769392DB000}"/>
              </a:ext>
            </a:extLst>
          </p:cNvPr>
          <p:cNvSpPr>
            <a:spLocks/>
          </p:cNvSpPr>
          <p:nvPr/>
        </p:nvSpPr>
        <p:spPr bwMode="white">
          <a:xfrm>
            <a:off x="9096667" y="6604935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dirty="0"/>
            </a:pP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 Total por ola: 300 casos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C33F811-999A-8C1C-35A7-F54CE0B81126}"/>
              </a:ext>
            </a:extLst>
          </p:cNvPr>
          <p:cNvSpPr txBox="1"/>
          <p:nvPr/>
        </p:nvSpPr>
        <p:spPr>
          <a:xfrm>
            <a:off x="7644619" y="6602002"/>
            <a:ext cx="27972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Diferencias Significativas vs ola anterior 95% CL </a:t>
            </a:r>
            <a:endParaRPr kumimoji="0" lang="es-A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17953003-C03D-C16E-CE6C-CEAED0832BFC}"/>
              </a:ext>
            </a:extLst>
          </p:cNvPr>
          <p:cNvSpPr/>
          <p:nvPr/>
        </p:nvSpPr>
        <p:spPr bwMode="auto">
          <a:xfrm>
            <a:off x="7400292" y="6660178"/>
            <a:ext cx="132570" cy="144000"/>
          </a:xfrm>
          <a:prstGeom prst="triangl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8" name="Triángulo isósceles 7">
            <a:extLst>
              <a:ext uri="{FF2B5EF4-FFF2-40B4-BE49-F238E27FC236}">
                <a16:creationId xmlns:a16="http://schemas.microsoft.com/office/drawing/2014/main" id="{FF1EEE36-C4A0-CCAE-3C38-BADD5AB4BC7D}"/>
              </a:ext>
            </a:extLst>
          </p:cNvPr>
          <p:cNvSpPr/>
          <p:nvPr/>
        </p:nvSpPr>
        <p:spPr bwMode="auto">
          <a:xfrm rot="10800000">
            <a:off x="7523816" y="6663555"/>
            <a:ext cx="132570" cy="14400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13" name="Título 5">
            <a:extLst>
              <a:ext uri="{FF2B5EF4-FFF2-40B4-BE49-F238E27FC236}">
                <a16:creationId xmlns:a16="http://schemas.microsoft.com/office/drawing/2014/main" id="{1F019B85-FA49-4C57-77F9-57349778F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48" y="104471"/>
            <a:ext cx="11569700" cy="895630"/>
          </a:xfrm>
        </p:spPr>
        <p:txBody>
          <a:bodyPr/>
          <a:lstStyle/>
          <a:p>
            <a:r>
              <a:rPr lang="es-AR" sz="2000" dirty="0" err="1"/>
              <a:t>Tregar</a:t>
            </a:r>
            <a:r>
              <a:rPr lang="es-AR" sz="2000" b="0" dirty="0"/>
              <a:t> pierde consideración y compra UM en esta nueva medición y se refleja en los más jóvenes. </a:t>
            </a:r>
            <a:r>
              <a:rPr lang="es-AR" sz="2000" dirty="0"/>
              <a:t>Tonadita</a:t>
            </a:r>
            <a:r>
              <a:rPr lang="es-AR" sz="2000" b="0" dirty="0"/>
              <a:t> debilitándose en </a:t>
            </a:r>
            <a:r>
              <a:rPr lang="es-AR" sz="2000" b="0" dirty="0" err="1"/>
              <a:t>Amba</a:t>
            </a:r>
            <a:endParaRPr lang="es-AR" sz="1800" b="0" dirty="0"/>
          </a:p>
        </p:txBody>
      </p:sp>
      <p:pic>
        <p:nvPicPr>
          <p:cNvPr id="11" name="Imagen 10" descr="Imagen que contiene dibujo, alimentos, señal, cd&#10;&#10;Descripción generada automáticamente">
            <a:extLst>
              <a:ext uri="{FF2B5EF4-FFF2-40B4-BE49-F238E27FC236}">
                <a16:creationId xmlns:a16="http://schemas.microsoft.com/office/drawing/2014/main" id="{79E87B99-6B70-1093-55EE-11CE3EA5AA2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9698" y="3796512"/>
            <a:ext cx="836931" cy="495853"/>
          </a:xfrm>
          <a:prstGeom prst="rect">
            <a:avLst/>
          </a:prstGeom>
        </p:spPr>
      </p:pic>
      <p:graphicFrame>
        <p:nvGraphicFramePr>
          <p:cNvPr id="9" name="__FUNNEL_Ilolay_WAVE_DEMOS">
            <a:extLst>
              <a:ext uri="{FF2B5EF4-FFF2-40B4-BE49-F238E27FC236}">
                <a16:creationId xmlns:a16="http://schemas.microsoft.com/office/drawing/2014/main" id="{2219FB6C-8C51-EEC4-ACAC-F77DA85783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416017"/>
              </p:ext>
            </p:extLst>
          </p:nvPr>
        </p:nvGraphicFramePr>
        <p:xfrm>
          <a:off x="609894" y="2507024"/>
          <a:ext cx="10312408" cy="1228768"/>
        </p:xfrm>
        <a:graphic>
          <a:graphicData uri="http://schemas.openxmlformats.org/drawingml/2006/table">
            <a:tbl>
              <a:tblPr/>
              <a:tblGrid>
                <a:gridCol w="1962568">
                  <a:extLst>
                    <a:ext uri="{9D8B030D-6E8A-4147-A177-3AD203B41FA5}">
                      <a16:colId xmlns:a16="http://schemas.microsoft.com/office/drawing/2014/main" val="261892667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17290670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104031611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93648311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705669026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460329413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88468122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137710207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4142908299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458276489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956102942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857707019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278821844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40938873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42996812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1019017582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729884498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632601608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445958431"/>
                    </a:ext>
                  </a:extLst>
                </a:gridCol>
              </a:tblGrid>
              <a:tr h="3071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5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7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9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15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16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17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479078"/>
                  </a:ext>
                </a:extLst>
              </a:tr>
              <a:tr h="3071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NombreColumna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039672"/>
                  </a:ext>
                </a:extLst>
              </a:tr>
              <a:tr h="20479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CONSIDER</a:t>
                      </a:r>
                      <a:endParaRPr lang="es-AR" sz="800" b="1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55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66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5970263"/>
                  </a:ext>
                </a:extLst>
              </a:tr>
              <a:tr h="20479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ULTIMO MES</a:t>
                      </a:r>
                      <a:endParaRPr lang="es-AR" sz="800" b="1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34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34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770549"/>
                  </a:ext>
                </a:extLst>
              </a:tr>
              <a:tr h="20479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Mas Frecuente</a:t>
                      </a:r>
                      <a:endParaRPr lang="es-AR" sz="800" b="1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006923"/>
                  </a:ext>
                </a:extLst>
              </a:tr>
            </a:tbl>
          </a:graphicData>
        </a:graphic>
      </p:graphicFrame>
      <p:graphicFrame>
        <p:nvGraphicFramePr>
          <p:cNvPr id="10" name="__FUNNEL_Milkaut_WAVE_DEMOS">
            <a:extLst>
              <a:ext uri="{FF2B5EF4-FFF2-40B4-BE49-F238E27FC236}">
                <a16:creationId xmlns:a16="http://schemas.microsoft.com/office/drawing/2014/main" id="{0470AF6F-D091-1403-45B8-6E9AFF2DFB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281962"/>
              </p:ext>
            </p:extLst>
          </p:nvPr>
        </p:nvGraphicFramePr>
        <p:xfrm>
          <a:off x="617918" y="3553195"/>
          <a:ext cx="10312408" cy="1228768"/>
        </p:xfrm>
        <a:graphic>
          <a:graphicData uri="http://schemas.openxmlformats.org/drawingml/2006/table">
            <a:tbl>
              <a:tblPr/>
              <a:tblGrid>
                <a:gridCol w="1962568">
                  <a:extLst>
                    <a:ext uri="{9D8B030D-6E8A-4147-A177-3AD203B41FA5}">
                      <a16:colId xmlns:a16="http://schemas.microsoft.com/office/drawing/2014/main" val="261892667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17290670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104031611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93648311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705669026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460329413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88468122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137710207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4142908299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458276489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956102942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857707019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278821844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40938873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42996812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1019017582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729884498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632601608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445958431"/>
                    </a:ext>
                  </a:extLst>
                </a:gridCol>
              </a:tblGrid>
              <a:tr h="3071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5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7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9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15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16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17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479078"/>
                  </a:ext>
                </a:extLst>
              </a:tr>
              <a:tr h="3071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NombreColumna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039672"/>
                  </a:ext>
                </a:extLst>
              </a:tr>
              <a:tr h="20479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CONSIDER</a:t>
                      </a:r>
                      <a:endParaRPr lang="es-AR" sz="800" b="1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57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60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5970263"/>
                  </a:ext>
                </a:extLst>
              </a:tr>
              <a:tr h="20479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ULTIMO MES</a:t>
                      </a:r>
                      <a:endParaRPr lang="es-AR" sz="800" b="1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31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30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770549"/>
                  </a:ext>
                </a:extLst>
              </a:tr>
              <a:tr h="20479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Mas Frecuente</a:t>
                      </a:r>
                      <a:endParaRPr lang="es-AR" sz="800" b="1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0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0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006923"/>
                  </a:ext>
                </a:extLst>
              </a:tr>
            </a:tbl>
          </a:graphicData>
        </a:graphic>
      </p:graphicFrame>
      <p:graphicFrame>
        <p:nvGraphicFramePr>
          <p:cNvPr id="12" name="__FUNNEL_MP_WAVE_DEMOS">
            <a:extLst>
              <a:ext uri="{FF2B5EF4-FFF2-40B4-BE49-F238E27FC236}">
                <a16:creationId xmlns:a16="http://schemas.microsoft.com/office/drawing/2014/main" id="{6804DB69-4B7F-ACF3-F47B-1F013832B8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402986"/>
              </p:ext>
            </p:extLst>
          </p:nvPr>
        </p:nvGraphicFramePr>
        <p:xfrm>
          <a:off x="619064" y="4654375"/>
          <a:ext cx="10312408" cy="1228768"/>
        </p:xfrm>
        <a:graphic>
          <a:graphicData uri="http://schemas.openxmlformats.org/drawingml/2006/table">
            <a:tbl>
              <a:tblPr/>
              <a:tblGrid>
                <a:gridCol w="1962568">
                  <a:extLst>
                    <a:ext uri="{9D8B030D-6E8A-4147-A177-3AD203B41FA5}">
                      <a16:colId xmlns:a16="http://schemas.microsoft.com/office/drawing/2014/main" val="261892667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17290670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104031611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93648311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705669026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460329413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88468122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137710207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4142908299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458276489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956102942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857707019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278821844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340938873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429968120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1019017582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729884498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632601608"/>
                    </a:ext>
                  </a:extLst>
                </a:gridCol>
                <a:gridCol w="463880">
                  <a:extLst>
                    <a:ext uri="{9D8B030D-6E8A-4147-A177-3AD203B41FA5}">
                      <a16:colId xmlns:a16="http://schemas.microsoft.com/office/drawing/2014/main" val="2445958431"/>
                    </a:ext>
                  </a:extLst>
                </a:gridCol>
              </a:tblGrid>
              <a:tr h="3071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5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7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9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15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16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17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479078"/>
                  </a:ext>
                </a:extLst>
              </a:tr>
              <a:tr h="3071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NombreColumna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039672"/>
                  </a:ext>
                </a:extLst>
              </a:tr>
              <a:tr h="20479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CONSIDER</a:t>
                      </a:r>
                      <a:endParaRPr lang="es-AR" sz="800" b="1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46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50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50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5970263"/>
                  </a:ext>
                </a:extLst>
              </a:tr>
              <a:tr h="20479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ULTIMO MES</a:t>
                      </a:r>
                      <a:endParaRPr lang="es-AR" sz="800" b="1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43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39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770549"/>
                  </a:ext>
                </a:extLst>
              </a:tr>
              <a:tr h="20479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Mas Frecuente</a:t>
                      </a:r>
                      <a:endParaRPr lang="es-AR" sz="800" b="1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006923"/>
                  </a:ext>
                </a:extLst>
              </a:tr>
            </a:tbl>
          </a:graphicData>
        </a:graphic>
      </p:graphicFrame>
      <p:pic>
        <p:nvPicPr>
          <p:cNvPr id="15" name="Imagen 14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0EB73994-DC5D-F966-7D04-6FA63E87E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138" y="2643407"/>
            <a:ext cx="929889" cy="449111"/>
          </a:xfrm>
          <a:prstGeom prst="rect">
            <a:avLst/>
          </a:prstGeom>
        </p:spPr>
      </p:pic>
      <p:pic>
        <p:nvPicPr>
          <p:cNvPr id="19" name="Imagen 18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592EB05E-9FF9-4118-96FE-E9C722EEE9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138" y="1362111"/>
            <a:ext cx="937195" cy="72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879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__BIA_LASTWAVE">
            <a:extLst>
              <a:ext uri="{FF2B5EF4-FFF2-40B4-BE49-F238E27FC236}">
                <a16:creationId xmlns:a16="http://schemas.microsoft.com/office/drawing/2014/main" id="{9A0CE776-D2E9-E4CC-926A-DDEC559727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5349259"/>
              </p:ext>
            </p:extLst>
          </p:nvPr>
        </p:nvGraphicFramePr>
        <p:xfrm>
          <a:off x="936171" y="928817"/>
          <a:ext cx="10297886" cy="53946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1835AB6E-AA0B-CD1C-0B6E-F79566430E36}"/>
              </a:ext>
            </a:extLst>
          </p:cNvPr>
          <p:cNvSpPr txBox="1"/>
          <p:nvPr/>
        </p:nvSpPr>
        <p:spPr>
          <a:xfrm>
            <a:off x="332217" y="6523668"/>
            <a:ext cx="5544616" cy="41549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>
            <a:defPPr>
              <a:defRPr lang="fr-FR"/>
            </a:defPPr>
            <a:lvl1pPr>
              <a:defRPr sz="1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s-AR" dirty="0"/>
              <a:t>BIA. </a:t>
            </a:r>
            <a:r>
              <a:rPr lang="es-ES" dirty="0"/>
              <a:t>¿Qué marcas asocias a cada frase? </a:t>
            </a:r>
            <a:endParaRPr lang="es-AR" dirty="0"/>
          </a:p>
        </p:txBody>
      </p:sp>
      <p:sp>
        <p:nvSpPr>
          <p:cNvPr id="4" name="Espace réservé du numéro de diapositive 23">
            <a:extLst>
              <a:ext uri="{FF2B5EF4-FFF2-40B4-BE49-F238E27FC236}">
                <a16:creationId xmlns:a16="http://schemas.microsoft.com/office/drawing/2014/main" id="{ED3A9950-1E15-96AD-56B4-8A14A22AA616}"/>
              </a:ext>
            </a:extLst>
          </p:cNvPr>
          <p:cNvSpPr txBox="1">
            <a:spLocks/>
          </p:cNvSpPr>
          <p:nvPr/>
        </p:nvSpPr>
        <p:spPr>
          <a:xfrm>
            <a:off x="202866" y="6229538"/>
            <a:ext cx="360037" cy="37246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1AABEC-672F-4B68-B914-690DA978312C}" type="slidenum">
              <a:rPr lang="en-GB" sz="1100" smtClean="0"/>
              <a:pPr/>
              <a:t>11</a:t>
            </a:fld>
            <a:r>
              <a:rPr lang="en-GB" sz="1100"/>
              <a:t> ‒ </a:t>
            </a:r>
            <a:endParaRPr lang="en-GB" sz="1100" dirty="0"/>
          </a:p>
        </p:txBody>
      </p:sp>
      <p:sp>
        <p:nvSpPr>
          <p:cNvPr id="6" name="TitleTextScale3-1">
            <a:extLst>
              <a:ext uri="{FF2B5EF4-FFF2-40B4-BE49-F238E27FC236}">
                <a16:creationId xmlns:a16="http://schemas.microsoft.com/office/drawing/2014/main" id="{4C39628C-3B23-1026-99FE-F6AD043F9ABE}"/>
              </a:ext>
            </a:extLst>
          </p:cNvPr>
          <p:cNvSpPr>
            <a:spLocks/>
          </p:cNvSpPr>
          <p:nvPr/>
        </p:nvSpPr>
        <p:spPr bwMode="white">
          <a:xfrm>
            <a:off x="10658007" y="6600612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pPr defTabSz="914400">
              <a:defRPr sz="1000" b="0" dirty="0"/>
            </a:pPr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Base Total: 300 casos</a:t>
            </a:r>
          </a:p>
        </p:txBody>
      </p:sp>
      <p:sp>
        <p:nvSpPr>
          <p:cNvPr id="5" name="Título 9">
            <a:extLst>
              <a:ext uri="{FF2B5EF4-FFF2-40B4-BE49-F238E27FC236}">
                <a16:creationId xmlns:a16="http://schemas.microsoft.com/office/drawing/2014/main" id="{71AF9516-96E4-9ED6-091D-761021D4532A}"/>
              </a:ext>
            </a:extLst>
          </p:cNvPr>
          <p:cNvSpPr txBox="1">
            <a:spLocks/>
          </p:cNvSpPr>
          <p:nvPr/>
        </p:nvSpPr>
        <p:spPr>
          <a:xfrm rot="16200000">
            <a:off x="-1107782" y="3271901"/>
            <a:ext cx="288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16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IMAGEN DE MARCA</a:t>
            </a:r>
            <a:endParaRPr kumimoji="0" lang="es-AR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entury Gothic" panose="020B0502020202020204" pitchFamily="34" charset="0"/>
              <a:ea typeface="+mj-ea"/>
              <a:cs typeface="+mj-cs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F21FFB4-6894-F301-755B-56A4E691A4C0}"/>
              </a:ext>
            </a:extLst>
          </p:cNvPr>
          <p:cNvSpPr/>
          <p:nvPr/>
        </p:nvSpPr>
        <p:spPr>
          <a:xfrm>
            <a:off x="10627420" y="1229693"/>
            <a:ext cx="1533993" cy="344774"/>
          </a:xfrm>
          <a:prstGeom prst="rect">
            <a:avLst/>
          </a:prstGeom>
          <a:solidFill>
            <a:srgbClr val="4525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lang="es-AR" sz="1600" b="1" dirty="0">
                <a:solidFill>
                  <a:schemeClr val="bg1"/>
                </a:solidFill>
              </a:rPr>
              <a:t>Ola 2 - 2024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2EABE62-918E-DAC5-6174-F4C99C95CCBF}"/>
              </a:ext>
            </a:extLst>
          </p:cNvPr>
          <p:cNvSpPr txBox="1"/>
          <p:nvPr/>
        </p:nvSpPr>
        <p:spPr>
          <a:xfrm>
            <a:off x="81620" y="152955"/>
            <a:ext cx="119401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AR" sz="2000" b="1" i="0" u="none" strike="noStrike" kern="1200" cap="all" spc="12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LS</a:t>
            </a:r>
            <a:r>
              <a:rPr kumimoji="0" lang="es-AR" sz="2000" b="0" i="0" u="none" strike="noStrike" kern="1200" cap="all" spc="12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 </a:t>
            </a:r>
            <a:r>
              <a:rPr kumimoji="0" lang="es-AR" sz="2000" b="0" i="0" u="none" strike="noStrike" kern="1200" spc="12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es percibida por los consumidores por </a:t>
            </a:r>
            <a:r>
              <a:rPr kumimoji="0" lang="es-AR" sz="2000" b="0" i="0" u="none" strike="noStrike" kern="1200" spc="120" normalizeH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sus bondades funcionales, calidad, confianza, disponibilidad, variedad…</a:t>
            </a:r>
            <a:endParaRPr kumimoji="0" lang="es-AR" sz="2000" b="0" i="0" u="none" strike="noStrike" kern="1200" cap="all" spc="120" normalizeH="0" baseline="0" noProof="0" dirty="0">
              <a:ln>
                <a:noFill/>
              </a:ln>
              <a:effectLst/>
              <a:uLnTx/>
              <a:uFillTx/>
              <a:ea typeface="+mj-ea"/>
              <a:cs typeface="+mj-cs"/>
            </a:endParaRPr>
          </a:p>
        </p:txBody>
      </p:sp>
      <p:pic>
        <p:nvPicPr>
          <p:cNvPr id="8" name="Imagen 7" descr="Imagen que contiene firmar, dibujo, alimentos, palo&#10;&#10;Descripción generada automáticamente">
            <a:extLst>
              <a:ext uri="{FF2B5EF4-FFF2-40B4-BE49-F238E27FC236}">
                <a16:creationId xmlns:a16="http://schemas.microsoft.com/office/drawing/2014/main" id="{AC0AAE9B-469F-CEF7-1A07-FAF3FB45E05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72833" y="1473478"/>
            <a:ext cx="504000" cy="201977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F98B5DC-3560-8BFB-BD4B-703ECE31F32A}"/>
              </a:ext>
            </a:extLst>
          </p:cNvPr>
          <p:cNvSpPr txBox="1"/>
          <p:nvPr/>
        </p:nvSpPr>
        <p:spPr>
          <a:xfrm>
            <a:off x="562903" y="6157133"/>
            <a:ext cx="3921266" cy="166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es-AR" sz="1050" dirty="0"/>
              <a:t>*** Atributos agregados en OLA 2</a:t>
            </a:r>
          </a:p>
        </p:txBody>
      </p:sp>
      <p:pic>
        <p:nvPicPr>
          <p:cNvPr id="13" name="Imagen 12" descr="Imagen que contiene firmar, dibujo, alimentos, palo&#10;&#10;Descripción generada automáticamente">
            <a:extLst>
              <a:ext uri="{FF2B5EF4-FFF2-40B4-BE49-F238E27FC236}">
                <a16:creationId xmlns:a16="http://schemas.microsoft.com/office/drawing/2014/main" id="{3D0238AB-A0D7-4529-3905-1BD1BC6A7D2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675455"/>
            <a:ext cx="504000" cy="201977"/>
          </a:xfrm>
          <a:prstGeom prst="rect">
            <a:avLst/>
          </a:prstGeom>
        </p:spPr>
      </p:pic>
      <p:pic>
        <p:nvPicPr>
          <p:cNvPr id="14" name="Imagen 13" descr="Imagen que contiene firmar, dibujo, alimentos, palo&#10;&#10;Descripción generada automáticamente">
            <a:extLst>
              <a:ext uri="{FF2B5EF4-FFF2-40B4-BE49-F238E27FC236}">
                <a16:creationId xmlns:a16="http://schemas.microsoft.com/office/drawing/2014/main" id="{4F25630A-205D-7F47-8B57-9E02205FFB9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5600" y="1993900"/>
            <a:ext cx="504000" cy="201977"/>
          </a:xfrm>
          <a:prstGeom prst="rect">
            <a:avLst/>
          </a:prstGeom>
        </p:spPr>
      </p:pic>
      <p:pic>
        <p:nvPicPr>
          <p:cNvPr id="15" name="Imagen 14" descr="Imagen que contiene firmar, dibujo, alimentos, palo&#10;&#10;Descripción generada automáticamente">
            <a:extLst>
              <a:ext uri="{FF2B5EF4-FFF2-40B4-BE49-F238E27FC236}">
                <a16:creationId xmlns:a16="http://schemas.microsoft.com/office/drawing/2014/main" id="{193B5FA5-1C08-71F6-3542-8E7331A2D94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56640" y="2498556"/>
            <a:ext cx="504000" cy="201977"/>
          </a:xfrm>
          <a:prstGeom prst="rect">
            <a:avLst/>
          </a:prstGeom>
        </p:spPr>
      </p:pic>
      <p:pic>
        <p:nvPicPr>
          <p:cNvPr id="16" name="Imagen 15" descr="Imagen que contiene firmar, dibujo, alimentos, palo&#10;&#10;Descripción generada automáticamente">
            <a:extLst>
              <a:ext uri="{FF2B5EF4-FFF2-40B4-BE49-F238E27FC236}">
                <a16:creationId xmlns:a16="http://schemas.microsoft.com/office/drawing/2014/main" id="{3852A9B5-79E5-B334-C8D3-E94D16EFC38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08640" y="3191554"/>
            <a:ext cx="504000" cy="201977"/>
          </a:xfrm>
          <a:prstGeom prst="rect">
            <a:avLst/>
          </a:prstGeom>
        </p:spPr>
      </p:pic>
      <p:pic>
        <p:nvPicPr>
          <p:cNvPr id="17" name="Imagen 16" descr="Imagen que contiene firmar, dibujo, alimentos, palo&#10;&#10;Descripción generada automáticamente">
            <a:extLst>
              <a:ext uri="{FF2B5EF4-FFF2-40B4-BE49-F238E27FC236}">
                <a16:creationId xmlns:a16="http://schemas.microsoft.com/office/drawing/2014/main" id="{00425346-362F-8A7C-F434-95CFB003BD1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08640" y="3908251"/>
            <a:ext cx="504000" cy="201977"/>
          </a:xfrm>
          <a:prstGeom prst="rect">
            <a:avLst/>
          </a:prstGeom>
        </p:spPr>
      </p:pic>
      <p:pic>
        <p:nvPicPr>
          <p:cNvPr id="18" name="Imagen 17" descr="Icono&#10;&#10;Descripción generada automáticamente">
            <a:extLst>
              <a:ext uri="{FF2B5EF4-FFF2-40B4-BE49-F238E27FC236}">
                <a16:creationId xmlns:a16="http://schemas.microsoft.com/office/drawing/2014/main" id="{B96AFB52-EA76-D18F-8D7F-308088C4C38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42" y="5441192"/>
            <a:ext cx="352800" cy="252000"/>
          </a:xfrm>
          <a:prstGeom prst="rect">
            <a:avLst/>
          </a:prstGeom>
        </p:spPr>
      </p:pic>
      <p:pic>
        <p:nvPicPr>
          <p:cNvPr id="19" name="Imagen 18" descr="Imagen que contiene dibujo, alimentos, señal, cd&#10;&#10;Descripción generada automáticamente">
            <a:extLst>
              <a:ext uri="{FF2B5EF4-FFF2-40B4-BE49-F238E27FC236}">
                <a16:creationId xmlns:a16="http://schemas.microsoft.com/office/drawing/2014/main" id="{67E02D42-4FCA-58CC-3647-D29EB6B06F4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1701" y="5411434"/>
            <a:ext cx="425341" cy="252000"/>
          </a:xfrm>
          <a:prstGeom prst="rect">
            <a:avLst/>
          </a:prstGeom>
        </p:spPr>
      </p:pic>
      <p:pic>
        <p:nvPicPr>
          <p:cNvPr id="20" name="Imagen 19" descr="Icono&#10;&#10;Descripción generada automáticamente">
            <a:extLst>
              <a:ext uri="{FF2B5EF4-FFF2-40B4-BE49-F238E27FC236}">
                <a16:creationId xmlns:a16="http://schemas.microsoft.com/office/drawing/2014/main" id="{D8BC2B12-E95C-8343-C7ED-249693E8A54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2240" y="4498948"/>
            <a:ext cx="352800" cy="252000"/>
          </a:xfrm>
          <a:prstGeom prst="rect">
            <a:avLst/>
          </a:prstGeom>
        </p:spPr>
      </p:pic>
      <p:pic>
        <p:nvPicPr>
          <p:cNvPr id="21" name="Imagen 20" descr="Icono&#10;&#10;Descripción generada automáticamente">
            <a:extLst>
              <a:ext uri="{FF2B5EF4-FFF2-40B4-BE49-F238E27FC236}">
                <a16:creationId xmlns:a16="http://schemas.microsoft.com/office/drawing/2014/main" id="{C8359909-D712-71C8-6160-6C349DA260A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4194" y="2694043"/>
            <a:ext cx="352800" cy="252000"/>
          </a:xfrm>
          <a:prstGeom prst="rect">
            <a:avLst/>
          </a:prstGeom>
        </p:spPr>
      </p:pic>
      <p:pic>
        <p:nvPicPr>
          <p:cNvPr id="22" name="Imagen 21" descr="Icono&#10;&#10;Descripción generada automáticamente">
            <a:extLst>
              <a:ext uri="{FF2B5EF4-FFF2-40B4-BE49-F238E27FC236}">
                <a16:creationId xmlns:a16="http://schemas.microsoft.com/office/drawing/2014/main" id="{DD288780-B2EF-BB68-0085-DD23BC700F5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7200" y="1851536"/>
            <a:ext cx="352800" cy="252000"/>
          </a:xfrm>
          <a:prstGeom prst="rect">
            <a:avLst/>
          </a:prstGeom>
        </p:spPr>
      </p:pic>
      <p:pic>
        <p:nvPicPr>
          <p:cNvPr id="23" name="Imagen 22" descr="Icono&#10;&#10;Descripción generada automáticamente">
            <a:extLst>
              <a:ext uri="{FF2B5EF4-FFF2-40B4-BE49-F238E27FC236}">
                <a16:creationId xmlns:a16="http://schemas.microsoft.com/office/drawing/2014/main" id="{83230A89-910D-66F2-D8A2-0AD37D246BE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8564" y="4525311"/>
            <a:ext cx="352800" cy="252000"/>
          </a:xfrm>
          <a:prstGeom prst="rect">
            <a:avLst/>
          </a:prstGeom>
        </p:spPr>
      </p:pic>
      <p:pic>
        <p:nvPicPr>
          <p:cNvPr id="24" name="Imagen 23" descr="Imagen que contiene dibujo, alimentos, señal, cd&#10;&#10;Descripción generada automáticamente">
            <a:extLst>
              <a:ext uri="{FF2B5EF4-FFF2-40B4-BE49-F238E27FC236}">
                <a16:creationId xmlns:a16="http://schemas.microsoft.com/office/drawing/2014/main" id="{4A26516F-F3D0-A15A-D5E2-145CDB50C947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3223" y="4495553"/>
            <a:ext cx="425341" cy="252000"/>
          </a:xfrm>
          <a:prstGeom prst="rect">
            <a:avLst/>
          </a:prstGeom>
        </p:spPr>
      </p:pic>
      <p:pic>
        <p:nvPicPr>
          <p:cNvPr id="25" name="Imagen 24" descr="Un dibujo de una cara feliz&#10;&#10;Descripción generada automáticamente con confianza baja">
            <a:extLst>
              <a:ext uri="{FF2B5EF4-FFF2-40B4-BE49-F238E27FC236}">
                <a16:creationId xmlns:a16="http://schemas.microsoft.com/office/drawing/2014/main" id="{E706E0A1-6097-141F-FEE4-CB131A5DAE7B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718" y="4391231"/>
            <a:ext cx="432000" cy="208643"/>
          </a:xfrm>
          <a:prstGeom prst="rect">
            <a:avLst/>
          </a:prstGeom>
        </p:spPr>
      </p:pic>
      <p:pic>
        <p:nvPicPr>
          <p:cNvPr id="26" name="Imagen 25" descr="Un dibujo de una cara feliz&#10;&#10;Descripción generada automáticamente con confianza baja">
            <a:extLst>
              <a:ext uri="{FF2B5EF4-FFF2-40B4-BE49-F238E27FC236}">
                <a16:creationId xmlns:a16="http://schemas.microsoft.com/office/drawing/2014/main" id="{D3C10A27-3B45-2C85-5196-E964AB822669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0640" y="2790444"/>
            <a:ext cx="432000" cy="20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978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5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6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7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8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9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4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5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6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7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8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9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Chart bld="series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__BIA_LASTWAVE_INT">
            <a:extLst>
              <a:ext uri="{FF2B5EF4-FFF2-40B4-BE49-F238E27FC236}">
                <a16:creationId xmlns:a16="http://schemas.microsoft.com/office/drawing/2014/main" id="{4F19A9B3-D19E-685F-9FEA-2279879E9F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5298948"/>
              </p:ext>
            </p:extLst>
          </p:nvPr>
        </p:nvGraphicFramePr>
        <p:xfrm>
          <a:off x="1023257" y="894010"/>
          <a:ext cx="10297886" cy="53946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54FBB1A6-69CA-FB22-D37F-060D7E196D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745" y="5835738"/>
            <a:ext cx="3670110" cy="975445"/>
          </a:xfrm>
          <a:prstGeom prst="rect">
            <a:avLst/>
          </a:prstGeom>
        </p:spPr>
      </p:pic>
      <p:sp>
        <p:nvSpPr>
          <p:cNvPr id="5" name="Título 9">
            <a:extLst>
              <a:ext uri="{FF2B5EF4-FFF2-40B4-BE49-F238E27FC236}">
                <a16:creationId xmlns:a16="http://schemas.microsoft.com/office/drawing/2014/main" id="{F7292461-A541-CF35-9EED-09D2F09839B4}"/>
              </a:ext>
            </a:extLst>
          </p:cNvPr>
          <p:cNvSpPr txBox="1">
            <a:spLocks/>
          </p:cNvSpPr>
          <p:nvPr/>
        </p:nvSpPr>
        <p:spPr>
          <a:xfrm rot="16200000">
            <a:off x="-1107782" y="3271901"/>
            <a:ext cx="288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16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IMAGEN DE MARCA</a:t>
            </a:r>
            <a:endParaRPr kumimoji="0" lang="es-AR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entury Gothic" panose="020B0502020202020204" pitchFamily="34" charset="0"/>
              <a:ea typeface="+mj-ea"/>
              <a:cs typeface="+mj-cs"/>
            </a:endParaRPr>
          </a:p>
        </p:txBody>
      </p:sp>
      <p:pic>
        <p:nvPicPr>
          <p:cNvPr id="6" name="Imagen 5" descr="Imagen que contiene firmar, dibujo, alimentos, palo&#10;&#10;Descripción generada automáticamente">
            <a:extLst>
              <a:ext uri="{FF2B5EF4-FFF2-40B4-BE49-F238E27FC236}">
                <a16:creationId xmlns:a16="http://schemas.microsoft.com/office/drawing/2014/main" id="{2A1CCC95-E3CE-14E5-E070-6577099AA97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66762" y="0"/>
            <a:ext cx="1440869" cy="57742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06654B5-D8E5-E021-06B3-436B9B3F6F26}"/>
              </a:ext>
            </a:extLst>
          </p:cNvPr>
          <p:cNvSpPr txBox="1"/>
          <p:nvPr/>
        </p:nvSpPr>
        <p:spPr>
          <a:xfrm>
            <a:off x="-26484" y="68363"/>
            <a:ext cx="56108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AR" sz="2000" b="1" i="0" u="none" strike="noStrike" kern="1200" cap="all" spc="12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Evolutivo de la imagen de Marca de</a:t>
            </a:r>
            <a:endParaRPr kumimoji="0" lang="es-AR" sz="2000" b="0" i="0" u="none" strike="noStrike" kern="1200" cap="all" spc="120" normalizeH="0" baseline="0" noProof="0" dirty="0">
              <a:ln>
                <a:noFill/>
              </a:ln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8" name="Estrella: 5 puntas 7">
            <a:extLst>
              <a:ext uri="{FF2B5EF4-FFF2-40B4-BE49-F238E27FC236}">
                <a16:creationId xmlns:a16="http://schemas.microsoft.com/office/drawing/2014/main" id="{BA669E21-953B-0577-66D9-8B9B607999C8}"/>
              </a:ext>
            </a:extLst>
          </p:cNvPr>
          <p:cNvSpPr/>
          <p:nvPr/>
        </p:nvSpPr>
        <p:spPr>
          <a:xfrm>
            <a:off x="9644743" y="3646716"/>
            <a:ext cx="252000" cy="252000"/>
          </a:xfrm>
          <a:prstGeom prst="star5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endParaRPr lang="es-AR" sz="1200" dirty="0">
              <a:solidFill>
                <a:schemeClr val="tx1"/>
              </a:solidFill>
            </a:endParaRPr>
          </a:p>
        </p:txBody>
      </p:sp>
      <p:sp>
        <p:nvSpPr>
          <p:cNvPr id="9" name="Estrella: 5 puntas 8">
            <a:extLst>
              <a:ext uri="{FF2B5EF4-FFF2-40B4-BE49-F238E27FC236}">
                <a16:creationId xmlns:a16="http://schemas.microsoft.com/office/drawing/2014/main" id="{EB2208E1-91D2-6949-1922-6E7FF0AC7015}"/>
              </a:ext>
            </a:extLst>
          </p:cNvPr>
          <p:cNvSpPr/>
          <p:nvPr/>
        </p:nvSpPr>
        <p:spPr>
          <a:xfrm>
            <a:off x="1436915" y="5072745"/>
            <a:ext cx="252000" cy="252000"/>
          </a:xfrm>
          <a:prstGeom prst="star5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endParaRPr lang="es-AR" sz="1200" dirty="0">
              <a:solidFill>
                <a:schemeClr val="tx1"/>
              </a:solidFill>
            </a:endParaRPr>
          </a:p>
        </p:txBody>
      </p:sp>
      <p:sp>
        <p:nvSpPr>
          <p:cNvPr id="10" name="Estrella: 5 puntas 9">
            <a:extLst>
              <a:ext uri="{FF2B5EF4-FFF2-40B4-BE49-F238E27FC236}">
                <a16:creationId xmlns:a16="http://schemas.microsoft.com/office/drawing/2014/main" id="{16E2D05F-FB2F-1E48-3A67-933C7C953344}"/>
              </a:ext>
            </a:extLst>
          </p:cNvPr>
          <p:cNvSpPr/>
          <p:nvPr/>
        </p:nvSpPr>
        <p:spPr>
          <a:xfrm>
            <a:off x="2416631" y="1208316"/>
            <a:ext cx="252000" cy="252000"/>
          </a:xfrm>
          <a:prstGeom prst="star5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endParaRPr lang="es-AR" sz="1200" dirty="0">
              <a:solidFill>
                <a:schemeClr val="tx1"/>
              </a:solidFill>
            </a:endParaRPr>
          </a:p>
        </p:txBody>
      </p:sp>
      <p:sp>
        <p:nvSpPr>
          <p:cNvPr id="11" name="Estrella: 5 puntas 10">
            <a:extLst>
              <a:ext uri="{FF2B5EF4-FFF2-40B4-BE49-F238E27FC236}">
                <a16:creationId xmlns:a16="http://schemas.microsoft.com/office/drawing/2014/main" id="{69411682-E2D9-0FCC-B43E-CEBBB8048F5B}"/>
              </a:ext>
            </a:extLst>
          </p:cNvPr>
          <p:cNvSpPr/>
          <p:nvPr/>
        </p:nvSpPr>
        <p:spPr>
          <a:xfrm>
            <a:off x="8926286" y="6290802"/>
            <a:ext cx="566057" cy="391886"/>
          </a:xfrm>
          <a:prstGeom prst="star5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endParaRPr lang="es-AR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5736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5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6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7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8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9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4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5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6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7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8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9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Chart bld="series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__BIA_LASTWAVE_AMBA">
            <a:extLst>
              <a:ext uri="{FF2B5EF4-FFF2-40B4-BE49-F238E27FC236}">
                <a16:creationId xmlns:a16="http://schemas.microsoft.com/office/drawing/2014/main" id="{9A0CE776-D2E9-E4CC-926A-DDEC559727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0131659"/>
              </p:ext>
            </p:extLst>
          </p:nvPr>
        </p:nvGraphicFramePr>
        <p:xfrm>
          <a:off x="318977" y="1247318"/>
          <a:ext cx="11483163" cy="5014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1835AB6E-AA0B-CD1C-0B6E-F79566430E36}"/>
              </a:ext>
            </a:extLst>
          </p:cNvPr>
          <p:cNvSpPr txBox="1"/>
          <p:nvPr/>
        </p:nvSpPr>
        <p:spPr>
          <a:xfrm>
            <a:off x="6757772" y="6240297"/>
            <a:ext cx="5544616" cy="41549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>
            <a:defPPr>
              <a:defRPr lang="fr-FR"/>
            </a:defPPr>
            <a:lvl1pPr>
              <a:defRPr sz="1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s-AR" dirty="0"/>
              <a:t>BIA. </a:t>
            </a:r>
            <a:r>
              <a:rPr lang="es-ES" dirty="0"/>
              <a:t>¿Qué marcas asocias a cada frase? </a:t>
            </a:r>
            <a:endParaRPr lang="es-AR" dirty="0"/>
          </a:p>
        </p:txBody>
      </p:sp>
      <p:sp>
        <p:nvSpPr>
          <p:cNvPr id="4" name="Espace réservé du numéro de diapositive 23">
            <a:extLst>
              <a:ext uri="{FF2B5EF4-FFF2-40B4-BE49-F238E27FC236}">
                <a16:creationId xmlns:a16="http://schemas.microsoft.com/office/drawing/2014/main" id="{ED3A9950-1E15-96AD-56B4-8A14A22AA616}"/>
              </a:ext>
            </a:extLst>
          </p:cNvPr>
          <p:cNvSpPr txBox="1">
            <a:spLocks/>
          </p:cNvSpPr>
          <p:nvPr/>
        </p:nvSpPr>
        <p:spPr>
          <a:xfrm>
            <a:off x="202866" y="6229538"/>
            <a:ext cx="360037" cy="37246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1AABEC-672F-4B68-B914-690DA978312C}" type="slidenum">
              <a:rPr lang="en-GB" sz="1100" smtClean="0"/>
              <a:pPr/>
              <a:t>13</a:t>
            </a:fld>
            <a:r>
              <a:rPr lang="en-GB" sz="1100"/>
              <a:t> ‒ </a:t>
            </a:r>
            <a:endParaRPr lang="en-GB" sz="1100" dirty="0"/>
          </a:p>
        </p:txBody>
      </p:sp>
      <p:sp>
        <p:nvSpPr>
          <p:cNvPr id="6" name="TitleTextScale3-1">
            <a:extLst>
              <a:ext uri="{FF2B5EF4-FFF2-40B4-BE49-F238E27FC236}">
                <a16:creationId xmlns:a16="http://schemas.microsoft.com/office/drawing/2014/main" id="{4C39628C-3B23-1026-99FE-F6AD043F9ABE}"/>
              </a:ext>
            </a:extLst>
          </p:cNvPr>
          <p:cNvSpPr>
            <a:spLocks/>
          </p:cNvSpPr>
          <p:nvPr/>
        </p:nvSpPr>
        <p:spPr bwMode="white">
          <a:xfrm>
            <a:off x="9719712" y="6339002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pPr defTabSz="914400">
              <a:defRPr sz="1000" b="0" dirty="0"/>
            </a:pPr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Base Total: 300 casos</a:t>
            </a:r>
          </a:p>
        </p:txBody>
      </p:sp>
      <p:sp>
        <p:nvSpPr>
          <p:cNvPr id="5" name="Título 9">
            <a:extLst>
              <a:ext uri="{FF2B5EF4-FFF2-40B4-BE49-F238E27FC236}">
                <a16:creationId xmlns:a16="http://schemas.microsoft.com/office/drawing/2014/main" id="{71AF9516-96E4-9ED6-091D-761021D4532A}"/>
              </a:ext>
            </a:extLst>
          </p:cNvPr>
          <p:cNvSpPr txBox="1">
            <a:spLocks/>
          </p:cNvSpPr>
          <p:nvPr/>
        </p:nvSpPr>
        <p:spPr>
          <a:xfrm rot="16200000">
            <a:off x="-1107782" y="3271901"/>
            <a:ext cx="288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16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IMAGEN DE MARCA</a:t>
            </a:r>
            <a:endParaRPr kumimoji="0" lang="es-AR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entury Gothic" panose="020B0502020202020204" pitchFamily="34" charset="0"/>
              <a:ea typeface="+mj-ea"/>
              <a:cs typeface="+mj-cs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4837617-C60B-3F6B-61A7-463A1DA1A59A}"/>
              </a:ext>
            </a:extLst>
          </p:cNvPr>
          <p:cNvSpPr txBox="1"/>
          <p:nvPr/>
        </p:nvSpPr>
        <p:spPr>
          <a:xfrm>
            <a:off x="0" y="105140"/>
            <a:ext cx="113250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000" spc="120" dirty="0">
                <a:ea typeface="+mj-ea"/>
                <a:cs typeface="+mj-cs"/>
              </a:rPr>
              <a:t>Si bien tiene una imagen de marca similar a nivel regiones, en </a:t>
            </a:r>
            <a:r>
              <a:rPr lang="es-AR" sz="2000" spc="120" dirty="0" err="1">
                <a:ea typeface="+mj-ea"/>
                <a:cs typeface="+mj-cs"/>
              </a:rPr>
              <a:t>Amba</a:t>
            </a:r>
            <a:r>
              <a:rPr lang="es-AR" sz="2000" spc="120" dirty="0">
                <a:ea typeface="+mj-ea"/>
                <a:cs typeface="+mj-cs"/>
              </a:rPr>
              <a:t> se percibe levemente más como una marca trayectoria, disponible y con mayor identificación con el consumidor</a:t>
            </a:r>
            <a:endParaRPr kumimoji="0" lang="es-AR" sz="2000" i="0" u="none" strike="noStrike" kern="1200" spc="120" normalizeH="0" baseline="0" noProof="0" dirty="0">
              <a:ln>
                <a:noFill/>
              </a:ln>
              <a:effectLst/>
              <a:uLnTx/>
              <a:uFillTx/>
              <a:ea typeface="+mj-ea"/>
              <a:cs typeface="+mj-cs"/>
            </a:endParaRPr>
          </a:p>
        </p:txBody>
      </p:sp>
      <p:pic>
        <p:nvPicPr>
          <p:cNvPr id="2" name="Imagen 1" descr="Imagen que contiene firmar, dibujo, alimentos, palo&#10;&#10;Descripción generada automáticamente">
            <a:extLst>
              <a:ext uri="{FF2B5EF4-FFF2-40B4-BE49-F238E27FC236}">
                <a16:creationId xmlns:a16="http://schemas.microsoft.com/office/drawing/2014/main" id="{3392C174-3FB6-40C3-20A6-13D965DAF4E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1516" y="3582006"/>
            <a:ext cx="1050243" cy="420883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FA9FE9D5-0431-D301-E3AF-AEAB338A0D37}"/>
              </a:ext>
            </a:extLst>
          </p:cNvPr>
          <p:cNvSpPr/>
          <p:nvPr/>
        </p:nvSpPr>
        <p:spPr>
          <a:xfrm>
            <a:off x="10658007" y="944380"/>
            <a:ext cx="1533993" cy="344774"/>
          </a:xfrm>
          <a:prstGeom prst="rect">
            <a:avLst/>
          </a:prstGeom>
          <a:solidFill>
            <a:srgbClr val="4525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lang="es-AR" sz="1600" b="1" dirty="0">
                <a:solidFill>
                  <a:schemeClr val="bg1"/>
                </a:solidFill>
              </a:rPr>
              <a:t>Ola 2 - 2024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E68B190-8DDB-2FCB-264F-9D86E1C18ED4}"/>
              </a:ext>
            </a:extLst>
          </p:cNvPr>
          <p:cNvSpPr txBox="1"/>
          <p:nvPr/>
        </p:nvSpPr>
        <p:spPr>
          <a:xfrm>
            <a:off x="562903" y="6157133"/>
            <a:ext cx="3921266" cy="166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es-AR" sz="1050" dirty="0"/>
              <a:t>*** Atributos agregados en OLA 2</a:t>
            </a:r>
          </a:p>
        </p:txBody>
      </p:sp>
    </p:spTree>
    <p:extLst>
      <p:ext uri="{BB962C8B-B14F-4D97-AF65-F5344CB8AC3E}">
        <p14:creationId xmlns:p14="http://schemas.microsoft.com/office/powerpoint/2010/main" val="3442349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DC1C9-BD81-685C-05F4-91AFFBD3B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__BIA_LS_LASTWAVE_INT">
            <a:extLst>
              <a:ext uri="{FF2B5EF4-FFF2-40B4-BE49-F238E27FC236}">
                <a16:creationId xmlns:a16="http://schemas.microsoft.com/office/drawing/2014/main" id="{DADEC5B9-D47A-FEA3-D134-7DFAFA3B7A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788893"/>
              </p:ext>
            </p:extLst>
          </p:nvPr>
        </p:nvGraphicFramePr>
        <p:xfrm>
          <a:off x="318977" y="1247318"/>
          <a:ext cx="11483163" cy="5014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5AC29251-0A02-3830-7AEE-32A305EE0A74}"/>
              </a:ext>
            </a:extLst>
          </p:cNvPr>
          <p:cNvSpPr txBox="1"/>
          <p:nvPr/>
        </p:nvSpPr>
        <p:spPr>
          <a:xfrm>
            <a:off x="6757772" y="6240297"/>
            <a:ext cx="5544616" cy="41549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>
            <a:defPPr>
              <a:defRPr lang="fr-FR"/>
            </a:defPPr>
            <a:lvl1pPr>
              <a:defRPr sz="1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s-AR" dirty="0"/>
              <a:t>BIA. </a:t>
            </a:r>
            <a:r>
              <a:rPr lang="es-ES" dirty="0"/>
              <a:t>¿Qué marcas asocias a cada frase? </a:t>
            </a:r>
            <a:endParaRPr lang="es-AR" dirty="0"/>
          </a:p>
        </p:txBody>
      </p:sp>
      <p:sp>
        <p:nvSpPr>
          <p:cNvPr id="4" name="Espace réservé du numéro de diapositive 23">
            <a:extLst>
              <a:ext uri="{FF2B5EF4-FFF2-40B4-BE49-F238E27FC236}">
                <a16:creationId xmlns:a16="http://schemas.microsoft.com/office/drawing/2014/main" id="{3DF35CC6-D13A-D062-AB4D-FA7C7745683A}"/>
              </a:ext>
            </a:extLst>
          </p:cNvPr>
          <p:cNvSpPr txBox="1">
            <a:spLocks/>
          </p:cNvSpPr>
          <p:nvPr/>
        </p:nvSpPr>
        <p:spPr>
          <a:xfrm>
            <a:off x="202866" y="6229538"/>
            <a:ext cx="360037" cy="37246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1AABEC-672F-4B68-B914-690DA978312C}" type="slidenum">
              <a:rPr lang="en-GB" sz="1100" smtClean="0"/>
              <a:pPr/>
              <a:t>14</a:t>
            </a:fld>
            <a:r>
              <a:rPr lang="en-GB" sz="1100"/>
              <a:t> ‒ </a:t>
            </a:r>
            <a:endParaRPr lang="en-GB" sz="1100" dirty="0"/>
          </a:p>
        </p:txBody>
      </p:sp>
      <p:sp>
        <p:nvSpPr>
          <p:cNvPr id="6" name="TitleTextScale3-1">
            <a:extLst>
              <a:ext uri="{FF2B5EF4-FFF2-40B4-BE49-F238E27FC236}">
                <a16:creationId xmlns:a16="http://schemas.microsoft.com/office/drawing/2014/main" id="{611BD2DC-BAFB-EF4C-3FC1-828838F3DE30}"/>
              </a:ext>
            </a:extLst>
          </p:cNvPr>
          <p:cNvSpPr>
            <a:spLocks/>
          </p:cNvSpPr>
          <p:nvPr/>
        </p:nvSpPr>
        <p:spPr bwMode="white">
          <a:xfrm>
            <a:off x="9719712" y="6339002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pPr defTabSz="914400">
              <a:defRPr sz="1000" b="0" dirty="0"/>
            </a:pPr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Base Total: 300 casos</a:t>
            </a:r>
          </a:p>
        </p:txBody>
      </p:sp>
      <p:sp>
        <p:nvSpPr>
          <p:cNvPr id="5" name="Título 9">
            <a:extLst>
              <a:ext uri="{FF2B5EF4-FFF2-40B4-BE49-F238E27FC236}">
                <a16:creationId xmlns:a16="http://schemas.microsoft.com/office/drawing/2014/main" id="{45D19496-04BC-CC77-6A37-9C34A46F5F40}"/>
              </a:ext>
            </a:extLst>
          </p:cNvPr>
          <p:cNvSpPr txBox="1">
            <a:spLocks/>
          </p:cNvSpPr>
          <p:nvPr/>
        </p:nvSpPr>
        <p:spPr>
          <a:xfrm rot="16200000">
            <a:off x="-1107782" y="3271901"/>
            <a:ext cx="288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16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IMAGEN DE MARCA</a:t>
            </a:r>
            <a:endParaRPr kumimoji="0" lang="es-AR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entury Gothic" panose="020B0502020202020204" pitchFamily="34" charset="0"/>
              <a:ea typeface="+mj-ea"/>
              <a:cs typeface="+mj-cs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119652E-35D8-D5AB-A695-00C0B1E804DA}"/>
              </a:ext>
            </a:extLst>
          </p:cNvPr>
          <p:cNvSpPr txBox="1"/>
          <p:nvPr/>
        </p:nvSpPr>
        <p:spPr>
          <a:xfrm>
            <a:off x="0" y="105140"/>
            <a:ext cx="113250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000" spc="120" dirty="0">
                <a:ea typeface="+mj-ea"/>
                <a:cs typeface="+mj-cs"/>
              </a:rPr>
              <a:t>Si bien tiene una imagen de marca similar a nivel regiones, en </a:t>
            </a:r>
            <a:r>
              <a:rPr lang="es-AR" sz="2000" spc="120" dirty="0" err="1">
                <a:ea typeface="+mj-ea"/>
                <a:cs typeface="+mj-cs"/>
              </a:rPr>
              <a:t>Amba</a:t>
            </a:r>
            <a:r>
              <a:rPr lang="es-AR" sz="2000" spc="120" dirty="0">
                <a:ea typeface="+mj-ea"/>
                <a:cs typeface="+mj-cs"/>
              </a:rPr>
              <a:t> se percibe levemente más como una marca trayectoria, disponible y con mayor identificación con el consumidor</a:t>
            </a:r>
            <a:endParaRPr kumimoji="0" lang="es-AR" sz="2000" i="0" u="none" strike="noStrike" kern="1200" spc="120" normalizeH="0" baseline="0" noProof="0" dirty="0">
              <a:ln>
                <a:noFill/>
              </a:ln>
              <a:effectLst/>
              <a:uLnTx/>
              <a:uFillTx/>
              <a:ea typeface="+mj-ea"/>
              <a:cs typeface="+mj-cs"/>
            </a:endParaRPr>
          </a:p>
        </p:txBody>
      </p:sp>
      <p:pic>
        <p:nvPicPr>
          <p:cNvPr id="2" name="Imagen 1" descr="Imagen que contiene firmar, dibujo, alimentos, palo&#10;&#10;Descripción generada automáticamente">
            <a:extLst>
              <a:ext uri="{FF2B5EF4-FFF2-40B4-BE49-F238E27FC236}">
                <a16:creationId xmlns:a16="http://schemas.microsoft.com/office/drawing/2014/main" id="{72040081-BF48-ABD2-84D1-E2490DDE827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1516" y="3582006"/>
            <a:ext cx="1050243" cy="420883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44DBFDC7-1514-DBAB-F1F0-26A0C3B0BAE6}"/>
              </a:ext>
            </a:extLst>
          </p:cNvPr>
          <p:cNvSpPr/>
          <p:nvPr/>
        </p:nvSpPr>
        <p:spPr>
          <a:xfrm>
            <a:off x="10658007" y="944380"/>
            <a:ext cx="1533993" cy="344774"/>
          </a:xfrm>
          <a:prstGeom prst="rect">
            <a:avLst/>
          </a:prstGeom>
          <a:solidFill>
            <a:srgbClr val="4525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lang="es-AR" sz="1600" b="1" dirty="0">
                <a:solidFill>
                  <a:schemeClr val="bg1"/>
                </a:solidFill>
              </a:rPr>
              <a:t>Ola 2 - 2024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4DD33A9-1BBF-CAD5-CDDA-D314ADCA60D5}"/>
              </a:ext>
            </a:extLst>
          </p:cNvPr>
          <p:cNvSpPr txBox="1"/>
          <p:nvPr/>
        </p:nvSpPr>
        <p:spPr>
          <a:xfrm>
            <a:off x="562903" y="6157133"/>
            <a:ext cx="3921266" cy="166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es-AR" sz="1050" dirty="0"/>
              <a:t>*** Atributos agregados en OLA 2</a:t>
            </a:r>
          </a:p>
        </p:txBody>
      </p:sp>
    </p:spTree>
    <p:extLst>
      <p:ext uri="{BB962C8B-B14F-4D97-AF65-F5344CB8AC3E}">
        <p14:creationId xmlns:p14="http://schemas.microsoft.com/office/powerpoint/2010/main" val="838817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07422-6C33-EA8B-6542-5F1BA4EB4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__BIA_LS_LASTWAVE_AMBA">
            <a:extLst>
              <a:ext uri="{FF2B5EF4-FFF2-40B4-BE49-F238E27FC236}">
                <a16:creationId xmlns:a16="http://schemas.microsoft.com/office/drawing/2014/main" id="{9FA53B21-581D-86E0-D616-8804D3EE53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4830516"/>
              </p:ext>
            </p:extLst>
          </p:nvPr>
        </p:nvGraphicFramePr>
        <p:xfrm>
          <a:off x="318977" y="1247318"/>
          <a:ext cx="11483163" cy="5014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5AE0180D-5FE7-FCD0-9668-3D641555E423}"/>
              </a:ext>
            </a:extLst>
          </p:cNvPr>
          <p:cNvSpPr txBox="1"/>
          <p:nvPr/>
        </p:nvSpPr>
        <p:spPr>
          <a:xfrm>
            <a:off x="6757772" y="6240297"/>
            <a:ext cx="5544616" cy="41549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>
            <a:defPPr>
              <a:defRPr lang="fr-FR"/>
            </a:defPPr>
            <a:lvl1pPr>
              <a:defRPr sz="1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s-AR" dirty="0"/>
              <a:t>BIA. </a:t>
            </a:r>
            <a:r>
              <a:rPr lang="es-ES" dirty="0"/>
              <a:t>¿Qué marcas asocias a cada frase? </a:t>
            </a:r>
            <a:endParaRPr lang="es-AR" dirty="0"/>
          </a:p>
        </p:txBody>
      </p:sp>
      <p:sp>
        <p:nvSpPr>
          <p:cNvPr id="4" name="Espace réservé du numéro de diapositive 23">
            <a:extLst>
              <a:ext uri="{FF2B5EF4-FFF2-40B4-BE49-F238E27FC236}">
                <a16:creationId xmlns:a16="http://schemas.microsoft.com/office/drawing/2014/main" id="{7D465633-C5C7-28D8-CC77-B62067D5DE5B}"/>
              </a:ext>
            </a:extLst>
          </p:cNvPr>
          <p:cNvSpPr txBox="1">
            <a:spLocks/>
          </p:cNvSpPr>
          <p:nvPr/>
        </p:nvSpPr>
        <p:spPr>
          <a:xfrm>
            <a:off x="202866" y="6229538"/>
            <a:ext cx="360037" cy="37246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1AABEC-672F-4B68-B914-690DA978312C}" type="slidenum">
              <a:rPr lang="en-GB" sz="1100" smtClean="0"/>
              <a:pPr/>
              <a:t>15</a:t>
            </a:fld>
            <a:r>
              <a:rPr lang="en-GB" sz="1100"/>
              <a:t> ‒ </a:t>
            </a:r>
            <a:endParaRPr lang="en-GB" sz="1100" dirty="0"/>
          </a:p>
        </p:txBody>
      </p:sp>
      <p:sp>
        <p:nvSpPr>
          <p:cNvPr id="6" name="TitleTextScale3-1">
            <a:extLst>
              <a:ext uri="{FF2B5EF4-FFF2-40B4-BE49-F238E27FC236}">
                <a16:creationId xmlns:a16="http://schemas.microsoft.com/office/drawing/2014/main" id="{603A3C57-B8A8-C830-0F62-2112F3853AAF}"/>
              </a:ext>
            </a:extLst>
          </p:cNvPr>
          <p:cNvSpPr>
            <a:spLocks/>
          </p:cNvSpPr>
          <p:nvPr/>
        </p:nvSpPr>
        <p:spPr bwMode="white">
          <a:xfrm>
            <a:off x="9719712" y="6339002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pPr defTabSz="914400">
              <a:defRPr sz="1000" b="0" dirty="0"/>
            </a:pPr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Base Total: 300 casos</a:t>
            </a:r>
          </a:p>
        </p:txBody>
      </p:sp>
      <p:sp>
        <p:nvSpPr>
          <p:cNvPr id="5" name="Título 9">
            <a:extLst>
              <a:ext uri="{FF2B5EF4-FFF2-40B4-BE49-F238E27FC236}">
                <a16:creationId xmlns:a16="http://schemas.microsoft.com/office/drawing/2014/main" id="{5E69EA30-891C-D7F7-E10C-744BB4077E73}"/>
              </a:ext>
            </a:extLst>
          </p:cNvPr>
          <p:cNvSpPr txBox="1">
            <a:spLocks/>
          </p:cNvSpPr>
          <p:nvPr/>
        </p:nvSpPr>
        <p:spPr>
          <a:xfrm rot="16200000">
            <a:off x="-1107782" y="3271901"/>
            <a:ext cx="288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16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IMAGEN DE MARCA</a:t>
            </a:r>
            <a:endParaRPr kumimoji="0" lang="es-AR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entury Gothic" panose="020B0502020202020204" pitchFamily="34" charset="0"/>
              <a:ea typeface="+mj-ea"/>
              <a:cs typeface="+mj-cs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F28976D-FBB0-6E08-9832-834924140D97}"/>
              </a:ext>
            </a:extLst>
          </p:cNvPr>
          <p:cNvSpPr txBox="1"/>
          <p:nvPr/>
        </p:nvSpPr>
        <p:spPr>
          <a:xfrm>
            <a:off x="0" y="105140"/>
            <a:ext cx="113250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000" spc="120" dirty="0">
                <a:ea typeface="+mj-ea"/>
                <a:cs typeface="+mj-cs"/>
              </a:rPr>
              <a:t>Si bien tiene una imagen de marca similar a nivel regiones, en </a:t>
            </a:r>
            <a:r>
              <a:rPr lang="es-AR" sz="2000" spc="120" dirty="0" err="1">
                <a:ea typeface="+mj-ea"/>
                <a:cs typeface="+mj-cs"/>
              </a:rPr>
              <a:t>Amba</a:t>
            </a:r>
            <a:r>
              <a:rPr lang="es-AR" sz="2000" spc="120" dirty="0">
                <a:ea typeface="+mj-ea"/>
                <a:cs typeface="+mj-cs"/>
              </a:rPr>
              <a:t> se percibe levemente más como una marca trayectoria, disponible y con mayor identificación con el consumidor</a:t>
            </a:r>
            <a:endParaRPr kumimoji="0" lang="es-AR" sz="2000" i="0" u="none" strike="noStrike" kern="1200" spc="120" normalizeH="0" baseline="0" noProof="0" dirty="0">
              <a:ln>
                <a:noFill/>
              </a:ln>
              <a:effectLst/>
              <a:uLnTx/>
              <a:uFillTx/>
              <a:ea typeface="+mj-ea"/>
              <a:cs typeface="+mj-cs"/>
            </a:endParaRPr>
          </a:p>
        </p:txBody>
      </p:sp>
      <p:pic>
        <p:nvPicPr>
          <p:cNvPr id="2" name="Imagen 1" descr="Imagen que contiene firmar, dibujo, alimentos, palo&#10;&#10;Descripción generada automáticamente">
            <a:extLst>
              <a:ext uri="{FF2B5EF4-FFF2-40B4-BE49-F238E27FC236}">
                <a16:creationId xmlns:a16="http://schemas.microsoft.com/office/drawing/2014/main" id="{C2EF7915-59D5-6934-99B7-E8A2F5E0231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1516" y="3582006"/>
            <a:ext cx="1050243" cy="420883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80E6FBE0-1AD0-DF0D-18ED-C1E04925273B}"/>
              </a:ext>
            </a:extLst>
          </p:cNvPr>
          <p:cNvSpPr/>
          <p:nvPr/>
        </p:nvSpPr>
        <p:spPr>
          <a:xfrm>
            <a:off x="10658007" y="944380"/>
            <a:ext cx="1533993" cy="344774"/>
          </a:xfrm>
          <a:prstGeom prst="rect">
            <a:avLst/>
          </a:prstGeom>
          <a:solidFill>
            <a:srgbClr val="4525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lang="es-AR" sz="1600" b="1" dirty="0">
                <a:solidFill>
                  <a:schemeClr val="bg1"/>
                </a:solidFill>
              </a:rPr>
              <a:t>Ola 2 - 2024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2B2BDF7-7375-E100-F4A6-A6EC7379506D}"/>
              </a:ext>
            </a:extLst>
          </p:cNvPr>
          <p:cNvSpPr txBox="1"/>
          <p:nvPr/>
        </p:nvSpPr>
        <p:spPr>
          <a:xfrm>
            <a:off x="562903" y="6157133"/>
            <a:ext cx="3921266" cy="166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es-AR" sz="1050" dirty="0"/>
              <a:t>*** Atributos agregados en OLA 2</a:t>
            </a:r>
          </a:p>
        </p:txBody>
      </p:sp>
    </p:spTree>
    <p:extLst>
      <p:ext uri="{BB962C8B-B14F-4D97-AF65-F5344CB8AC3E}">
        <p14:creationId xmlns:p14="http://schemas.microsoft.com/office/powerpoint/2010/main" val="1433712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9DC5C-3D95-3152-1D9A-17353F6DB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__BIA_CREMON_LASTWAVE_AMBA">
            <a:extLst>
              <a:ext uri="{FF2B5EF4-FFF2-40B4-BE49-F238E27FC236}">
                <a16:creationId xmlns:a16="http://schemas.microsoft.com/office/drawing/2014/main" id="{ADB75B85-63B0-E090-902F-FD32906F54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5375414"/>
              </p:ext>
            </p:extLst>
          </p:nvPr>
        </p:nvGraphicFramePr>
        <p:xfrm>
          <a:off x="318977" y="1247318"/>
          <a:ext cx="11483163" cy="5014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88A86A10-A479-FEAB-D6E8-4F040B07DBB6}"/>
              </a:ext>
            </a:extLst>
          </p:cNvPr>
          <p:cNvSpPr txBox="1"/>
          <p:nvPr/>
        </p:nvSpPr>
        <p:spPr>
          <a:xfrm>
            <a:off x="6757772" y="6240297"/>
            <a:ext cx="5544616" cy="41549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>
            <a:defPPr>
              <a:defRPr lang="fr-FR"/>
            </a:defPPr>
            <a:lvl1pPr>
              <a:defRPr sz="1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s-AR" dirty="0"/>
              <a:t>BIA. </a:t>
            </a:r>
            <a:r>
              <a:rPr lang="es-ES" dirty="0"/>
              <a:t>¿Qué marcas asocias a cada frase? </a:t>
            </a:r>
            <a:endParaRPr lang="es-AR" dirty="0"/>
          </a:p>
        </p:txBody>
      </p:sp>
      <p:sp>
        <p:nvSpPr>
          <p:cNvPr id="4" name="Espace réservé du numéro de diapositive 23">
            <a:extLst>
              <a:ext uri="{FF2B5EF4-FFF2-40B4-BE49-F238E27FC236}">
                <a16:creationId xmlns:a16="http://schemas.microsoft.com/office/drawing/2014/main" id="{F26C65D0-3ED8-FCE5-80E5-E5B591F70FFF}"/>
              </a:ext>
            </a:extLst>
          </p:cNvPr>
          <p:cNvSpPr txBox="1">
            <a:spLocks/>
          </p:cNvSpPr>
          <p:nvPr/>
        </p:nvSpPr>
        <p:spPr>
          <a:xfrm>
            <a:off x="202866" y="6229538"/>
            <a:ext cx="360037" cy="37246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1AABEC-672F-4B68-B914-690DA978312C}" type="slidenum">
              <a:rPr lang="en-GB" sz="1100" smtClean="0"/>
              <a:pPr/>
              <a:t>16</a:t>
            </a:fld>
            <a:r>
              <a:rPr lang="en-GB" sz="1100"/>
              <a:t> ‒ </a:t>
            </a:r>
            <a:endParaRPr lang="en-GB" sz="1100" dirty="0"/>
          </a:p>
        </p:txBody>
      </p:sp>
      <p:sp>
        <p:nvSpPr>
          <p:cNvPr id="6" name="TitleTextScale3-1">
            <a:extLst>
              <a:ext uri="{FF2B5EF4-FFF2-40B4-BE49-F238E27FC236}">
                <a16:creationId xmlns:a16="http://schemas.microsoft.com/office/drawing/2014/main" id="{57E88107-D3CF-6053-FB03-1F670E8DE300}"/>
              </a:ext>
            </a:extLst>
          </p:cNvPr>
          <p:cNvSpPr>
            <a:spLocks/>
          </p:cNvSpPr>
          <p:nvPr/>
        </p:nvSpPr>
        <p:spPr bwMode="white">
          <a:xfrm>
            <a:off x="9719712" y="6339002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pPr defTabSz="914400">
              <a:defRPr sz="1000" b="0" dirty="0"/>
            </a:pPr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Base Total: 300 casos</a:t>
            </a:r>
          </a:p>
        </p:txBody>
      </p:sp>
      <p:sp>
        <p:nvSpPr>
          <p:cNvPr id="5" name="Título 9">
            <a:extLst>
              <a:ext uri="{FF2B5EF4-FFF2-40B4-BE49-F238E27FC236}">
                <a16:creationId xmlns:a16="http://schemas.microsoft.com/office/drawing/2014/main" id="{85DA5546-C4BF-3A95-220F-50DC82910818}"/>
              </a:ext>
            </a:extLst>
          </p:cNvPr>
          <p:cNvSpPr txBox="1">
            <a:spLocks/>
          </p:cNvSpPr>
          <p:nvPr/>
        </p:nvSpPr>
        <p:spPr>
          <a:xfrm rot="16200000">
            <a:off x="-1107782" y="3271901"/>
            <a:ext cx="288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16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IMAGEN DE MARCA</a:t>
            </a:r>
            <a:endParaRPr kumimoji="0" lang="es-AR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entury Gothic" panose="020B0502020202020204" pitchFamily="34" charset="0"/>
              <a:ea typeface="+mj-ea"/>
              <a:cs typeface="+mj-cs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0822815E-45AA-456D-9478-2C74164DF66C}"/>
              </a:ext>
            </a:extLst>
          </p:cNvPr>
          <p:cNvSpPr txBox="1"/>
          <p:nvPr/>
        </p:nvSpPr>
        <p:spPr>
          <a:xfrm>
            <a:off x="0" y="105140"/>
            <a:ext cx="113250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000" spc="120" dirty="0">
                <a:ea typeface="+mj-ea"/>
                <a:cs typeface="+mj-cs"/>
              </a:rPr>
              <a:t>Si bien tiene una imagen de marca similar a nivel regiones, en </a:t>
            </a:r>
            <a:r>
              <a:rPr lang="es-AR" sz="2000" spc="120" dirty="0" err="1">
                <a:ea typeface="+mj-ea"/>
                <a:cs typeface="+mj-cs"/>
              </a:rPr>
              <a:t>Amba</a:t>
            </a:r>
            <a:r>
              <a:rPr lang="es-AR" sz="2000" spc="120" dirty="0">
                <a:ea typeface="+mj-ea"/>
                <a:cs typeface="+mj-cs"/>
              </a:rPr>
              <a:t> se percibe levemente más como una marca trayectoria, disponible y con mayor identificación con el consumidor</a:t>
            </a:r>
            <a:endParaRPr kumimoji="0" lang="es-AR" sz="2000" i="0" u="none" strike="noStrike" kern="1200" spc="120" normalizeH="0" baseline="0" noProof="0" dirty="0">
              <a:ln>
                <a:noFill/>
              </a:ln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4A1F0E8-45D3-F5C9-2AC2-449E3FAC7F1A}"/>
              </a:ext>
            </a:extLst>
          </p:cNvPr>
          <p:cNvSpPr/>
          <p:nvPr/>
        </p:nvSpPr>
        <p:spPr>
          <a:xfrm>
            <a:off x="10658007" y="944380"/>
            <a:ext cx="1533993" cy="344774"/>
          </a:xfrm>
          <a:prstGeom prst="rect">
            <a:avLst/>
          </a:prstGeom>
          <a:solidFill>
            <a:srgbClr val="4525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lang="es-AR" sz="1600" b="1" dirty="0">
                <a:solidFill>
                  <a:schemeClr val="bg1"/>
                </a:solidFill>
              </a:rPr>
              <a:t>CREMÓN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0EACFBF-66B1-AC52-F41A-B66BEF43F4F5}"/>
              </a:ext>
            </a:extLst>
          </p:cNvPr>
          <p:cNvSpPr txBox="1"/>
          <p:nvPr/>
        </p:nvSpPr>
        <p:spPr>
          <a:xfrm>
            <a:off x="562903" y="6157133"/>
            <a:ext cx="3921266" cy="166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es-AR" sz="1050" dirty="0"/>
              <a:t>*** Atributos agregados en OLA 2</a:t>
            </a:r>
          </a:p>
        </p:txBody>
      </p:sp>
    </p:spTree>
    <p:extLst>
      <p:ext uri="{BB962C8B-B14F-4D97-AF65-F5344CB8AC3E}">
        <p14:creationId xmlns:p14="http://schemas.microsoft.com/office/powerpoint/2010/main" val="2178390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6F4BF-7F63-363F-EB8D-BCBC4E7E8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__BIA_CREMON_LASTWAVE_INT">
            <a:extLst>
              <a:ext uri="{FF2B5EF4-FFF2-40B4-BE49-F238E27FC236}">
                <a16:creationId xmlns:a16="http://schemas.microsoft.com/office/drawing/2014/main" id="{BB288146-6471-6783-5804-75B9962B6F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8034296"/>
              </p:ext>
            </p:extLst>
          </p:nvPr>
        </p:nvGraphicFramePr>
        <p:xfrm>
          <a:off x="318977" y="1247318"/>
          <a:ext cx="11483163" cy="5014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18F80067-74D6-24E8-686A-47552793BBFB}"/>
              </a:ext>
            </a:extLst>
          </p:cNvPr>
          <p:cNvSpPr txBox="1"/>
          <p:nvPr/>
        </p:nvSpPr>
        <p:spPr>
          <a:xfrm>
            <a:off x="6757772" y="6240297"/>
            <a:ext cx="5544616" cy="41549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>
            <a:defPPr>
              <a:defRPr lang="fr-FR"/>
            </a:defPPr>
            <a:lvl1pPr>
              <a:defRPr sz="1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s-AR" dirty="0"/>
              <a:t>BIA. </a:t>
            </a:r>
            <a:r>
              <a:rPr lang="es-ES" dirty="0"/>
              <a:t>¿Qué marcas asocias a cada frase? </a:t>
            </a:r>
            <a:endParaRPr lang="es-AR" dirty="0"/>
          </a:p>
        </p:txBody>
      </p:sp>
      <p:sp>
        <p:nvSpPr>
          <p:cNvPr id="4" name="Espace réservé du numéro de diapositive 23">
            <a:extLst>
              <a:ext uri="{FF2B5EF4-FFF2-40B4-BE49-F238E27FC236}">
                <a16:creationId xmlns:a16="http://schemas.microsoft.com/office/drawing/2014/main" id="{4958D8C1-72F9-10F8-A0AD-EB00D6B2730E}"/>
              </a:ext>
            </a:extLst>
          </p:cNvPr>
          <p:cNvSpPr txBox="1">
            <a:spLocks/>
          </p:cNvSpPr>
          <p:nvPr/>
        </p:nvSpPr>
        <p:spPr>
          <a:xfrm>
            <a:off x="202866" y="6229538"/>
            <a:ext cx="360037" cy="37246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1AABEC-672F-4B68-B914-690DA978312C}" type="slidenum">
              <a:rPr lang="en-GB" sz="1100" smtClean="0"/>
              <a:pPr/>
              <a:t>17</a:t>
            </a:fld>
            <a:r>
              <a:rPr lang="en-GB" sz="1100"/>
              <a:t> ‒ </a:t>
            </a:r>
            <a:endParaRPr lang="en-GB" sz="1100" dirty="0"/>
          </a:p>
        </p:txBody>
      </p:sp>
      <p:sp>
        <p:nvSpPr>
          <p:cNvPr id="6" name="TitleTextScale3-1">
            <a:extLst>
              <a:ext uri="{FF2B5EF4-FFF2-40B4-BE49-F238E27FC236}">
                <a16:creationId xmlns:a16="http://schemas.microsoft.com/office/drawing/2014/main" id="{55B0446F-2347-2BA4-63BC-92AA900120DF}"/>
              </a:ext>
            </a:extLst>
          </p:cNvPr>
          <p:cNvSpPr>
            <a:spLocks/>
          </p:cNvSpPr>
          <p:nvPr/>
        </p:nvSpPr>
        <p:spPr bwMode="white">
          <a:xfrm>
            <a:off x="9719712" y="6339002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pPr defTabSz="914400">
              <a:defRPr sz="1000" b="0" dirty="0"/>
            </a:pPr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Base Total: 300 casos</a:t>
            </a:r>
          </a:p>
        </p:txBody>
      </p:sp>
      <p:sp>
        <p:nvSpPr>
          <p:cNvPr id="5" name="Título 9">
            <a:extLst>
              <a:ext uri="{FF2B5EF4-FFF2-40B4-BE49-F238E27FC236}">
                <a16:creationId xmlns:a16="http://schemas.microsoft.com/office/drawing/2014/main" id="{2E4E4708-9426-85D3-99ED-8533E06406D3}"/>
              </a:ext>
            </a:extLst>
          </p:cNvPr>
          <p:cNvSpPr txBox="1">
            <a:spLocks/>
          </p:cNvSpPr>
          <p:nvPr/>
        </p:nvSpPr>
        <p:spPr>
          <a:xfrm rot="16200000">
            <a:off x="-1107782" y="3271901"/>
            <a:ext cx="288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16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IMAGEN DE MARCA</a:t>
            </a:r>
            <a:endParaRPr kumimoji="0" lang="es-AR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entury Gothic" panose="020B0502020202020204" pitchFamily="34" charset="0"/>
              <a:ea typeface="+mj-ea"/>
              <a:cs typeface="+mj-cs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0CFB0C27-D400-9EB3-2D91-57F1D3CAC6AA}"/>
              </a:ext>
            </a:extLst>
          </p:cNvPr>
          <p:cNvSpPr txBox="1"/>
          <p:nvPr/>
        </p:nvSpPr>
        <p:spPr>
          <a:xfrm>
            <a:off x="0" y="105140"/>
            <a:ext cx="113250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000" spc="120" dirty="0">
                <a:ea typeface="+mj-ea"/>
                <a:cs typeface="+mj-cs"/>
              </a:rPr>
              <a:t>Si bien tiene una imagen de marca similar a nivel regiones, en </a:t>
            </a:r>
            <a:r>
              <a:rPr lang="es-AR" sz="2000" spc="120" dirty="0" err="1">
                <a:ea typeface="+mj-ea"/>
                <a:cs typeface="+mj-cs"/>
              </a:rPr>
              <a:t>Amba</a:t>
            </a:r>
            <a:r>
              <a:rPr lang="es-AR" sz="2000" spc="120" dirty="0">
                <a:ea typeface="+mj-ea"/>
                <a:cs typeface="+mj-cs"/>
              </a:rPr>
              <a:t> se percibe levemente más como una marca trayectoria, disponible y con mayor identificación con el consumidor</a:t>
            </a:r>
            <a:endParaRPr kumimoji="0" lang="es-AR" sz="2000" i="0" u="none" strike="noStrike" kern="1200" spc="120" normalizeH="0" baseline="0" noProof="0" dirty="0">
              <a:ln>
                <a:noFill/>
              </a:ln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3130854-6D7C-8D41-5DE6-815BE75234A1}"/>
              </a:ext>
            </a:extLst>
          </p:cNvPr>
          <p:cNvSpPr/>
          <p:nvPr/>
        </p:nvSpPr>
        <p:spPr>
          <a:xfrm>
            <a:off x="10658007" y="944380"/>
            <a:ext cx="1533993" cy="344774"/>
          </a:xfrm>
          <a:prstGeom prst="rect">
            <a:avLst/>
          </a:prstGeom>
          <a:solidFill>
            <a:srgbClr val="4525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lang="es-AR" sz="1600" b="1" dirty="0">
                <a:solidFill>
                  <a:schemeClr val="bg1"/>
                </a:solidFill>
              </a:rPr>
              <a:t>CREMÓN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8694D77-630A-630E-2D97-FF43BE0A05FC}"/>
              </a:ext>
            </a:extLst>
          </p:cNvPr>
          <p:cNvSpPr txBox="1"/>
          <p:nvPr/>
        </p:nvSpPr>
        <p:spPr>
          <a:xfrm>
            <a:off x="562903" y="6157133"/>
            <a:ext cx="3921266" cy="166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es-AR" sz="1050" dirty="0"/>
              <a:t>*** Atributos agregados en OLA 2</a:t>
            </a:r>
          </a:p>
        </p:txBody>
      </p:sp>
    </p:spTree>
    <p:extLst>
      <p:ext uri="{BB962C8B-B14F-4D97-AF65-F5344CB8AC3E}">
        <p14:creationId xmlns:p14="http://schemas.microsoft.com/office/powerpoint/2010/main" val="4218902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0D26A-0F7C-1A07-2451-9336462D8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__fun_01">
            <a:extLst>
              <a:ext uri="{FF2B5EF4-FFF2-40B4-BE49-F238E27FC236}">
                <a16:creationId xmlns:a16="http://schemas.microsoft.com/office/drawing/2014/main" id="{6A70EBB7-2A31-FF30-4235-27C6BDE502D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628389" y="584185"/>
            <a:ext cx="838200" cy="914400"/>
          </a:xfrm>
          <a:prstGeom prst="rect">
            <a:avLst/>
          </a:prstGeom>
        </p:spPr>
      </p:pic>
      <p:sp>
        <p:nvSpPr>
          <p:cNvPr id="4" name="Espace réservé du numéro de diapositive 23">
            <a:extLst>
              <a:ext uri="{FF2B5EF4-FFF2-40B4-BE49-F238E27FC236}">
                <a16:creationId xmlns:a16="http://schemas.microsoft.com/office/drawing/2014/main" id="{8EBD9F50-4917-EF46-DDD9-AE6479973291}"/>
              </a:ext>
            </a:extLst>
          </p:cNvPr>
          <p:cNvSpPr txBox="1">
            <a:spLocks/>
          </p:cNvSpPr>
          <p:nvPr/>
        </p:nvSpPr>
        <p:spPr>
          <a:xfrm>
            <a:off x="202866" y="6229538"/>
            <a:ext cx="360037" cy="37246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1AABEC-672F-4B68-B914-690DA978312C}" type="slidenum">
              <a:rPr lang="en-GB" sz="1100" smtClean="0"/>
              <a:pPr/>
              <a:t>18</a:t>
            </a:fld>
            <a:r>
              <a:rPr lang="en-GB" sz="1100"/>
              <a:t> ‒ </a:t>
            </a:r>
            <a:endParaRPr lang="en-GB" sz="1100" dirty="0"/>
          </a:p>
        </p:txBody>
      </p:sp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F409F6B0-8DEC-ED2D-B324-93F21B8511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359468"/>
              </p:ext>
            </p:extLst>
          </p:nvPr>
        </p:nvGraphicFramePr>
        <p:xfrm>
          <a:off x="692633" y="1137465"/>
          <a:ext cx="11034308" cy="4792008"/>
        </p:xfrm>
        <a:graphic>
          <a:graphicData uri="http://schemas.openxmlformats.org/drawingml/2006/table">
            <a:tbl>
              <a:tblPr/>
              <a:tblGrid>
                <a:gridCol w="3733772">
                  <a:extLst>
                    <a:ext uri="{9D8B030D-6E8A-4147-A177-3AD203B41FA5}">
                      <a16:colId xmlns:a16="http://schemas.microsoft.com/office/drawing/2014/main" val="1788776075"/>
                    </a:ext>
                  </a:extLst>
                </a:gridCol>
                <a:gridCol w="608378">
                  <a:extLst>
                    <a:ext uri="{9D8B030D-6E8A-4147-A177-3AD203B41FA5}">
                      <a16:colId xmlns:a16="http://schemas.microsoft.com/office/drawing/2014/main" val="2680040204"/>
                    </a:ext>
                  </a:extLst>
                </a:gridCol>
                <a:gridCol w="608378">
                  <a:extLst>
                    <a:ext uri="{9D8B030D-6E8A-4147-A177-3AD203B41FA5}">
                      <a16:colId xmlns:a16="http://schemas.microsoft.com/office/drawing/2014/main" val="3264529751"/>
                    </a:ext>
                  </a:extLst>
                </a:gridCol>
                <a:gridCol w="608378">
                  <a:extLst>
                    <a:ext uri="{9D8B030D-6E8A-4147-A177-3AD203B41FA5}">
                      <a16:colId xmlns:a16="http://schemas.microsoft.com/office/drawing/2014/main" val="45828971"/>
                    </a:ext>
                  </a:extLst>
                </a:gridCol>
                <a:gridCol w="608378">
                  <a:extLst>
                    <a:ext uri="{9D8B030D-6E8A-4147-A177-3AD203B41FA5}">
                      <a16:colId xmlns:a16="http://schemas.microsoft.com/office/drawing/2014/main" val="3385149976"/>
                    </a:ext>
                  </a:extLst>
                </a:gridCol>
                <a:gridCol w="608378">
                  <a:extLst>
                    <a:ext uri="{9D8B030D-6E8A-4147-A177-3AD203B41FA5}">
                      <a16:colId xmlns:a16="http://schemas.microsoft.com/office/drawing/2014/main" val="1043029551"/>
                    </a:ext>
                  </a:extLst>
                </a:gridCol>
                <a:gridCol w="608378">
                  <a:extLst>
                    <a:ext uri="{9D8B030D-6E8A-4147-A177-3AD203B41FA5}">
                      <a16:colId xmlns:a16="http://schemas.microsoft.com/office/drawing/2014/main" val="3445259704"/>
                    </a:ext>
                  </a:extLst>
                </a:gridCol>
                <a:gridCol w="608378">
                  <a:extLst>
                    <a:ext uri="{9D8B030D-6E8A-4147-A177-3AD203B41FA5}">
                      <a16:colId xmlns:a16="http://schemas.microsoft.com/office/drawing/2014/main" val="4215704997"/>
                    </a:ext>
                  </a:extLst>
                </a:gridCol>
                <a:gridCol w="608378">
                  <a:extLst>
                    <a:ext uri="{9D8B030D-6E8A-4147-A177-3AD203B41FA5}">
                      <a16:colId xmlns:a16="http://schemas.microsoft.com/office/drawing/2014/main" val="1830277778"/>
                    </a:ext>
                  </a:extLst>
                </a:gridCol>
                <a:gridCol w="608378">
                  <a:extLst>
                    <a:ext uri="{9D8B030D-6E8A-4147-A177-3AD203B41FA5}">
                      <a16:colId xmlns:a16="http://schemas.microsoft.com/office/drawing/2014/main" val="2234687143"/>
                    </a:ext>
                  </a:extLst>
                </a:gridCol>
                <a:gridCol w="608378">
                  <a:extLst>
                    <a:ext uri="{9D8B030D-6E8A-4147-A177-3AD203B41FA5}">
                      <a16:colId xmlns:a16="http://schemas.microsoft.com/office/drawing/2014/main" val="196865031"/>
                    </a:ext>
                  </a:extLst>
                </a:gridCol>
                <a:gridCol w="608378">
                  <a:extLst>
                    <a:ext uri="{9D8B030D-6E8A-4147-A177-3AD203B41FA5}">
                      <a16:colId xmlns:a16="http://schemas.microsoft.com/office/drawing/2014/main" val="1483810440"/>
                    </a:ext>
                  </a:extLst>
                </a:gridCol>
                <a:gridCol w="608378">
                  <a:extLst>
                    <a:ext uri="{9D8B030D-6E8A-4147-A177-3AD203B41FA5}">
                      <a16:colId xmlns:a16="http://schemas.microsoft.com/office/drawing/2014/main" val="103065824"/>
                    </a:ext>
                  </a:extLst>
                </a:gridCol>
              </a:tblGrid>
              <a:tr h="17203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AR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58" marR="4758" marT="4758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AR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758" marR="4758" marT="4758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AR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758" marR="4758" marT="4758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AR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758" marR="4758" marT="4758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AR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758" marR="4758" marT="4758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AR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4758" marR="4758" marT="4758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AR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4758" marR="4758" marT="4758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AR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4758" marR="4758" marT="4758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AR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4758" marR="4758" marT="4758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AR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4758" marR="4758" marT="4758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AR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4758" marR="4758" marT="4758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AR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4758" marR="4758" marT="4758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AR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4758" marR="4758" marT="4758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8517955"/>
                  </a:ext>
                </a:extLst>
              </a:tr>
              <a:tr h="1720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nivel2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PDA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PDA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TREGAR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TREGAR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MILKAUT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MILKAUT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CREMON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CREMON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LAPAU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LAPAU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4280669"/>
                  </a:ext>
                </a:extLst>
              </a:tr>
              <a:tr h="1720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NombreColumna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OLA 1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OLA 2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OLA 1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OLA 2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OLA 1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OLA 2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OLA 1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OLA 2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OLA 1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OLA 2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OLA 1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OLA 2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799527"/>
                  </a:ext>
                </a:extLst>
              </a:tr>
              <a:tr h="1720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 una marca tradicional/con trayectoria en el país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1328911"/>
                  </a:ext>
                </a:extLst>
              </a:tr>
              <a:tr h="1720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 una marca que ofrece distintas variedades de productos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551534"/>
                  </a:ext>
                </a:extLst>
              </a:tr>
              <a:tr h="1720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Tiene productos de alta calidad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823337"/>
                  </a:ext>
                </a:extLst>
              </a:tr>
              <a:tr h="1720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 una marca confiable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15572"/>
                  </a:ext>
                </a:extLst>
              </a:tr>
              <a:tr h="1720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 una marca que tiene buena disponibilidad de productos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1577691"/>
                  </a:ext>
                </a:extLst>
              </a:tr>
              <a:tr h="1720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 una marca ideal para toda la familia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43997"/>
                  </a:ext>
                </a:extLst>
              </a:tr>
              <a:tr h="1720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 una marca que me brinda seguridad por su envasado en origen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569103"/>
                  </a:ext>
                </a:extLst>
              </a:tr>
              <a:tr h="1720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 una marca que tiene productos frescos y naturales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736498"/>
                  </a:ext>
                </a:extLst>
              </a:tr>
              <a:tr h="1720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Sus productos son garantía de placer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699711"/>
                  </a:ext>
                </a:extLst>
              </a:tr>
              <a:tr h="1720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Tiene productos que brindan una mejor nutrición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908581"/>
                  </a:ext>
                </a:extLst>
              </a:tr>
              <a:tr h="1720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 una marca auténtica, fiel a su origen y escencia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0833582"/>
                  </a:ext>
                </a:extLst>
              </a:tr>
              <a:tr h="1720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 la marca que garantiza el éxito/las mejores preparaciones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847292"/>
                  </a:ext>
                </a:extLst>
              </a:tr>
              <a:tr h="1720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Tiene muy rico sabor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41683"/>
                  </a:ext>
                </a:extLst>
              </a:tr>
              <a:tr h="1720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 una marca ideal para acompañar otros alimentos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88783"/>
                  </a:ext>
                </a:extLst>
              </a:tr>
              <a:tr h="1720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 una marca innovadora en el lanzamiento de nuevos productos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73125"/>
                  </a:ext>
                </a:extLst>
              </a:tr>
              <a:tr h="1720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 una marca que realza el sabor de mis preparaciones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435967"/>
                  </a:ext>
                </a:extLst>
              </a:tr>
              <a:tr h="319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Sus presentaciones (tamaños y tipos de empaque) se adecuan a mis necesidades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912304"/>
                  </a:ext>
                </a:extLst>
              </a:tr>
              <a:tr h="1720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 una marca experta en quesos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8858628"/>
                  </a:ext>
                </a:extLst>
              </a:tr>
              <a:tr h="1720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 una marca con la textura ideal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79844"/>
                  </a:ext>
                </a:extLst>
              </a:tr>
              <a:tr h="1720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 una marca para mí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2982197"/>
                  </a:ext>
                </a:extLst>
              </a:tr>
              <a:tr h="1720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 una marca contemporánea/actual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4545403"/>
                  </a:ext>
                </a:extLst>
              </a:tr>
              <a:tr h="1720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 una marca amigable/cercana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958184"/>
                  </a:ext>
                </a:extLst>
              </a:tr>
              <a:tr h="1720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Tiene buena relación precio/calidad de producto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8572263"/>
                  </a:ext>
                </a:extLst>
              </a:tr>
              <a:tr h="1720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 honesta y transparente en la forma en que maneja su negocio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58" marR="4758" marT="47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262595"/>
                  </a:ext>
                </a:extLst>
              </a:tr>
            </a:tbl>
          </a:graphicData>
        </a:graphic>
      </p:graphicFrame>
      <p:pic>
        <p:nvPicPr>
          <p:cNvPr id="19" name="__fun_02">
            <a:extLst>
              <a:ext uri="{FF2B5EF4-FFF2-40B4-BE49-F238E27FC236}">
                <a16:creationId xmlns:a16="http://schemas.microsoft.com/office/drawing/2014/main" id="{FB72966B-72A0-FC7C-8E16-70935FC2BC32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796379" y="822549"/>
            <a:ext cx="528656" cy="437672"/>
          </a:xfrm>
          <a:prstGeom prst="rect">
            <a:avLst/>
          </a:prstGeom>
        </p:spPr>
      </p:pic>
      <p:pic>
        <p:nvPicPr>
          <p:cNvPr id="20" name="__fun_08">
            <a:extLst>
              <a:ext uri="{FF2B5EF4-FFF2-40B4-BE49-F238E27FC236}">
                <a16:creationId xmlns:a16="http://schemas.microsoft.com/office/drawing/2014/main" id="{6F6E89E2-390A-33F4-DF0B-D6EC35367F10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5887055" y="649383"/>
            <a:ext cx="645464" cy="661249"/>
          </a:xfrm>
          <a:prstGeom prst="rect">
            <a:avLst/>
          </a:prstGeom>
        </p:spPr>
      </p:pic>
      <p:pic>
        <p:nvPicPr>
          <p:cNvPr id="21" name="__fun_07">
            <a:extLst>
              <a:ext uri="{FF2B5EF4-FFF2-40B4-BE49-F238E27FC236}">
                <a16:creationId xmlns:a16="http://schemas.microsoft.com/office/drawing/2014/main" id="{16F99EDA-35EB-5C6D-0D74-3C0701C3DAEA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7094539" y="743789"/>
            <a:ext cx="645464" cy="472437"/>
          </a:xfrm>
          <a:prstGeom prst="rect">
            <a:avLst/>
          </a:prstGeom>
        </p:spPr>
      </p:pic>
      <p:pic>
        <p:nvPicPr>
          <p:cNvPr id="23" name="__fun_05">
            <a:extLst>
              <a:ext uri="{FF2B5EF4-FFF2-40B4-BE49-F238E27FC236}">
                <a16:creationId xmlns:a16="http://schemas.microsoft.com/office/drawing/2014/main" id="{48A7529D-AB56-429A-A3C9-C67C7C470418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9544127" y="626406"/>
            <a:ext cx="722854" cy="661250"/>
          </a:xfrm>
          <a:prstGeom prst="rect">
            <a:avLst/>
          </a:prstGeom>
        </p:spPr>
      </p:pic>
      <p:pic>
        <p:nvPicPr>
          <p:cNvPr id="24" name="__fun_06">
            <a:extLst>
              <a:ext uri="{FF2B5EF4-FFF2-40B4-BE49-F238E27FC236}">
                <a16:creationId xmlns:a16="http://schemas.microsoft.com/office/drawing/2014/main" id="{C0BEAD2C-2F68-C736-99A6-41C741C2A7FA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224633" y="724478"/>
            <a:ext cx="722854" cy="563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178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7_3qjqHV5WQG8hzlRBnw"/>
</p:tagLst>
</file>

<file path=ppt/theme/theme1.xml><?xml version="1.0" encoding="utf-8"?>
<a:theme xmlns:a="http://schemas.openxmlformats.org/drawingml/2006/main" name="Theme1">
  <a:themeElements>
    <a:clrScheme name="Ipsos_2024_v2">
      <a:dk1>
        <a:srgbClr val="000000"/>
      </a:dk1>
      <a:lt1>
        <a:sysClr val="window" lastClr="FFFFFF"/>
      </a:lt1>
      <a:dk2>
        <a:srgbClr val="1DAFAD"/>
      </a:dk2>
      <a:lt2>
        <a:srgbClr val="103C50"/>
      </a:lt2>
      <a:accent1>
        <a:srgbClr val="121B5A"/>
      </a:accent1>
      <a:accent2>
        <a:srgbClr val="E2DA51"/>
      </a:accent2>
      <a:accent3>
        <a:srgbClr val="FF740F"/>
      </a:accent3>
      <a:accent4>
        <a:srgbClr val="452567"/>
      </a:accent4>
      <a:accent5>
        <a:srgbClr val="E50158"/>
      </a:accent5>
      <a:accent6>
        <a:srgbClr val="9FE5D8"/>
      </a:accent6>
      <a:hlink>
        <a:srgbClr val="2F469C"/>
      </a:hlink>
      <a:folHlink>
        <a:srgbClr val="84329B"/>
      </a:folHlink>
    </a:clrScheme>
    <a:fontScheme name="Ipsos General">
      <a:majorFont>
        <a:latin typeface="Barlow Semi Condensed ExtraBold"/>
        <a:ea typeface=""/>
        <a:cs typeface=""/>
      </a:majorFont>
      <a:minorFont>
        <a:latin typeface="Barl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7EBF0"/>
        </a:solidFill>
        <a:ln>
          <a:noFill/>
        </a:ln>
      </a:spPr>
      <a:bodyPr rtlCol="0" anchor="t"/>
      <a:lstStyle>
        <a:defPPr algn="l">
          <a:lnSpc>
            <a:spcPct val="115000"/>
          </a:lnSpc>
          <a:spcBef>
            <a:spcPts val="400"/>
          </a:spcBef>
          <a:spcAft>
            <a:spcPts val="400"/>
          </a:spcAft>
          <a:defRPr sz="1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15000"/>
          </a:lnSpc>
          <a:spcBef>
            <a:spcPts val="400"/>
          </a:spcBef>
          <a:spcAft>
            <a:spcPts val="400"/>
          </a:spcAft>
          <a:buSzPct val="100000"/>
          <a:defRPr sz="1200" dirty="0" smtClean="0"/>
        </a:defPPr>
      </a:lstStyle>
    </a:txDef>
  </a:objectDefaults>
  <a:extraClrSchemeLst/>
  <a:custClrLst>
    <a:custClr name="Green">
      <a:srgbClr val="2DB574"/>
    </a:custClr>
    <a:custClr name="Sky Blue">
      <a:srgbClr val="A5CEE3"/>
    </a:custClr>
    <a:custClr name="Lilac">
      <a:srgbClr val="E3D8F0"/>
    </a:custClr>
    <a:custClr name="Pastel Pink">
      <a:srgbClr val="FFE1EC"/>
    </a:custClr>
    <a:custClr name="Yellow Meringue">
      <a:srgbClr val="F3F0B9"/>
    </a:custClr>
    <a:custClr name="Delicate Turquoise">
      <a:srgbClr val="9FE5D8"/>
    </a:custClr>
    <a:custClr name=" -- ">
      <a:srgbClr val="FFFFFF"/>
    </a:custClr>
    <a:custClr name="Light Grey">
      <a:srgbClr val="E7EBF0"/>
    </a:custClr>
    <a:custClr name="Mid Grey">
      <a:srgbClr val="585858"/>
    </a:custClr>
  </a:custClrLst>
  <a:extLst>
    <a:ext uri="{05A4C25C-085E-4340-85A3-A5531E510DB2}">
      <thm15:themeFamily xmlns:thm15="http://schemas.microsoft.com/office/thememl/2012/main" name="Ipsos PPT template_general_EN.pptx" id="{90D7D33D-0145-4018-8E43-89B6DA74D6BA}" vid="{FBE148F4-D342-42E7-95AF-9F7FF21E4E3B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rlow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Barlow"/>
        <a:font script="Bugi" typeface="Leelawadee UI"/>
        <a:font script="Bopo" typeface="Microsoft JhengHei"/>
        <a:font script="Java" typeface="Javanese Text"/>
        <a:font script="Lisu" typeface="Barlow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arlow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Barlow"/>
        <a:font script="Hebr" typeface="Barlow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Barlow"/>
        <a:font script="Uigh" typeface="Microsoft Uighur"/>
        <a:font script="Geor" typeface="Sylfaen"/>
        <a:font script="Armn" typeface="Barlow"/>
        <a:font script="Bugi" typeface="Leelawadee UI"/>
        <a:font script="Bopo" typeface="Microsoft JhengHei"/>
        <a:font script="Java" typeface="Javanese Text"/>
        <a:font script="Lisu" typeface="Barlow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rlow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Barlow"/>
        <a:font script="Bugi" typeface="Leelawadee UI"/>
        <a:font script="Bopo" typeface="Microsoft JhengHei"/>
        <a:font script="Java" typeface="Javanese Text"/>
        <a:font script="Lisu" typeface="Barlow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arlow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Barlow"/>
        <a:font script="Hebr" typeface="Barlow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Barlow"/>
        <a:font script="Uigh" typeface="Microsoft Uighur"/>
        <a:font script="Geor" typeface="Sylfaen"/>
        <a:font script="Armn" typeface="Barlow"/>
        <a:font script="Bugi" typeface="Leelawadee UI"/>
        <a:font script="Bopo" typeface="Microsoft JhengHei"/>
        <a:font script="Java" typeface="Javanese Text"/>
        <a:font script="Lisu" typeface="Barlow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0c470b6-6943-4b25-8840-1f9dda3bdcb8">
      <Terms xmlns="http://schemas.microsoft.com/office/infopath/2007/PartnerControls"/>
    </lcf76f155ced4ddcb4097134ff3c332f>
    <TaxCatchAll xmlns="44624973-eda7-4d1d-840c-1d76c87d6b4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D53D4CEF66B844AFDAC2928DB807E4" ma:contentTypeVersion="10" ma:contentTypeDescription="Create a new document." ma:contentTypeScope="" ma:versionID="1723c9be2d2a61555e6ae5710a6a885a">
  <xsd:schema xmlns:xsd="http://www.w3.org/2001/XMLSchema" xmlns:xs="http://www.w3.org/2001/XMLSchema" xmlns:p="http://schemas.microsoft.com/office/2006/metadata/properties" xmlns:ns2="10c470b6-6943-4b25-8840-1f9dda3bdcb8" xmlns:ns3="44624973-eda7-4d1d-840c-1d76c87d6b4a" targetNamespace="http://schemas.microsoft.com/office/2006/metadata/properties" ma:root="true" ma:fieldsID="3c37eadabdc2effb6ee410830e8218a6" ns2:_="" ns3:_="">
    <xsd:import namespace="10c470b6-6943-4b25-8840-1f9dda3bdcb8"/>
    <xsd:import namespace="44624973-eda7-4d1d-840c-1d76c87d6b4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c470b6-6943-4b25-8840-1f9dda3bdcb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120647d-17bd-4a63-9afd-bbea8594ace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624973-eda7-4d1d-840c-1d76c87d6b4a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a1497375-415a-4fb9-9d71-f8fbfa4e87dc}" ma:internalName="TaxCatchAll" ma:showField="CatchAllData" ma:web="44624973-eda7-4d1d-840c-1d76c87d6b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7752AC9-3141-4DBE-9E93-91151A710F39}">
  <ds:schemaRefs>
    <ds:schemaRef ds:uri="44624973-eda7-4d1d-840c-1d76c87d6b4a"/>
    <ds:schemaRef ds:uri="http://www.w3.org/XML/1998/namespace"/>
    <ds:schemaRef ds:uri="http://schemas.microsoft.com/office/2006/documentManagement/types"/>
    <ds:schemaRef ds:uri="10c470b6-6943-4b25-8840-1f9dda3bdcb8"/>
    <ds:schemaRef ds:uri="http://schemas.microsoft.com/office/2006/metadata/properties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76A31D0-D410-459F-8B3A-5041DA332E8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135774E-5C96-4E04-B627-2084CE525C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0c470b6-6943-4b25-8840-1f9dda3bdcb8"/>
    <ds:schemaRef ds:uri="44624973-eda7-4d1d-840c-1d76c87d6b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9354</TotalTime>
  <Words>3078</Words>
  <Application>Microsoft Office PowerPoint</Application>
  <PresentationFormat>Panorámica</PresentationFormat>
  <Paragraphs>1658</Paragraphs>
  <Slides>18</Slides>
  <Notes>18</Notes>
  <HiddenSlides>0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7" baseType="lpstr">
      <vt:lpstr>Wingdings 2</vt:lpstr>
      <vt:lpstr>Wingdings</vt:lpstr>
      <vt:lpstr>Calibri</vt:lpstr>
      <vt:lpstr>Century Gothic</vt:lpstr>
      <vt:lpstr>Barlow</vt:lpstr>
      <vt:lpstr>Arial Black</vt:lpstr>
      <vt:lpstr>Arial</vt:lpstr>
      <vt:lpstr>Theme1</vt:lpstr>
      <vt:lpstr>Diapositive think-cell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Tras consolidar su notoriedad, LS enfrenta el reto de fortalecer la lealtad en una categoría con alta consideración, donde los consumidores podrían cambiar de marca con facilidad. </vt:lpstr>
      <vt:lpstr>Lechelita pierde consideradores mientras que La Suipachense lo hace desde compra UM. </vt:lpstr>
      <vt:lpstr>Lechelita pierde consideradores mientras que La Suipachense lo hace desde compra UM. </vt:lpstr>
      <vt:lpstr>LS mejora su vínculo principalmente desde consideración significativamente en los rangos etarios de 35 a 49 años, pero también logra buena tendencia en el NSE Medio y a nivel region.  La competencia pierde atractivo. Sancor, cae la lealtad en AMBA y se debilita en 35-49años y en los extremos de los NSE. Ilolay también con tendencia de caída en los niveles medios altos</vt:lpstr>
      <vt:lpstr>Tregar pierde consideración y compra UM en esta nueva medición y se refleja en los más jóvenes. Tonadita debilitándose en Amba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Ipsos Report</dc:subject>
  <dc:creator>Ana Vinitsky</dc:creator>
  <cp:lastModifiedBy>Eduardo Lencina</cp:lastModifiedBy>
  <cp:revision>57</cp:revision>
  <dcterms:created xsi:type="dcterms:W3CDTF">2024-09-23T18:11:43Z</dcterms:created>
  <dcterms:modified xsi:type="dcterms:W3CDTF">2025-12-16T19:53:18Z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0x010100C1D53D4CEF66B844AFDAC2928DB807E4</vt:lpwstr>
  </property>
</Properties>
</file>